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608343a00a44df" /><Relationship Type="http://schemas.openxmlformats.org/officeDocument/2006/relationships/extended-properties" Target="/docProps/app.xml" Id="Rbb988bfe68164c58" /><Relationship Type="http://schemas.openxmlformats.org/officeDocument/2006/relationships/officeDocument" Target="/ppt/presentation.xml" Id="R6d491860f987464f" /></Relationships>
</file>

<file path=ppt/presentation.xml><?xml version="1.0" encoding="utf-8"?>
<p:presentation xmlns:p="http://schemas.openxmlformats.org/presentationml/2006/main">
  <p:sldMasterIdLst>
    <p:sldMasterId xmlns:r="http://schemas.openxmlformats.org/officeDocument/2006/relationships" id="2147483648" r:id="R2bb0890a3bab44d2"/>
  </p:sldMasterIdLst>
  <p:notesMasterIdLst>
    <p:notesMasterId xmlns:r="http://schemas.openxmlformats.org/officeDocument/2006/relationships" r:id="Rf980805dc242475a"/>
  </p:notesMasterIdLst>
  <p:sldIdLst>
    <p:sldId xmlns:r="http://schemas.openxmlformats.org/officeDocument/2006/relationships" id="256" r:id="Rcaf2c6cf3f9641f7"/>
    <p:sldId xmlns:r="http://schemas.openxmlformats.org/officeDocument/2006/relationships" id="257" r:id="R6be37eb5b1674b93"/>
    <p:sldId xmlns:r="http://schemas.openxmlformats.org/officeDocument/2006/relationships" id="258" r:id="Rf16311fc159644fa"/>
    <p:sldId xmlns:r="http://schemas.openxmlformats.org/officeDocument/2006/relationships" id="259" r:id="R004ac8ed25764721"/>
    <p:sldId xmlns:r="http://schemas.openxmlformats.org/officeDocument/2006/relationships" id="260" r:id="R8c6232198aa04b6b"/>
    <p:sldId xmlns:r="http://schemas.openxmlformats.org/officeDocument/2006/relationships" id="261" r:id="Rea54e7f9a34042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3422c1426b4d7e" /><Relationship Type="http://schemas.openxmlformats.org/officeDocument/2006/relationships/slideMaster" Target="/ppt/slideMasters/slideMaster1.xml" Id="R2bb0890a3bab44d2" /><Relationship Type="http://schemas.openxmlformats.org/officeDocument/2006/relationships/notesMaster" Target="/ppt/notesMasters/notesMaster1.xml" Id="Rf980805dc242475a" /><Relationship Type="http://schemas.openxmlformats.org/officeDocument/2006/relationships/presProps" Target="/ppt/presProps.xml" Id="R1dfa2fc3eafa4078" /><Relationship Type="http://schemas.openxmlformats.org/officeDocument/2006/relationships/tableStyles" Target="/ppt/tableStyles.xml" Id="R4ce83c87e06c4ed2" /><Relationship Type="http://schemas.openxmlformats.org/officeDocument/2006/relationships/slide" Target="/ppt/slides/slide1.xml" Id="Rcaf2c6cf3f9641f7" /><Relationship Type="http://schemas.openxmlformats.org/officeDocument/2006/relationships/slide" Target="/ppt/slides/slide2.xml" Id="R6be37eb5b1674b93" /><Relationship Type="http://schemas.openxmlformats.org/officeDocument/2006/relationships/slide" Target="/ppt/slides/slide3.xml" Id="Rf16311fc159644fa" /><Relationship Type="http://schemas.openxmlformats.org/officeDocument/2006/relationships/slide" Target="/ppt/slides/slide4.xml" Id="R004ac8ed25764721" /><Relationship Type="http://schemas.openxmlformats.org/officeDocument/2006/relationships/slide" Target="/ppt/slides/slide5.xml" Id="R8c6232198aa04b6b" /><Relationship Type="http://schemas.openxmlformats.org/officeDocument/2006/relationships/slide" Target="/ppt/slides/slide6.xml" Id="Rea54e7f9a34042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0f7a9fc9c549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StudyCrew Editorial">
      <a:dk1>
        <a:srgbClr val="0B1825"/>
      </a:dk1>
      <a:lt1>
        <a:srgbClr val="FFFFFF"/>
      </a:lt1>
      <a:dk2>
        <a:srgbClr val="12263A"/>
      </a:dk2>
      <a:lt2>
        <a:srgbClr val="EAF2FA"/>
      </a:lt2>
      <a:accent1>
        <a:srgbClr val="2774C7"/>
      </a:accent1>
      <a:accent2>
        <a:srgbClr val="E96B4B"/>
      </a:accent2>
      <a:accent3>
        <a:srgbClr val="BFE2D4"/>
      </a:accent3>
      <a:accent4>
        <a:srgbClr val="D8A72A"/>
      </a:accent4>
      <a:accent5>
        <a:srgbClr val="4D7C78"/>
      </a:accent5>
      <a:accent6>
        <a:srgbClr val="8A6F4D"/>
      </a:accent6>
      <a:hlink>
        <a:srgbClr val="2774C7"/>
      </a:hlink>
      <a:folHlink>
        <a:srgbClr val="E96B4B"/>
      </a:folHlink>
    </a:clrScheme>
    <a:fontScheme name="Office">
      <a:majorFont>
        <a:latin typeface="Calibri Light"/>
        <a:ea typeface="Calibri Light"/>
        <a:cs typeface="Calibri Light"/>
      </a:majorFont>
      <a:minorFont>
        <a:latin typeface="Calibri"/>
        <a:ea typeface="Calibri"/>
        <a:cs typeface="Calibri"/>
      </a:minorFont>
    </a:fontScheme>
    <a:fmtScheme name="StudyCrew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40c2e2cca34577" /><Relationship Type="http://schemas.openxmlformats.org/officeDocument/2006/relationships/notesMaster" Target="/ppt/notesMasters/notesMaster1.xml" Id="R9fe0c03622e2487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73eb484d53644fc" /><Relationship Type="http://schemas.openxmlformats.org/officeDocument/2006/relationships/notesMaster" Target="/ppt/notesMasters/notesMaster1.xml" Id="R6957b7ec369f4e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129b69082652458e" /><Relationship Type="http://schemas.openxmlformats.org/officeDocument/2006/relationships/notesMaster" Target="/ppt/notesMasters/notesMaster1.xml" Id="R7b0a3e6b1832494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0c6ee5b6e14b07" /><Relationship Type="http://schemas.openxmlformats.org/officeDocument/2006/relationships/notesMaster" Target="/ppt/notesMasters/notesMaster1.xml" Id="R9ba9acdef6c245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89be9b93ae4b6c" /><Relationship Type="http://schemas.openxmlformats.org/officeDocument/2006/relationships/notesMaster" Target="/ppt/notesMasters/notesMaster1.xml" Id="R16f8238c826249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072cfaa09c443a" /><Relationship Type="http://schemas.openxmlformats.org/officeDocument/2006/relationships/notesMaster" Target="/ppt/notesMasters/notesMaster1.xml" Id="R651d55ea9b7d43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 · Speaker A</a:t>
            </a:r>
          </a:p>
          <a:p xmlns:a="http://schemas.openxmlformats.org/drawingml/2006/main">
            <a:r>
              <a:t>StudyCrew makes group work visible before it becomes a problem. It gives student teams one place to coordinate tasks and meetings, then backs contribution conversations with transparent activity evidence.</a:t>
            </a:r>
          </a:p>
          <a:p xmlns:a="http://schemas.openxmlformats.org/drawingml/2006/main">
            <a:r>
              <a:t/>
            </a:r>
          </a:p>
          <a:p xmlns:a="http://schemas.openxmlformats.org/drawingml/2006/main">
            <a:r>
              <a:t>[Sources]</a:t>
            </a:r>
          </a:p>
          <a:p xmlns:a="http://schemas.openxmlformats.org/drawingml/2006/main">
            <a:r>
              <a:t>- Assignment brief supplied by the unit, 2026.</a:t>
            </a:r>
          </a:p>
          <a:p xmlns:a="http://schemas.openxmlformats.org/drawingml/2006/main">
            <a:r>
              <a:t>- StudyCrew System Design Report, Section 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0:25-1:05 · Speaker A</a:t>
            </a:r>
          </a:p>
          <a:p xmlns:a="http://schemas.openxmlformats.org/drawingml/2006/main">
            <a:r>
              <a:t>Today, work is often split across chat, calendars and task lists. Status becomes stale, blockers surface late, and contribution discussions depend on memory. Teams need coordination and evidence together, without a black-box score.</a:t>
            </a:r>
          </a:p>
          <a:p xmlns:a="http://schemas.openxmlformats.org/drawingml/2006/main">
            <a:r>
              <a:t/>
            </a:r>
          </a:p>
          <a:p xmlns:a="http://schemas.openxmlformats.org/drawingml/2006/main">
            <a:r>
              <a:t>[Sources]</a:t>
            </a:r>
          </a:p>
          <a:p xmlns:a="http://schemas.openxmlformats.org/drawingml/2006/main">
            <a:r>
              <a:t>- StudyCrew System Design Report, Section 1.1.</a:t>
            </a:r>
          </a:p>
          <a:p xmlns:a="http://schemas.openxmlformats.org/drawingml/2006/main">
            <a:r>
              <a:t>- Team problem synthesis based on the assignment context.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1:05-2:00 · Speaker B</a:t>
            </a:r>
          </a:p>
          <a:p xmlns:a="http://schemas.openxmlformats.org/drawingml/2006/main">
            <a:r>
              <a:t>StudyCrew follows a simple loop: plan the work, coordinate delivery, and review evidence. Members create and assign tasks, explain blockers, schedule meetings and RSVP. Each successful action adds an immutable event, so totals always lead back to context.</a:t>
            </a:r>
          </a:p>
          <a:p xmlns:a="http://schemas.openxmlformats.org/drawingml/2006/main">
            <a:r>
              <a:t/>
            </a:r>
          </a:p>
          <a:p xmlns:a="http://schemas.openxmlformats.org/drawingml/2006/main">
            <a:r>
              <a:t>[Sources]</a:t>
            </a:r>
          </a:p>
          <a:p xmlns:a="http://schemas.openxmlformats.org/drawingml/2006/main">
            <a:r>
              <a:t>- StudyCrew functional requirements FR-PROJ-01 through FR-CONTR-02.</a:t>
            </a:r>
          </a:p>
          <a:p xmlns:a="http://schemas.openxmlformats.org/drawingml/2006/main">
            <a:r>
              <a:t>- database/schema.sql: activity_events table and related foreign keys.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2:00-3:10 · Speaker C</a:t>
            </a:r>
          </a:p>
          <a:p xmlns:a="http://schemas.openxmlformats.org/drawingml/2006/main">
            <a:r>
              <a:t>The task board shows ownership and risk at a glance. Task detail keeps assignments, workflow and discussion together. The contribution view compares activity using both a chart and table, but deliberately avoids grading. Selecting a member reveals the events behind each total.</a:t>
            </a:r>
          </a:p>
          <a:p xmlns:a="http://schemas.openxmlformats.org/drawingml/2006/main">
            <a:r>
              <a:t/>
            </a:r>
          </a:p>
          <a:p xmlns:a="http://schemas.openxmlformats.org/drawingml/2006/main">
            <a:r>
              <a:t>[Sources]</a:t>
            </a:r>
          </a:p>
          <a:p xmlns:a="http://schemas.openxmlformats.org/drawingml/2006/main">
            <a:r>
              <a:t>- design/generated/wf-04-task-board.png.</a:t>
            </a:r>
          </a:p>
          <a:p xmlns:a="http://schemas.openxmlformats.org/drawingml/2006/main">
            <a:r>
              <a:t>- design/generated/wf-08-contributions.png.</a:t>
            </a:r>
          </a:p>
          <a:p xmlns:a="http://schemas.openxmlformats.org/drawingml/2006/main">
            <a:r>
              <a:t>- StudyCrew traceability matrix, FR-TASK-01/02/03 and FR-CONTR-01/02.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3:10-4:00 · Speaker C</a:t>
            </a:r>
          </a:p>
          <a:p xmlns:a="http://schemas.openxmlformats.org/drawingml/2006/main">
            <a:r>
              <a:t>The design is feasible and safe. Thirteen normalised PostgreSQL tables support explicit one-to-one, one-to-many and many-to-many relationships. Every protected request checks current membership. React, Express and PostgreSQL let us deliver in tested vertical slices.</a:t>
            </a:r>
          </a:p>
          <a:p xmlns:a="http://schemas.openxmlformats.org/drawingml/2006/main">
            <a:r>
              <a:t/>
            </a:r>
          </a:p>
          <a:p xmlns:a="http://schemas.openxmlformats.org/drawingml/2006/main">
            <a:r>
              <a:t>[Sources]</a:t>
            </a:r>
          </a:p>
          <a:p xmlns:a="http://schemas.openxmlformats.org/drawingml/2006/main">
            <a:r>
              <a:t>- database/schema.sql, PostgreSQL 16 physical schema.</a:t>
            </a:r>
          </a:p>
          <a:p xmlns:a="http://schemas.openxmlformats.org/drawingml/2006/main">
            <a:r>
              <a:t>- StudyCrew System Design Report, Sections 3 and 6.</a:t>
            </a:r>
          </a:p>
          <a:p xmlns:a="http://schemas.openxmlformats.org/drawingml/2006/main">
            <a:r>
              <a:t>- IEEE Std 830-1998 is used because the assignment explicitly requests Section 5.3.2.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4:00-4:50 · Speaker D</a:t>
            </a:r>
          </a:p>
          <a:p xmlns:a="http://schemas.openxmlformats.org/drawingml/2006/main">
            <a:r>
              <a:t>Our approved baseline is authentication, private projects, tasks, comments, meetings, notifications and contribution evidence. We will build it with React and Express, PostgreSQL with Prisma, Vitest and Playwright, plus Docker and GitHub Actions. The Gantt moves from MVP validation into core vertical slices, integration and testing, then rehearsal and hardening. Search and export remain gated stretch goals.</a:t>
            </a:r>
          </a:p>
          <a:p xmlns:a="http://schemas.openxmlformats.org/drawingml/2006/main">
            <a:r>
              <a:t/>
            </a:r>
          </a:p>
          <a:p xmlns:a="http://schemas.openxmlformats.org/drawingml/2006/main">
            <a:r>
              <a:t>4:50-5:00 close</a:t>
            </a:r>
          </a:p>
          <a:p xmlns:a="http://schemas.openxmlformats.org/drawingml/2006/main">
            <a:r>
              <a:t>StudyCrew does not judge who worked hardest. It gives teams the shared facts to notice risk earlier, coordinate better, and have fairer conversations. We are ready to validate the MVP and begin implementation.</a:t>
            </a:r>
          </a:p>
          <a:p xmlns:a="http://schemas.openxmlformats.org/drawingml/2006/main">
            <a:r>
              <a:t/>
            </a:r>
          </a:p>
          <a:p xmlns:a="http://schemas.openxmlformats.org/drawingml/2006/main">
            <a:r>
              <a:t>[Sources]</a:t>
            </a:r>
          </a:p>
          <a:p xmlns:a="http://schemas.openxmlformats.org/drawingml/2006/main">
            <a:r>
              <a:t>- StudyCrew Proposed MVP, approved-baseline candidate.</a:t>
            </a:r>
          </a:p>
          <a:p xmlns:a="http://schemas.openxmlformats.org/drawingml/2006/main">
            <a:r>
              <a:t>- Assignment brief: milestone and final submission schedule.</a:t>
            </a:r>
          </a:p>
          <a:p xmlns:a="http://schemas.openxmlformats.org/drawingml/2006/main">
            <a:r>
              <a:t>- StudyCrew Presentation Script, rehearsal timings.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ab5d2d6579646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3b1c9eaa7a43f3" /><Relationship Type="http://schemas.openxmlformats.org/officeDocument/2006/relationships/slideLayout" Target="/ppt/slideLayouts/slideLayout1.xml" Id="Rd8106d415e1645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106d415e1645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StudyCrew Editorial">
      <a:dk1>
        <a:srgbClr val="0B1825"/>
      </a:dk1>
      <a:lt1>
        <a:srgbClr val="FFFFFF"/>
      </a:lt1>
      <a:dk2>
        <a:srgbClr val="12263A"/>
      </a:dk2>
      <a:lt2>
        <a:srgbClr val="EAF2FA"/>
      </a:lt2>
      <a:accent1>
        <a:srgbClr val="2774C7"/>
      </a:accent1>
      <a:accent2>
        <a:srgbClr val="E96B4B"/>
      </a:accent2>
      <a:accent3>
        <a:srgbClr val="BFE2D4"/>
      </a:accent3>
      <a:accent4>
        <a:srgbClr val="D8A72A"/>
      </a:accent4>
      <a:accent5>
        <a:srgbClr val="4D7C78"/>
      </a:accent5>
      <a:accent6>
        <a:srgbClr val="8A6F4D"/>
      </a:accent6>
      <a:hlink>
        <a:srgbClr val="2774C7"/>
      </a:hlink>
      <a:folHlink>
        <a:srgbClr val="E96B4B"/>
      </a:folHlink>
    </a:clrScheme>
    <a:fontScheme name="Office">
      <a:majorFont>
        <a:latin typeface="Calibri Light"/>
        <a:ea typeface="Calibri Light"/>
        <a:cs typeface="Calibri Light"/>
      </a:majorFont>
      <a:minorFont>
        <a:latin typeface="Calibri"/>
        <a:ea typeface="Calibri"/>
        <a:cs typeface="Calibri"/>
      </a:minorFont>
    </a:fontScheme>
    <a:fmtScheme name="StudyCrew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dd892fa728149e3" /><Relationship Type="http://schemas.openxmlformats.org/officeDocument/2006/relationships/notesSlide" Target="/ppt/notesSlides/notesSlide1.xml" Id="Rb1655a27e50a4c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b52f45f20e4994" /><Relationship Type="http://schemas.openxmlformats.org/officeDocument/2006/relationships/notesSlide" Target="/ppt/notesSlides/notesSlide2.xml" Id="Rebde3dae282047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94ce02de3c7489c" /><Relationship Type="http://schemas.openxmlformats.org/officeDocument/2006/relationships/notesSlide" Target="/ppt/notesSlides/notesSlide3.xml" Id="Re4df7926048f483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64815d3315467e" /><Relationship Type="http://schemas.openxmlformats.org/officeDocument/2006/relationships/image" Target="/ppt/media/image.png" Id="R32d8ec87a39446d3" /><Relationship Type="http://schemas.openxmlformats.org/officeDocument/2006/relationships/image" Target="/ppt/media/image2.png" Id="R44f41d651fac48a6" /><Relationship Type="http://schemas.openxmlformats.org/officeDocument/2006/relationships/notesSlide" Target="/ppt/notesSlides/notesSlide4.xml" Id="R9ce6014fec2f41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ccb62cf8774ddc" /><Relationship Type="http://schemas.openxmlformats.org/officeDocument/2006/relationships/notesSlide" Target="/ppt/notesSlides/notesSlide5.xml" Id="Rddf8bd34daca45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71eb7d065254a87" /><Relationship Type="http://schemas.openxmlformats.org/officeDocument/2006/relationships/notesSlide" Target="/ppt/notesSlides/notesSlide6.xml" Id="Rf89047294ca2481b" /></Relationships>
</file>

<file path=ppt/slides/slide1.xml><?xml version="1.0" encoding="utf-8"?>
<p:sld xmlns:p="http://schemas.openxmlformats.org/presentationml/2006/main">
  <p:cSld>
    <p:bg>
      <p:bgPr>
        <a:solidFill xmlns:a="http://schemas.openxmlformats.org/drawingml/2006/main">
          <a:srgbClr val="0B182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E5E9A08-0DD1-44F8-A88A-4809D076FAF7}"/>
              </a:ext>
            </a:extLst>
          </p:cNvPr>
          <p:cNvSpPr>
            <a:spLocks xmlns:a="http://schemas.openxmlformats.org/drawingml/2006/main" noGrp="1"/>
          </p:cNvSpPr>
          <p:nvPr/>
        </p:nvSpPr>
        <p:spPr>
          <a:xfrm xmlns:a="http://schemas.openxmlformats.org/drawingml/2006/main">
            <a:off x="0" y="0"/>
            <a:ext cx="152400" cy="6858000"/>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E25AFC3-AF64-40B7-80E5-0C38F56CE7C2}"/>
              </a:ext>
            </a:extLst>
          </p:cNvPr>
          <p:cNvSpPr>
            <a:spLocks xmlns:a="http://schemas.openxmlformats.org/drawingml/2006/main" noGrp="1"/>
          </p:cNvSpPr>
          <p:nvPr/>
        </p:nvSpPr>
        <p:spPr>
          <a:xfrm xmlns:a="http://schemas.openxmlformats.org/drawingml/2006/main">
            <a:off x="685800" y="6286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BFE2D4"/>
                </a:solidFill>
              </a:defRPr>
            </a:pPr>
            <a:r>
              <a:rPr sz="1275" b="1">
                <a:solidFill>
                  <a:srgbClr val="BFE2D4"/>
                </a:solidFill>
              </a:rPr>
              <a:t>STUDYCREW</a:t>
            </a:r>
          </a:p>
        </p:txBody>
      </p:sp>
      <p:sp>
        <p:nvSpPr>
          <p:cNvPr id="3" name="">
            <a:extLst xmlns:a="http://schemas.openxmlformats.org/drawingml/2006/main">
              <a:ext uri="{FF2B5EF4-FFF2-40B4-BE49-F238E27FC236}">
                <a16:creationId xmlns:a16="http://schemas.microsoft.com/office/drawing/2014/main" id="{FC3C9C8E-511C-4992-85C6-2CEB38FE9212}"/>
              </a:ext>
            </a:extLst>
          </p:cNvPr>
          <p:cNvSpPr>
            <a:spLocks xmlns:a="http://schemas.openxmlformats.org/drawingml/2006/main" noGrp="1"/>
          </p:cNvSpPr>
          <p:nvPr/>
        </p:nvSpPr>
        <p:spPr>
          <a:xfrm xmlns:a="http://schemas.openxmlformats.org/drawingml/2006/main">
            <a:off x="685800" y="1428750"/>
            <a:ext cx="8477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650" b="1">
                <a:solidFill>
                  <a:srgbClr val="FFFFFF"/>
                </a:solidFill>
              </a:defRPr>
            </a:pPr>
            <a:r>
              <a:rPr sz="4650" b="1">
                <a:solidFill>
                  <a:srgbClr val="FFFFFF"/>
                </a:solidFill>
              </a:rPr>
              <a:t>Make group work</a:t>
            </a:r>
          </a:p>
          <a:p xmlns:a="http://schemas.openxmlformats.org/drawingml/2006/main">
            <a:pPr>
              <a:buNone/>
              <a:defRPr sz="4650" b="1">
                <a:solidFill>
                  <a:srgbClr val="FFFFFF"/>
                </a:solidFill>
              </a:defRPr>
            </a:pPr>
            <a:r>
              <a:rPr sz="4650" b="1">
                <a:solidFill>
                  <a:srgbClr val="FFFFFF"/>
                </a:solidFill>
              </a:rPr>
              <a:t>visible before it</a:t>
            </a:r>
          </a:p>
          <a:p xmlns:a="http://schemas.openxmlformats.org/drawingml/2006/main">
            <a:pPr>
              <a:buNone/>
              <a:defRPr sz="4650" b="1">
                <a:solidFill>
                  <a:srgbClr val="FFFFFF"/>
                </a:solidFill>
              </a:defRPr>
            </a:pPr>
            <a:r>
              <a:rPr sz="4650" b="1">
                <a:solidFill>
                  <a:srgbClr val="FFFFFF"/>
                </a:solidFill>
              </a:rPr>
              <a:t>becomes a problem.</a:t>
            </a:r>
          </a:p>
        </p:txBody>
      </p:sp>
      <p:sp>
        <p:nvSpPr>
          <p:cNvPr id="4" name="">
            <a:extLst xmlns:a="http://schemas.openxmlformats.org/drawingml/2006/main">
              <a:ext uri="{FF2B5EF4-FFF2-40B4-BE49-F238E27FC236}">
                <a16:creationId xmlns:a16="http://schemas.microsoft.com/office/drawing/2014/main" id="{65451645-413F-44FA-86F9-8D4FB89850D8}"/>
              </a:ext>
            </a:extLst>
          </p:cNvPr>
          <p:cNvSpPr>
            <a:spLocks xmlns:a="http://schemas.openxmlformats.org/drawingml/2006/main" noGrp="1"/>
          </p:cNvSpPr>
          <p:nvPr/>
        </p:nvSpPr>
        <p:spPr>
          <a:xfrm xmlns:a="http://schemas.openxmlformats.org/drawingml/2006/main">
            <a:off x="685800" y="4343400"/>
            <a:ext cx="2762250" cy="57150"/>
          </a:xfrm>
          <a:prstGeom xmlns:a="http://schemas.openxmlformats.org/drawingml/2006/main" prst="rect">
            <a:avLst/>
          </a:prstGeom>
          <a:solidFill xmlns:a="http://schemas.openxmlformats.org/drawingml/2006/main">
            <a:srgbClr val="E96B4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357ABE0-34FC-42AE-8892-B705450577F6}"/>
              </a:ext>
            </a:extLst>
          </p:cNvPr>
          <p:cNvSpPr>
            <a:spLocks xmlns:a="http://schemas.openxmlformats.org/drawingml/2006/main" noGrp="1"/>
          </p:cNvSpPr>
          <p:nvPr/>
        </p:nvSpPr>
        <p:spPr>
          <a:xfrm xmlns:a="http://schemas.openxmlformats.org/drawingml/2006/main">
            <a:off x="685800" y="4629150"/>
            <a:ext cx="695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0">
                <a:solidFill>
                  <a:srgbClr val="D8E3EC"/>
                </a:solidFill>
              </a:defRPr>
            </a:pPr>
            <a:r>
              <a:rPr sz="1800" b="0">
                <a:solidFill>
                  <a:srgbClr val="D8E3EC"/>
                </a:solidFill>
              </a:rPr>
              <a:t>One private workflow for planning, coordination and inspectable contribution evidence.</a:t>
            </a:r>
          </a:p>
        </p:txBody>
      </p:sp>
      <p:sp>
        <p:nvSpPr>
          <p:cNvPr id="6" name="">
            <a:extLst xmlns:a="http://schemas.openxmlformats.org/drawingml/2006/main">
              <a:ext uri="{FF2B5EF4-FFF2-40B4-BE49-F238E27FC236}">
                <a16:creationId xmlns:a16="http://schemas.microsoft.com/office/drawing/2014/main" id="{31F14BA2-FCEC-4D01-A325-35E654EE9B06}"/>
              </a:ext>
            </a:extLst>
          </p:cNvPr>
          <p:cNvSpPr>
            <a:spLocks xmlns:a="http://schemas.openxmlformats.org/drawingml/2006/main" noGrp="1"/>
          </p:cNvSpPr>
          <p:nvPr/>
        </p:nvSpPr>
        <p:spPr>
          <a:xfrm xmlns:a="http://schemas.openxmlformats.org/drawingml/2006/main">
            <a:off x="9124950" y="1200150"/>
            <a:ext cx="2095500" cy="3848100"/>
          </a:xfrm>
          <a:prstGeom xmlns:a="http://schemas.openxmlformats.org/drawingml/2006/main" prst="roundRect">
            <a:avLst>
              <a:gd name="adj" fmla="val 10000"/>
            </a:avLst>
          </a:prstGeom>
          <a:solidFill xmlns:a="http://schemas.openxmlformats.org/drawingml/2006/main">
            <a:srgbClr val="2774C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49A5B29-1A40-496A-A28B-DDEB558CE420}"/>
              </a:ext>
            </a:extLst>
          </p:cNvPr>
          <p:cNvSpPr>
            <a:spLocks xmlns:a="http://schemas.openxmlformats.org/drawingml/2006/main" noGrp="1"/>
          </p:cNvSpPr>
          <p:nvPr/>
        </p:nvSpPr>
        <p:spPr>
          <a:xfrm xmlns:a="http://schemas.openxmlformats.org/drawingml/2006/main">
            <a:off x="9448800" y="165735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1">
                <a:solidFill>
                  <a:srgbClr val="FFFFFF"/>
                </a:solidFill>
              </a:defRPr>
            </a:pPr>
            <a:r>
              <a:rPr sz="1800" b="1">
                <a:solidFill>
                  <a:srgbClr val="FFFFFF"/>
                </a:solidFill>
              </a:rPr>
              <a:t>PLAN</a:t>
            </a:r>
          </a:p>
        </p:txBody>
      </p:sp>
      <p:sp>
        <p:nvSpPr>
          <p:cNvPr id="8" name="">
            <a:extLst xmlns:a="http://schemas.openxmlformats.org/drawingml/2006/main">
              <a:ext uri="{FF2B5EF4-FFF2-40B4-BE49-F238E27FC236}">
                <a16:creationId xmlns:a16="http://schemas.microsoft.com/office/drawing/2014/main" id="{D3AF8C70-1C77-4453-9859-EDD6155FDDA2}"/>
              </a:ext>
            </a:extLst>
          </p:cNvPr>
          <p:cNvSpPr>
            <a:spLocks xmlns:a="http://schemas.openxmlformats.org/drawingml/2006/main" noGrp="1"/>
          </p:cNvSpPr>
          <p:nvPr/>
        </p:nvSpPr>
        <p:spPr>
          <a:xfrm xmlns:a="http://schemas.openxmlformats.org/drawingml/2006/main">
            <a:off x="9448800" y="2705100"/>
            <a:ext cx="1619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1">
                <a:solidFill>
                  <a:srgbClr val="FFFFFF"/>
                </a:solidFill>
              </a:defRPr>
            </a:pPr>
            <a:r>
              <a:rPr sz="1800" b="1">
                <a:solidFill>
                  <a:srgbClr val="FFFFFF"/>
                </a:solidFill>
              </a:rPr>
              <a:t>COORDINATE</a:t>
            </a:r>
          </a:p>
        </p:txBody>
      </p:sp>
      <p:sp>
        <p:nvSpPr>
          <p:cNvPr id="9" name="">
            <a:extLst xmlns:a="http://schemas.openxmlformats.org/drawingml/2006/main">
              <a:ext uri="{FF2B5EF4-FFF2-40B4-BE49-F238E27FC236}">
                <a16:creationId xmlns:a16="http://schemas.microsoft.com/office/drawing/2014/main" id="{F0F36EEC-C812-4E2C-B96C-443FD5D7C90B}"/>
              </a:ext>
            </a:extLst>
          </p:cNvPr>
          <p:cNvSpPr>
            <a:spLocks xmlns:a="http://schemas.openxmlformats.org/drawingml/2006/main" noGrp="1"/>
          </p:cNvSpPr>
          <p:nvPr/>
        </p:nvSpPr>
        <p:spPr>
          <a:xfrm xmlns:a="http://schemas.openxmlformats.org/drawingml/2006/main">
            <a:off x="9448800" y="375285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800" b="1">
                <a:solidFill>
                  <a:srgbClr val="FFFFFF"/>
                </a:solidFill>
              </a:defRPr>
            </a:pPr>
            <a:r>
              <a:rPr sz="1800" b="1">
                <a:solidFill>
                  <a:srgbClr val="FFFFFF"/>
                </a:solidFill>
              </a:rPr>
              <a:t>PROVE</a:t>
            </a:r>
          </a:p>
        </p:txBody>
      </p:sp>
      <p:sp>
        <p:nvSpPr>
          <p:cNvPr id="10" name="">
            <a:extLst xmlns:a="http://schemas.openxmlformats.org/drawingml/2006/main">
              <a:ext uri="{FF2B5EF4-FFF2-40B4-BE49-F238E27FC236}">
                <a16:creationId xmlns:a16="http://schemas.microsoft.com/office/drawing/2014/main" id="{2E2CF188-83FB-4560-A3D9-82EF0686BB46}"/>
              </a:ext>
            </a:extLst>
          </p:cNvPr>
          <p:cNvSpPr>
            <a:spLocks xmlns:a="http://schemas.openxmlformats.org/drawingml/2006/main" noGrp="1"/>
          </p:cNvSpPr>
          <p:nvPr/>
        </p:nvSpPr>
        <p:spPr>
          <a:xfrm xmlns:a="http://schemas.openxmlformats.org/drawingml/2006/main">
            <a:off x="9448800" y="41719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0" i="1">
                <a:solidFill>
                  <a:srgbClr val="BFE2D4"/>
                </a:solidFill>
              </a:defRPr>
            </a:pPr>
            <a:r>
              <a:rPr sz="1200" b="0" i="1">
                <a:solidFill>
                  <a:srgbClr val="BFE2D4"/>
                </a:solidFill>
              </a:rPr>
              <a:t>not grade</a:t>
            </a:r>
          </a:p>
        </p:txBody>
      </p:sp>
      <p:sp>
        <p:nvSpPr>
          <p:cNvPr id="11" name="">
            <a:extLst xmlns:a="http://schemas.openxmlformats.org/drawingml/2006/main">
              <a:ext uri="{FF2B5EF4-FFF2-40B4-BE49-F238E27FC236}">
                <a16:creationId xmlns:a16="http://schemas.microsoft.com/office/drawing/2014/main" id="{1753BA1A-04CD-4905-82FF-C8DC781D32D2}"/>
              </a:ext>
            </a:extLst>
          </p:cNvPr>
          <p:cNvSpPr>
            <a:spLocks xmlns:a="http://schemas.openxmlformats.org/drawingml/2006/main" noGrp="1"/>
          </p:cNvSpPr>
          <p:nvPr/>
        </p:nvSpPr>
        <p:spPr>
          <a:xfrm xmlns:a="http://schemas.openxmlformats.org/drawingml/2006/main">
            <a:off x="685800" y="6305550"/>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1">
                <a:solidFill>
                  <a:srgbClr val="A8BAC9"/>
                </a:solidFill>
              </a:defRPr>
            </a:pPr>
            <a:r>
              <a:rPr sz="900" b="1">
                <a:solidFill>
                  <a:srgbClr val="A8BAC9"/>
                </a:solidFill>
              </a:rPr>
              <a:t>ELEC3609/9609  ·  ASSIGNMENT 1  ·  GROUP 02</a:t>
            </a:r>
          </a:p>
        </p:txBody>
      </p:sp>
    </p:spTree>
    <p:extLst>
      <p:ext uri="{BB962C8B-B14F-4D97-AF65-F5344CB8AC3E}">
        <p14:creationId xmlns:p14="http://schemas.microsoft.com/office/powerpoint/2010/main" val="961738219"/>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868E504-5EFE-4380-B8E7-5146F4401AF5}"/>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01 / PROBLEM</a:t>
            </a:r>
          </a:p>
        </p:txBody>
      </p:sp>
      <p:sp>
        <p:nvSpPr>
          <p:cNvPr id="2" name="">
            <a:extLst xmlns:a="http://schemas.openxmlformats.org/drawingml/2006/main">
              <a:ext uri="{FF2B5EF4-FFF2-40B4-BE49-F238E27FC236}">
                <a16:creationId xmlns:a16="http://schemas.microsoft.com/office/drawing/2014/main" id="{2E6AABE7-BC0F-4A31-ADD8-7BB50BA35AC8}"/>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2263A"/>
                </a:solidFill>
              </a:defRPr>
            </a:pPr>
            <a:r>
              <a:rPr sz="3150" b="1">
                <a:solidFill>
                  <a:srgbClr val="12263A"/>
                </a:solidFill>
              </a:rPr>
              <a:t>Group work fails quietly before it fails visibly.</a:t>
            </a:r>
          </a:p>
        </p:txBody>
      </p:sp>
      <p:sp>
        <p:nvSpPr>
          <p:cNvPr id="3" name="">
            <a:extLst xmlns:a="http://schemas.openxmlformats.org/drawingml/2006/main">
              <a:ext uri="{FF2B5EF4-FFF2-40B4-BE49-F238E27FC236}">
                <a16:creationId xmlns:a16="http://schemas.microsoft.com/office/drawing/2014/main" id="{66DC2D34-3AE0-4D38-AB8A-C1363109797B}"/>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38EF5D-AE28-4554-8575-48A87A1D3F9A}"/>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482"/>
                </a:solidFill>
              </a:defRPr>
            </a:pPr>
            <a:r>
              <a:rPr sz="1275" b="0">
                <a:solidFill>
                  <a:srgbClr val="667482"/>
                </a:solidFill>
              </a:rPr>
              <a:t>Two disconnected problems reinforce each other.</a:t>
            </a:r>
          </a:p>
        </p:txBody>
      </p:sp>
      <p:sp>
        <p:nvSpPr>
          <p:cNvPr id="5" name="">
            <a:extLst xmlns:a="http://schemas.openxmlformats.org/drawingml/2006/main">
              <a:ext uri="{FF2B5EF4-FFF2-40B4-BE49-F238E27FC236}">
                <a16:creationId xmlns:a16="http://schemas.microsoft.com/office/drawing/2014/main" id="{8AE43767-6473-4078-986D-7C4F22ACF095}"/>
              </a:ext>
            </a:extLst>
          </p:cNvPr>
          <p:cNvSpPr>
            <a:spLocks xmlns:a="http://schemas.openxmlformats.org/drawingml/2006/main" noGrp="1"/>
          </p:cNvSpPr>
          <p:nvPr/>
        </p:nvSpPr>
        <p:spPr>
          <a:xfrm xmlns:a="http://schemas.openxmlformats.org/drawingml/2006/main">
            <a:off x="552450" y="2247900"/>
            <a:ext cx="5219700" cy="3371850"/>
          </a:xfrm>
          <a:prstGeom xmlns:a="http://schemas.openxmlformats.org/drawingml/2006/main" prst="roundRect">
            <a:avLst>
              <a:gd name="adj" fmla="val 5085"/>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6EAA7248-5EF5-412B-AE83-E5C7229833BE}"/>
              </a:ext>
            </a:extLst>
          </p:cNvPr>
          <p:cNvSpPr>
            <a:spLocks xmlns:a="http://schemas.openxmlformats.org/drawingml/2006/main" noGrp="1"/>
          </p:cNvSpPr>
          <p:nvPr/>
        </p:nvSpPr>
        <p:spPr>
          <a:xfrm xmlns:a="http://schemas.openxmlformats.org/drawingml/2006/main">
            <a:off x="5943600" y="2247900"/>
            <a:ext cx="5695950" cy="3371850"/>
          </a:xfrm>
          <a:prstGeom xmlns:a="http://schemas.openxmlformats.org/drawingml/2006/main" prst="roundRect">
            <a:avLst>
              <a:gd name="adj" fmla="val 5085"/>
            </a:avLst>
          </a:prstGeom>
          <a:solidFill xmlns:a="http://schemas.openxmlformats.org/drawingml/2006/main">
            <a:srgbClr val="1226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5BF48FC-E8EA-4156-8D50-0AE74D950649}"/>
              </a:ext>
            </a:extLst>
          </p:cNvPr>
          <p:cNvSpPr>
            <a:spLocks xmlns:a="http://schemas.openxmlformats.org/drawingml/2006/main" noGrp="1"/>
          </p:cNvSpPr>
          <p:nvPr/>
        </p:nvSpPr>
        <p:spPr>
          <a:xfrm xmlns:a="http://schemas.openxmlformats.org/drawingml/2006/main">
            <a:off x="876300" y="25717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1">
                <a:solidFill>
                  <a:srgbClr val="2774C7"/>
                </a:solidFill>
              </a:defRPr>
            </a:pPr>
            <a:r>
              <a:rPr sz="1050" b="1">
                <a:solidFill>
                  <a:srgbClr val="2774C7"/>
                </a:solidFill>
              </a:rPr>
              <a:t>COORDINATION</a:t>
            </a:r>
          </a:p>
        </p:txBody>
      </p:sp>
      <p:sp>
        <p:nvSpPr>
          <p:cNvPr id="8" name="">
            <a:extLst xmlns:a="http://schemas.openxmlformats.org/drawingml/2006/main">
              <a:ext uri="{FF2B5EF4-FFF2-40B4-BE49-F238E27FC236}">
                <a16:creationId xmlns:a16="http://schemas.microsoft.com/office/drawing/2014/main" id="{8EAD0893-9FCF-4274-AA7E-273C10C5A078}"/>
              </a:ext>
            </a:extLst>
          </p:cNvPr>
          <p:cNvSpPr>
            <a:spLocks xmlns:a="http://schemas.openxmlformats.org/drawingml/2006/main" noGrp="1"/>
          </p:cNvSpPr>
          <p:nvPr/>
        </p:nvSpPr>
        <p:spPr>
          <a:xfrm xmlns:a="http://schemas.openxmlformats.org/drawingml/2006/main">
            <a:off x="876300" y="3028950"/>
            <a:ext cx="4000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400" b="1">
                <a:solidFill>
                  <a:srgbClr val="12263A"/>
                </a:solidFill>
              </a:defRPr>
            </a:pPr>
            <a:r>
              <a:rPr sz="2400" b="1">
                <a:solidFill>
                  <a:srgbClr val="12263A"/>
                </a:solidFill>
              </a:rPr>
              <a:t>Work is split across</a:t>
            </a:r>
          </a:p>
          <a:p xmlns:a="http://schemas.openxmlformats.org/drawingml/2006/main">
            <a:pPr>
              <a:buNone/>
              <a:defRPr sz="2400" b="1">
                <a:solidFill>
                  <a:srgbClr val="12263A"/>
                </a:solidFill>
              </a:defRPr>
            </a:pPr>
            <a:r>
              <a:rPr sz="2400" b="1">
                <a:solidFill>
                  <a:srgbClr val="12263A"/>
                </a:solidFill>
              </a:rPr>
              <a:t>chat, calendars and</a:t>
            </a:r>
          </a:p>
          <a:p xmlns:a="http://schemas.openxmlformats.org/drawingml/2006/main">
            <a:pPr>
              <a:buNone/>
              <a:defRPr sz="2400" b="1">
                <a:solidFill>
                  <a:srgbClr val="12263A"/>
                </a:solidFill>
              </a:defRPr>
            </a:pPr>
            <a:r>
              <a:rPr sz="2400" b="1">
                <a:solidFill>
                  <a:srgbClr val="12263A"/>
                </a:solidFill>
              </a:rPr>
              <a:t>task lists.</a:t>
            </a:r>
          </a:p>
        </p:txBody>
      </p:sp>
      <p:sp>
        <p:nvSpPr>
          <p:cNvPr id="9" name="">
            <a:extLst xmlns:a="http://schemas.openxmlformats.org/drawingml/2006/main">
              <a:ext uri="{FF2B5EF4-FFF2-40B4-BE49-F238E27FC236}">
                <a16:creationId xmlns:a16="http://schemas.microsoft.com/office/drawing/2014/main" id="{929364B8-2FCE-4C96-BA1B-F3191FC49C3A}"/>
              </a:ext>
            </a:extLst>
          </p:cNvPr>
          <p:cNvSpPr>
            <a:spLocks xmlns:a="http://schemas.openxmlformats.org/drawingml/2006/main" noGrp="1"/>
          </p:cNvSpPr>
          <p:nvPr/>
        </p:nvSpPr>
        <p:spPr>
          <a:xfrm xmlns:a="http://schemas.openxmlformats.org/drawingml/2006/main">
            <a:off x="876300" y="461010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482"/>
                </a:solidFill>
              </a:defRPr>
            </a:pPr>
            <a:r>
              <a:rPr sz="1425" b="0">
                <a:solidFill>
                  <a:srgbClr val="667482"/>
                </a:solidFill>
              </a:rPr>
              <a:t>Status becomes stale. Blockers surface near submission.</a:t>
            </a:r>
          </a:p>
        </p:txBody>
      </p:sp>
      <p:sp>
        <p:nvSpPr>
          <p:cNvPr id="10" name="">
            <a:extLst xmlns:a="http://schemas.openxmlformats.org/drawingml/2006/main">
              <a:ext uri="{FF2B5EF4-FFF2-40B4-BE49-F238E27FC236}">
                <a16:creationId xmlns:a16="http://schemas.microsoft.com/office/drawing/2014/main" id="{82833E7F-263D-47EC-BCE9-62AC9AC42E5F}"/>
              </a:ext>
            </a:extLst>
          </p:cNvPr>
          <p:cNvSpPr>
            <a:spLocks xmlns:a="http://schemas.openxmlformats.org/drawingml/2006/main" noGrp="1"/>
          </p:cNvSpPr>
          <p:nvPr/>
        </p:nvSpPr>
        <p:spPr>
          <a:xfrm xmlns:a="http://schemas.openxmlformats.org/drawingml/2006/main">
            <a:off x="6305550" y="25717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1">
                <a:solidFill>
                  <a:srgbClr val="BFE2D4"/>
                </a:solidFill>
              </a:defRPr>
            </a:pPr>
            <a:r>
              <a:rPr sz="1050" b="1">
                <a:solidFill>
                  <a:srgbClr val="BFE2D4"/>
                </a:solidFill>
              </a:rPr>
              <a:t>CONTRIBUTION</a:t>
            </a:r>
          </a:p>
        </p:txBody>
      </p:sp>
      <p:sp>
        <p:nvSpPr>
          <p:cNvPr id="11" name="">
            <a:extLst xmlns:a="http://schemas.openxmlformats.org/drawingml/2006/main">
              <a:ext uri="{FF2B5EF4-FFF2-40B4-BE49-F238E27FC236}">
                <a16:creationId xmlns:a16="http://schemas.microsoft.com/office/drawing/2014/main" id="{86AFF03F-9C1B-45F5-8AEF-B3116DB81FB2}"/>
              </a:ext>
            </a:extLst>
          </p:cNvPr>
          <p:cNvSpPr>
            <a:spLocks xmlns:a="http://schemas.openxmlformats.org/drawingml/2006/main" noGrp="1"/>
          </p:cNvSpPr>
          <p:nvPr/>
        </p:nvSpPr>
        <p:spPr>
          <a:xfrm xmlns:a="http://schemas.openxmlformats.org/drawingml/2006/main">
            <a:off x="6305550" y="3028950"/>
            <a:ext cx="4095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400" b="1">
                <a:solidFill>
                  <a:srgbClr val="FFFFFF"/>
                </a:solidFill>
              </a:defRPr>
            </a:pPr>
            <a:r>
              <a:rPr sz="2400" b="1">
                <a:solidFill>
                  <a:srgbClr val="FFFFFF"/>
                </a:solidFill>
              </a:rPr>
              <a:t>Teams reconstruct</a:t>
            </a:r>
          </a:p>
          <a:p xmlns:a="http://schemas.openxmlformats.org/drawingml/2006/main">
            <a:pPr>
              <a:buNone/>
              <a:defRPr sz="2400" b="1">
                <a:solidFill>
                  <a:srgbClr val="FFFFFF"/>
                </a:solidFill>
              </a:defRPr>
            </a:pPr>
            <a:r>
              <a:rPr sz="2400" b="1">
                <a:solidFill>
                  <a:srgbClr val="FFFFFF"/>
                </a:solidFill>
              </a:rPr>
              <a:t>who did what from</a:t>
            </a:r>
          </a:p>
          <a:p xmlns:a="http://schemas.openxmlformats.org/drawingml/2006/main">
            <a:pPr>
              <a:buNone/>
              <a:defRPr sz="2400" b="1">
                <a:solidFill>
                  <a:srgbClr val="FFFFFF"/>
                </a:solidFill>
              </a:defRPr>
            </a:pPr>
            <a:r>
              <a:rPr sz="2400" b="1">
                <a:solidFill>
                  <a:srgbClr val="FFFFFF"/>
                </a:solidFill>
              </a:rPr>
              <a:t>memory.</a:t>
            </a:r>
          </a:p>
        </p:txBody>
      </p:sp>
      <p:sp>
        <p:nvSpPr>
          <p:cNvPr id="12" name="">
            <a:extLst xmlns:a="http://schemas.openxmlformats.org/drawingml/2006/main">
              <a:ext uri="{FF2B5EF4-FFF2-40B4-BE49-F238E27FC236}">
                <a16:creationId xmlns:a16="http://schemas.microsoft.com/office/drawing/2014/main" id="{75E4427E-FE3B-44E3-B004-C3621A69A8D4}"/>
              </a:ext>
            </a:extLst>
          </p:cNvPr>
          <p:cNvSpPr>
            <a:spLocks xmlns:a="http://schemas.openxmlformats.org/drawingml/2006/main" noGrp="1"/>
          </p:cNvSpPr>
          <p:nvPr/>
        </p:nvSpPr>
        <p:spPr>
          <a:xfrm xmlns:a="http://schemas.openxmlformats.org/drawingml/2006/main">
            <a:off x="6305550" y="461010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D8E3EC"/>
                </a:solidFill>
              </a:defRPr>
            </a:pPr>
            <a:r>
              <a:rPr sz="1425" b="0">
                <a:solidFill>
                  <a:srgbClr val="D8E3EC"/>
                </a:solidFill>
              </a:rPr>
              <a:t>Late disputes lack shared facts and context.</a:t>
            </a:r>
          </a:p>
        </p:txBody>
      </p:sp>
      <p:sp>
        <p:nvSpPr>
          <p:cNvPr id="13" name="">
            <a:extLst xmlns:a="http://schemas.openxmlformats.org/drawingml/2006/main">
              <a:ext uri="{FF2B5EF4-FFF2-40B4-BE49-F238E27FC236}">
                <a16:creationId xmlns:a16="http://schemas.microsoft.com/office/drawing/2014/main" id="{0CD73F75-D60A-4B0F-8E9D-C38962095C1D}"/>
              </a:ext>
            </a:extLst>
          </p:cNvPr>
          <p:cNvSpPr>
            <a:spLocks xmlns:a="http://schemas.openxmlformats.org/drawingml/2006/main" noGrp="1"/>
          </p:cNvSpPr>
          <p:nvPr/>
        </p:nvSpPr>
        <p:spPr>
          <a:xfrm xmlns:a="http://schemas.openxmlformats.org/drawingml/2006/main">
            <a:off x="4895850" y="5219700"/>
            <a:ext cx="1847850" cy="400050"/>
          </a:xfrm>
          <a:prstGeom xmlns:a="http://schemas.openxmlformats.org/drawingml/2006/main" prst="roundRect">
            <a:avLst>
              <a:gd name="adj" fmla="val 47619"/>
            </a:avLst>
          </a:prstGeom>
          <a:solidFill xmlns:a="http://schemas.openxmlformats.org/drawingml/2006/main">
            <a:srgbClr val="E96B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A7AA61-898D-4596-B22F-09AE61CEF99C}"/>
              </a:ext>
            </a:extLst>
          </p:cNvPr>
          <p:cNvSpPr>
            <a:spLocks xmlns:a="http://schemas.openxmlformats.org/drawingml/2006/main" noGrp="1"/>
          </p:cNvSpPr>
          <p:nvPr/>
        </p:nvSpPr>
        <p:spPr>
          <a:xfrm xmlns:a="http://schemas.openxmlformats.org/drawingml/2006/main">
            <a:off x="5133975" y="5324475"/>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FFFFFF"/>
                </a:solidFill>
              </a:defRPr>
            </a:pPr>
            <a:r>
              <a:rPr sz="975" b="1">
                <a:solidFill>
                  <a:srgbClr val="FFFFFF"/>
                </a:solidFill>
              </a:rPr>
              <a:t>ONE WORKFLOW</a:t>
            </a:r>
          </a:p>
        </p:txBody>
      </p:sp>
      <p:sp>
        <p:nvSpPr>
          <p:cNvPr id="15" name="">
            <a:extLst xmlns:a="http://schemas.openxmlformats.org/drawingml/2006/main">
              <a:ext uri="{FF2B5EF4-FFF2-40B4-BE49-F238E27FC236}">
                <a16:creationId xmlns:a16="http://schemas.microsoft.com/office/drawing/2014/main" id="{2BC45DE2-3B63-4359-8717-AEEA3EB6A22E}"/>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STUDYCREW  |  ELEC3609/9609  |  GROUP 02</a:t>
            </a:r>
          </a:p>
        </p:txBody>
      </p:sp>
      <p:sp>
        <p:nvSpPr>
          <p:cNvPr id="16" name="">
            <a:extLst xmlns:a="http://schemas.openxmlformats.org/drawingml/2006/main">
              <a:ext uri="{FF2B5EF4-FFF2-40B4-BE49-F238E27FC236}">
                <a16:creationId xmlns:a16="http://schemas.microsoft.com/office/drawing/2014/main" id="{819FE89D-4DCC-471C-8E67-369AEEFFE790}"/>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02</a:t>
            </a:r>
          </a:p>
        </p:txBody>
      </p:sp>
    </p:spTree>
    <p:extLst>
      <p:ext uri="{BB962C8B-B14F-4D97-AF65-F5344CB8AC3E}">
        <p14:creationId xmlns:p14="http://schemas.microsoft.com/office/powerpoint/2010/main" val="1052043572"/>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B398898-82BF-4112-B1EE-EE5DB2815B47}"/>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02 / RESPONSE</a:t>
            </a:r>
          </a:p>
        </p:txBody>
      </p:sp>
      <p:sp>
        <p:nvSpPr>
          <p:cNvPr id="2" name="">
            <a:extLst xmlns:a="http://schemas.openxmlformats.org/drawingml/2006/main">
              <a:ext uri="{FF2B5EF4-FFF2-40B4-BE49-F238E27FC236}">
                <a16:creationId xmlns:a16="http://schemas.microsoft.com/office/drawing/2014/main" id="{DCAF7D40-152E-456B-A594-A7C4080FAB1D}"/>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2263A"/>
                </a:solidFill>
              </a:defRPr>
            </a:pPr>
            <a:r>
              <a:rPr sz="3150" b="1">
                <a:solidFill>
                  <a:srgbClr val="12263A"/>
                </a:solidFill>
              </a:rPr>
              <a:t>A simple loop: plan, coordinate, review evidence.</a:t>
            </a:r>
          </a:p>
        </p:txBody>
      </p:sp>
      <p:sp>
        <p:nvSpPr>
          <p:cNvPr id="3" name="">
            <a:extLst xmlns:a="http://schemas.openxmlformats.org/drawingml/2006/main">
              <a:ext uri="{FF2B5EF4-FFF2-40B4-BE49-F238E27FC236}">
                <a16:creationId xmlns:a16="http://schemas.microsoft.com/office/drawing/2014/main" id="{8771E619-78CA-4510-80E3-D722A0D853E8}"/>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1D5560-663D-490A-B77B-DB0AA32B1B6B}"/>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482"/>
                </a:solidFill>
              </a:defRPr>
            </a:pPr>
            <a:r>
              <a:rPr sz="1275" b="0">
                <a:solidFill>
                  <a:srgbClr val="667482"/>
                </a:solidFill>
              </a:rPr>
              <a:t>Every meaningful action retains its context.</a:t>
            </a:r>
          </a:p>
        </p:txBody>
      </p:sp>
      <p:sp>
        <p:nvSpPr>
          <p:cNvPr id="5" name="">
            <a:extLst xmlns:a="http://schemas.openxmlformats.org/drawingml/2006/main">
              <a:ext uri="{FF2B5EF4-FFF2-40B4-BE49-F238E27FC236}">
                <a16:creationId xmlns:a16="http://schemas.microsoft.com/office/drawing/2014/main" id="{A42056F3-9113-4CCB-B41D-762C93954980}"/>
              </a:ext>
            </a:extLst>
          </p:cNvPr>
          <p:cNvSpPr>
            <a:spLocks xmlns:a="http://schemas.openxmlformats.org/drawingml/2006/main" noGrp="1"/>
          </p:cNvSpPr>
          <p:nvPr/>
        </p:nvSpPr>
        <p:spPr>
          <a:xfrm xmlns:a="http://schemas.openxmlformats.org/drawingml/2006/main">
            <a:off x="552450" y="2343150"/>
            <a:ext cx="3105150" cy="2724150"/>
          </a:xfrm>
          <a:prstGeom xmlns:a="http://schemas.openxmlformats.org/drawingml/2006/main" prst="roundRect">
            <a:avLst>
              <a:gd name="adj" fmla="val 6294"/>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8AADCA42-A283-4BDE-90D7-DB6AE59E54CD}"/>
              </a:ext>
            </a:extLst>
          </p:cNvPr>
          <p:cNvSpPr>
            <a:spLocks xmlns:a="http://schemas.openxmlformats.org/drawingml/2006/main" noGrp="1"/>
          </p:cNvSpPr>
          <p:nvPr/>
        </p:nvSpPr>
        <p:spPr>
          <a:xfrm xmlns:a="http://schemas.openxmlformats.org/drawingml/2006/main">
            <a:off x="819150" y="2590800"/>
            <a:ext cx="628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E96B4B"/>
                </a:solidFill>
              </a:defRPr>
            </a:pPr>
            <a:r>
              <a:rPr sz="1275" b="1">
                <a:solidFill>
                  <a:srgbClr val="E96B4B"/>
                </a:solidFill>
              </a:rPr>
              <a:t>01</a:t>
            </a:r>
          </a:p>
        </p:txBody>
      </p:sp>
      <p:sp>
        <p:nvSpPr>
          <p:cNvPr id="7" name="">
            <a:extLst xmlns:a="http://schemas.openxmlformats.org/drawingml/2006/main">
              <a:ext uri="{FF2B5EF4-FFF2-40B4-BE49-F238E27FC236}">
                <a16:creationId xmlns:a16="http://schemas.microsoft.com/office/drawing/2014/main" id="{84917130-74F6-4219-A39C-CC4CD0CB1966}"/>
              </a:ext>
            </a:extLst>
          </p:cNvPr>
          <p:cNvSpPr>
            <a:spLocks xmlns:a="http://schemas.openxmlformats.org/drawingml/2006/main" noGrp="1"/>
          </p:cNvSpPr>
          <p:nvPr/>
        </p:nvSpPr>
        <p:spPr>
          <a:xfrm xmlns:a="http://schemas.openxmlformats.org/drawingml/2006/main">
            <a:off x="819150" y="31051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1">
                <a:solidFill>
                  <a:srgbClr val="12263A"/>
                </a:solidFill>
              </a:defRPr>
            </a:pPr>
            <a:r>
              <a:rPr sz="2025" b="1">
                <a:solidFill>
                  <a:srgbClr val="12263A"/>
                </a:solidFill>
              </a:rPr>
              <a:t>PLAN</a:t>
            </a:r>
          </a:p>
        </p:txBody>
      </p:sp>
      <p:sp>
        <p:nvSpPr>
          <p:cNvPr id="8" name="">
            <a:extLst xmlns:a="http://schemas.openxmlformats.org/drawingml/2006/main">
              <a:ext uri="{FF2B5EF4-FFF2-40B4-BE49-F238E27FC236}">
                <a16:creationId xmlns:a16="http://schemas.microsoft.com/office/drawing/2014/main" id="{7345BDFB-62A7-4856-8749-FF9EB9A57505}"/>
              </a:ext>
            </a:extLst>
          </p:cNvPr>
          <p:cNvSpPr>
            <a:spLocks xmlns:a="http://schemas.openxmlformats.org/drawingml/2006/main" noGrp="1"/>
          </p:cNvSpPr>
          <p:nvPr/>
        </p:nvSpPr>
        <p:spPr>
          <a:xfrm xmlns:a="http://schemas.openxmlformats.org/drawingml/2006/main">
            <a:off x="819150" y="3657600"/>
            <a:ext cx="247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482"/>
                </a:solidFill>
              </a:defRPr>
            </a:pPr>
            <a:r>
              <a:rPr sz="1575" b="0">
                <a:solidFill>
                  <a:srgbClr val="667482"/>
                </a:solidFill>
              </a:rPr>
              <a:t>Create projects.</a:t>
            </a:r>
          </a:p>
          <a:p xmlns:a="http://schemas.openxmlformats.org/drawingml/2006/main">
            <a:pPr>
              <a:buNone/>
              <a:defRPr sz="1575" b="0">
                <a:solidFill>
                  <a:srgbClr val="667482"/>
                </a:solidFill>
              </a:defRPr>
            </a:pPr>
            <a:r>
              <a:rPr sz="1575" b="0">
                <a:solidFill>
                  <a:srgbClr val="667482"/>
                </a:solidFill>
              </a:rPr>
              <a:t>Assign tasks.</a:t>
            </a:r>
          </a:p>
          <a:p xmlns:a="http://schemas.openxmlformats.org/drawingml/2006/main">
            <a:pPr>
              <a:buNone/>
              <a:defRPr sz="1575" b="0">
                <a:solidFill>
                  <a:srgbClr val="667482"/>
                </a:solidFill>
              </a:defRPr>
            </a:pPr>
            <a:r>
              <a:rPr sz="1575" b="0">
                <a:solidFill>
                  <a:srgbClr val="667482"/>
                </a:solidFill>
              </a:rPr>
              <a:t>Set ownership.</a:t>
            </a:r>
          </a:p>
        </p:txBody>
      </p:sp>
      <p:sp>
        <p:nvSpPr>
          <p:cNvPr id="9" name="">
            <a:extLst xmlns:a="http://schemas.openxmlformats.org/drawingml/2006/main">
              <a:ext uri="{FF2B5EF4-FFF2-40B4-BE49-F238E27FC236}">
                <a16:creationId xmlns:a16="http://schemas.microsoft.com/office/drawing/2014/main" id="{90D7DA2E-577C-454C-AF06-6F53DFBEC8BA}"/>
              </a:ext>
            </a:extLst>
          </p:cNvPr>
          <p:cNvSpPr>
            <a:spLocks xmlns:a="http://schemas.openxmlformats.org/drawingml/2006/main" noGrp="1"/>
          </p:cNvSpPr>
          <p:nvPr/>
        </p:nvSpPr>
        <p:spPr>
          <a:xfrm xmlns:a="http://schemas.openxmlformats.org/drawingml/2006/main">
            <a:off x="4038600" y="2343150"/>
            <a:ext cx="3105150" cy="2724150"/>
          </a:xfrm>
          <a:prstGeom xmlns:a="http://schemas.openxmlformats.org/drawingml/2006/main" prst="roundRect">
            <a:avLst>
              <a:gd name="adj" fmla="val 6294"/>
            </a:avLst>
          </a:prstGeom>
          <a:solidFill xmlns:a="http://schemas.openxmlformats.org/drawingml/2006/main">
            <a:srgbClr val="EAF2FA"/>
          </a:solidFill>
          <a:ln xmlns:a="http://schemas.openxmlformats.org/drawingml/2006/main" w="9525">
            <a:solidFill>
              <a:srgbClr val="CBD5DF"/>
            </a:solidFill>
            <a:prstDash val="solid"/>
          </a:ln>
        </p:spPr>
      </p:sp>
      <p:sp>
        <p:nvSpPr>
          <p:cNvPr id="10" name="">
            <a:extLst xmlns:a="http://schemas.openxmlformats.org/drawingml/2006/main">
              <a:ext uri="{FF2B5EF4-FFF2-40B4-BE49-F238E27FC236}">
                <a16:creationId xmlns:a16="http://schemas.microsoft.com/office/drawing/2014/main" id="{3CA560B0-4751-4751-B910-A2EBA8D46B9D}"/>
              </a:ext>
            </a:extLst>
          </p:cNvPr>
          <p:cNvSpPr>
            <a:spLocks xmlns:a="http://schemas.openxmlformats.org/drawingml/2006/main" noGrp="1"/>
          </p:cNvSpPr>
          <p:nvPr/>
        </p:nvSpPr>
        <p:spPr>
          <a:xfrm xmlns:a="http://schemas.openxmlformats.org/drawingml/2006/main">
            <a:off x="4305300" y="2590800"/>
            <a:ext cx="628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E96B4B"/>
                </a:solidFill>
              </a:defRPr>
            </a:pPr>
            <a:r>
              <a:rPr sz="1275" b="1">
                <a:solidFill>
                  <a:srgbClr val="E96B4B"/>
                </a:solidFill>
              </a:rPr>
              <a:t>02</a:t>
            </a:r>
          </a:p>
        </p:txBody>
      </p:sp>
      <p:sp>
        <p:nvSpPr>
          <p:cNvPr id="11" name="">
            <a:extLst xmlns:a="http://schemas.openxmlformats.org/drawingml/2006/main">
              <a:ext uri="{FF2B5EF4-FFF2-40B4-BE49-F238E27FC236}">
                <a16:creationId xmlns:a16="http://schemas.microsoft.com/office/drawing/2014/main" id="{FAC25ADE-62EF-4BF7-A501-A928C699099D}"/>
              </a:ext>
            </a:extLst>
          </p:cNvPr>
          <p:cNvSpPr>
            <a:spLocks xmlns:a="http://schemas.openxmlformats.org/drawingml/2006/main" noGrp="1"/>
          </p:cNvSpPr>
          <p:nvPr/>
        </p:nvSpPr>
        <p:spPr>
          <a:xfrm xmlns:a="http://schemas.openxmlformats.org/drawingml/2006/main">
            <a:off x="4305300" y="31051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1">
                <a:solidFill>
                  <a:srgbClr val="12263A"/>
                </a:solidFill>
              </a:defRPr>
            </a:pPr>
            <a:r>
              <a:rPr sz="2025" b="1">
                <a:solidFill>
                  <a:srgbClr val="12263A"/>
                </a:solidFill>
              </a:rPr>
              <a:t>COORDINATE</a:t>
            </a:r>
          </a:p>
        </p:txBody>
      </p:sp>
      <p:sp>
        <p:nvSpPr>
          <p:cNvPr id="12" name="">
            <a:extLst xmlns:a="http://schemas.openxmlformats.org/drawingml/2006/main">
              <a:ext uri="{FF2B5EF4-FFF2-40B4-BE49-F238E27FC236}">
                <a16:creationId xmlns:a16="http://schemas.microsoft.com/office/drawing/2014/main" id="{76530A9C-3388-4C6E-A397-A83F028DD6C7}"/>
              </a:ext>
            </a:extLst>
          </p:cNvPr>
          <p:cNvSpPr>
            <a:spLocks xmlns:a="http://schemas.openxmlformats.org/drawingml/2006/main" noGrp="1"/>
          </p:cNvSpPr>
          <p:nvPr/>
        </p:nvSpPr>
        <p:spPr>
          <a:xfrm xmlns:a="http://schemas.openxmlformats.org/drawingml/2006/main">
            <a:off x="4305300" y="3657600"/>
            <a:ext cx="247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482"/>
                </a:solidFill>
              </a:defRPr>
            </a:pPr>
            <a:r>
              <a:rPr sz="1575" b="0">
                <a:solidFill>
                  <a:srgbClr val="667482"/>
                </a:solidFill>
              </a:rPr>
              <a:t>Progress work.</a:t>
            </a:r>
          </a:p>
          <a:p xmlns:a="http://schemas.openxmlformats.org/drawingml/2006/main">
            <a:pPr>
              <a:buNone/>
              <a:defRPr sz="1575" b="0">
                <a:solidFill>
                  <a:srgbClr val="667482"/>
                </a:solidFill>
              </a:defRPr>
            </a:pPr>
            <a:r>
              <a:rPr sz="1575" b="0">
                <a:solidFill>
                  <a:srgbClr val="667482"/>
                </a:solidFill>
              </a:rPr>
              <a:t>Discuss blockers.</a:t>
            </a:r>
          </a:p>
          <a:p xmlns:a="http://schemas.openxmlformats.org/drawingml/2006/main">
            <a:pPr>
              <a:buNone/>
              <a:defRPr sz="1575" b="0">
                <a:solidFill>
                  <a:srgbClr val="667482"/>
                </a:solidFill>
              </a:defRPr>
            </a:pPr>
            <a:r>
              <a:rPr sz="1575" b="0">
                <a:solidFill>
                  <a:srgbClr val="667482"/>
                </a:solidFill>
              </a:rPr>
              <a:t>Schedule and RSVP.</a:t>
            </a:r>
          </a:p>
        </p:txBody>
      </p:sp>
      <p:sp>
        <p:nvSpPr>
          <p:cNvPr id="13" name="">
            <a:extLst xmlns:a="http://schemas.openxmlformats.org/drawingml/2006/main">
              <a:ext uri="{FF2B5EF4-FFF2-40B4-BE49-F238E27FC236}">
                <a16:creationId xmlns:a16="http://schemas.microsoft.com/office/drawing/2014/main" id="{C45F3564-6F45-4C3F-8B81-5F0D237BF838}"/>
              </a:ext>
            </a:extLst>
          </p:cNvPr>
          <p:cNvSpPr>
            <a:spLocks xmlns:a="http://schemas.openxmlformats.org/drawingml/2006/main" noGrp="1"/>
          </p:cNvSpPr>
          <p:nvPr/>
        </p:nvSpPr>
        <p:spPr>
          <a:xfrm xmlns:a="http://schemas.openxmlformats.org/drawingml/2006/main">
            <a:off x="7524750" y="2343150"/>
            <a:ext cx="3105150" cy="2724150"/>
          </a:xfrm>
          <a:prstGeom xmlns:a="http://schemas.openxmlformats.org/drawingml/2006/main" prst="roundRect">
            <a:avLst>
              <a:gd name="adj" fmla="val 6294"/>
            </a:avLst>
          </a:prstGeom>
          <a:solidFill xmlns:a="http://schemas.openxmlformats.org/drawingml/2006/main">
            <a:srgbClr val="FFFFFF"/>
          </a:solidFill>
          <a:ln xmlns:a="http://schemas.openxmlformats.org/drawingml/2006/main" w="9525">
            <a:solidFill>
              <a:srgbClr val="CBD5DF"/>
            </a:solidFill>
            <a:prstDash val="solid"/>
          </a:ln>
        </p:spPr>
      </p:sp>
      <p:sp>
        <p:nvSpPr>
          <p:cNvPr id="14" name="">
            <a:extLst xmlns:a="http://schemas.openxmlformats.org/drawingml/2006/main">
              <a:ext uri="{FF2B5EF4-FFF2-40B4-BE49-F238E27FC236}">
                <a16:creationId xmlns:a16="http://schemas.microsoft.com/office/drawing/2014/main" id="{2FCE345A-EA6B-438E-B96E-811E8992B9E6}"/>
              </a:ext>
            </a:extLst>
          </p:cNvPr>
          <p:cNvSpPr>
            <a:spLocks xmlns:a="http://schemas.openxmlformats.org/drawingml/2006/main" noGrp="1"/>
          </p:cNvSpPr>
          <p:nvPr/>
        </p:nvSpPr>
        <p:spPr>
          <a:xfrm xmlns:a="http://schemas.openxmlformats.org/drawingml/2006/main">
            <a:off x="7791450" y="2590800"/>
            <a:ext cx="628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E96B4B"/>
                </a:solidFill>
              </a:defRPr>
            </a:pPr>
            <a:r>
              <a:rPr sz="1275" b="1">
                <a:solidFill>
                  <a:srgbClr val="E96B4B"/>
                </a:solidFill>
              </a:rPr>
              <a:t>03</a:t>
            </a:r>
          </a:p>
        </p:txBody>
      </p:sp>
      <p:sp>
        <p:nvSpPr>
          <p:cNvPr id="15" name="">
            <a:extLst xmlns:a="http://schemas.openxmlformats.org/drawingml/2006/main">
              <a:ext uri="{FF2B5EF4-FFF2-40B4-BE49-F238E27FC236}">
                <a16:creationId xmlns:a16="http://schemas.microsoft.com/office/drawing/2014/main" id="{82C1E229-7B4B-46E8-A402-33D566B7BA10}"/>
              </a:ext>
            </a:extLst>
          </p:cNvPr>
          <p:cNvSpPr>
            <a:spLocks xmlns:a="http://schemas.openxmlformats.org/drawingml/2006/main" noGrp="1"/>
          </p:cNvSpPr>
          <p:nvPr/>
        </p:nvSpPr>
        <p:spPr>
          <a:xfrm xmlns:a="http://schemas.openxmlformats.org/drawingml/2006/main">
            <a:off x="7791450" y="31051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1">
                <a:solidFill>
                  <a:srgbClr val="12263A"/>
                </a:solidFill>
              </a:defRPr>
            </a:pPr>
            <a:r>
              <a:rPr sz="2025" b="1">
                <a:solidFill>
                  <a:srgbClr val="12263A"/>
                </a:solidFill>
              </a:rPr>
              <a:t>REVIEW</a:t>
            </a:r>
          </a:p>
        </p:txBody>
      </p:sp>
      <p:sp>
        <p:nvSpPr>
          <p:cNvPr id="16" name="">
            <a:extLst xmlns:a="http://schemas.openxmlformats.org/drawingml/2006/main">
              <a:ext uri="{FF2B5EF4-FFF2-40B4-BE49-F238E27FC236}">
                <a16:creationId xmlns:a16="http://schemas.microsoft.com/office/drawing/2014/main" id="{5B8CD48D-D9D4-486A-98AA-15A866EFB7C6}"/>
              </a:ext>
            </a:extLst>
          </p:cNvPr>
          <p:cNvSpPr>
            <a:spLocks xmlns:a="http://schemas.openxmlformats.org/drawingml/2006/main" noGrp="1"/>
          </p:cNvSpPr>
          <p:nvPr/>
        </p:nvSpPr>
        <p:spPr>
          <a:xfrm xmlns:a="http://schemas.openxmlformats.org/drawingml/2006/main">
            <a:off x="7791450" y="3657600"/>
            <a:ext cx="247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482"/>
                </a:solidFill>
              </a:defRPr>
            </a:pPr>
            <a:r>
              <a:rPr sz="1575" b="0">
                <a:solidFill>
                  <a:srgbClr val="667482"/>
                </a:solidFill>
              </a:rPr>
              <a:t>See activity totals.</a:t>
            </a:r>
          </a:p>
          <a:p xmlns:a="http://schemas.openxmlformats.org/drawingml/2006/main">
            <a:pPr>
              <a:buNone/>
              <a:defRPr sz="1575" b="0">
                <a:solidFill>
                  <a:srgbClr val="667482"/>
                </a:solidFill>
              </a:defRPr>
            </a:pPr>
            <a:r>
              <a:rPr sz="1575" b="0">
                <a:solidFill>
                  <a:srgbClr val="667482"/>
                </a:solidFill>
              </a:rPr>
              <a:t>Drill into events.</a:t>
            </a:r>
          </a:p>
          <a:p xmlns:a="http://schemas.openxmlformats.org/drawingml/2006/main">
            <a:pPr>
              <a:buNone/>
              <a:defRPr sz="1575" b="0">
                <a:solidFill>
                  <a:srgbClr val="667482"/>
                </a:solidFill>
              </a:defRPr>
            </a:pPr>
            <a:r>
              <a:rPr sz="1575" b="0">
                <a:solidFill>
                  <a:srgbClr val="667482"/>
                </a:solidFill>
              </a:rPr>
              <a:t>Have the conversation.</a:t>
            </a:r>
          </a:p>
        </p:txBody>
      </p:sp>
      <p:sp>
        <p:nvSpPr>
          <p:cNvPr id="17" name="">
            <a:extLst xmlns:a="http://schemas.openxmlformats.org/drawingml/2006/main">
              <a:ext uri="{FF2B5EF4-FFF2-40B4-BE49-F238E27FC236}">
                <a16:creationId xmlns:a16="http://schemas.microsoft.com/office/drawing/2014/main" id="{F2513228-DD49-4D68-A83F-005654297AAF}"/>
              </a:ext>
            </a:extLst>
          </p:cNvPr>
          <p:cNvSpPr>
            <a:spLocks xmlns:a="http://schemas.openxmlformats.org/drawingml/2006/main" noGrp="1"/>
          </p:cNvSpPr>
          <p:nvPr/>
        </p:nvSpPr>
        <p:spPr>
          <a:xfrm xmlns:a="http://schemas.openxmlformats.org/drawingml/2006/main">
            <a:off x="3705225" y="3333750"/>
            <a:ext cx="323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2774C7"/>
                </a:solidFill>
              </a:defRPr>
            </a:pPr>
            <a:r>
              <a:rPr sz="2550" b="1">
                <a:solidFill>
                  <a:srgbClr val="2774C7"/>
                </a:solidFill>
              </a:rPr>
              <a:t>→</a:t>
            </a:r>
          </a:p>
        </p:txBody>
      </p:sp>
      <p:sp>
        <p:nvSpPr>
          <p:cNvPr id="18" name="">
            <a:extLst xmlns:a="http://schemas.openxmlformats.org/drawingml/2006/main">
              <a:ext uri="{FF2B5EF4-FFF2-40B4-BE49-F238E27FC236}">
                <a16:creationId xmlns:a16="http://schemas.microsoft.com/office/drawing/2014/main" id="{53583048-F408-4C74-912F-B5599396AE56}"/>
              </a:ext>
            </a:extLst>
          </p:cNvPr>
          <p:cNvSpPr>
            <a:spLocks xmlns:a="http://schemas.openxmlformats.org/drawingml/2006/main" noGrp="1"/>
          </p:cNvSpPr>
          <p:nvPr/>
        </p:nvSpPr>
        <p:spPr>
          <a:xfrm xmlns:a="http://schemas.openxmlformats.org/drawingml/2006/main">
            <a:off x="7191375" y="3333750"/>
            <a:ext cx="323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550" b="1">
                <a:solidFill>
                  <a:srgbClr val="2774C7"/>
                </a:solidFill>
              </a:defRPr>
            </a:pPr>
            <a:r>
              <a:rPr sz="2550" b="1">
                <a:solidFill>
                  <a:srgbClr val="2774C7"/>
                </a:solidFill>
              </a:rPr>
              <a:t>→</a:t>
            </a:r>
          </a:p>
        </p:txBody>
      </p:sp>
      <p:sp>
        <p:nvSpPr>
          <p:cNvPr id="19" name="">
            <a:extLst xmlns:a="http://schemas.openxmlformats.org/drawingml/2006/main">
              <a:ext uri="{FF2B5EF4-FFF2-40B4-BE49-F238E27FC236}">
                <a16:creationId xmlns:a16="http://schemas.microsoft.com/office/drawing/2014/main" id="{22B05FC5-FD94-4FDF-9BC0-DF0F10F55079}"/>
              </a:ext>
            </a:extLst>
          </p:cNvPr>
          <p:cNvSpPr>
            <a:spLocks xmlns:a="http://schemas.openxmlformats.org/drawingml/2006/main" noGrp="1"/>
          </p:cNvSpPr>
          <p:nvPr/>
        </p:nvSpPr>
        <p:spPr>
          <a:xfrm xmlns:a="http://schemas.openxmlformats.org/drawingml/2006/main">
            <a:off x="552450" y="5334000"/>
            <a:ext cx="10077450" cy="666750"/>
          </a:xfrm>
          <a:prstGeom xmlns:a="http://schemas.openxmlformats.org/drawingml/2006/main" prst="roundRect">
            <a:avLst>
              <a:gd name="adj" fmla="val 20000"/>
            </a:avLst>
          </a:prstGeom>
          <a:solidFill xmlns:a="http://schemas.openxmlformats.org/drawingml/2006/main">
            <a:srgbClr val="1226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448524E-E92C-4C58-8A3D-0D2437F0D48A}"/>
              </a:ext>
            </a:extLst>
          </p:cNvPr>
          <p:cNvSpPr>
            <a:spLocks xmlns:a="http://schemas.openxmlformats.org/drawingml/2006/main" noGrp="1"/>
          </p:cNvSpPr>
          <p:nvPr/>
        </p:nvSpPr>
        <p:spPr>
          <a:xfrm xmlns:a="http://schemas.openxmlformats.org/drawingml/2006/main">
            <a:off x="838200" y="55340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BFE2D4"/>
                </a:solidFill>
              </a:defRPr>
            </a:pPr>
            <a:r>
              <a:rPr sz="1275" b="1">
                <a:solidFill>
                  <a:srgbClr val="BFE2D4"/>
                </a:solidFill>
              </a:rPr>
              <a:t>IMMUTABLE ACTIVITY EVENTS</a:t>
            </a:r>
          </a:p>
        </p:txBody>
      </p:sp>
      <p:sp>
        <p:nvSpPr>
          <p:cNvPr id="21" name="">
            <a:extLst xmlns:a="http://schemas.openxmlformats.org/drawingml/2006/main">
              <a:ext uri="{FF2B5EF4-FFF2-40B4-BE49-F238E27FC236}">
                <a16:creationId xmlns:a16="http://schemas.microsoft.com/office/drawing/2014/main" id="{E80C3469-7B6C-47E3-9D96-93DAABD3D372}"/>
              </a:ext>
            </a:extLst>
          </p:cNvPr>
          <p:cNvSpPr>
            <a:spLocks xmlns:a="http://schemas.openxmlformats.org/drawingml/2006/main" noGrp="1"/>
          </p:cNvSpPr>
          <p:nvPr/>
        </p:nvSpPr>
        <p:spPr>
          <a:xfrm xmlns:a="http://schemas.openxmlformats.org/drawingml/2006/main">
            <a:off x="6772275" y="55245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i="1">
                <a:solidFill>
                  <a:srgbClr val="FFFFFF"/>
                </a:solidFill>
              </a:defRPr>
            </a:pPr>
            <a:r>
              <a:rPr sz="1350" b="0" i="1">
                <a:solidFill>
                  <a:srgbClr val="FFFFFF"/>
                </a:solidFill>
              </a:rPr>
              <a:t>Evidence, not an automated grade</a:t>
            </a:r>
          </a:p>
        </p:txBody>
      </p:sp>
      <p:sp>
        <p:nvSpPr>
          <p:cNvPr id="22" name="">
            <a:extLst xmlns:a="http://schemas.openxmlformats.org/drawingml/2006/main">
              <a:ext uri="{FF2B5EF4-FFF2-40B4-BE49-F238E27FC236}">
                <a16:creationId xmlns:a16="http://schemas.microsoft.com/office/drawing/2014/main" id="{E9CDBA11-39EF-440C-BE69-FC917BA051EE}"/>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STUDYCREW  |  ELEC3609/9609  |  GROUP 02</a:t>
            </a:r>
          </a:p>
        </p:txBody>
      </p:sp>
      <p:sp>
        <p:nvSpPr>
          <p:cNvPr id="23" name="">
            <a:extLst xmlns:a="http://schemas.openxmlformats.org/drawingml/2006/main">
              <a:ext uri="{FF2B5EF4-FFF2-40B4-BE49-F238E27FC236}">
                <a16:creationId xmlns:a16="http://schemas.microsoft.com/office/drawing/2014/main" id="{FFFA6F42-13C0-4041-A7A6-C27BD419DF3B}"/>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03</a:t>
            </a:r>
          </a:p>
        </p:txBody>
      </p:sp>
    </p:spTree>
    <p:extLst>
      <p:ext uri="{BB962C8B-B14F-4D97-AF65-F5344CB8AC3E}">
        <p14:creationId xmlns:p14="http://schemas.microsoft.com/office/powerpoint/2010/main" val="1366918316"/>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39A3C96-7D53-45DC-9E7C-0787A0A580F9}"/>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03 / PRODUCT</a:t>
            </a:r>
          </a:p>
        </p:txBody>
      </p:sp>
      <p:sp>
        <p:nvSpPr>
          <p:cNvPr id="2" name="">
            <a:extLst xmlns:a="http://schemas.openxmlformats.org/drawingml/2006/main">
              <a:ext uri="{FF2B5EF4-FFF2-40B4-BE49-F238E27FC236}">
                <a16:creationId xmlns:a16="http://schemas.microsoft.com/office/drawing/2014/main" id="{88F5A75B-0C0B-4174-B61A-999B85C50D1F}"/>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2263A"/>
                </a:solidFill>
              </a:defRPr>
            </a:pPr>
            <a:r>
              <a:rPr sz="3150" b="1">
                <a:solidFill>
                  <a:srgbClr val="12263A"/>
                </a:solidFill>
              </a:rPr>
              <a:t>The workflow is already testable on paper.</a:t>
            </a:r>
          </a:p>
        </p:txBody>
      </p:sp>
      <p:sp>
        <p:nvSpPr>
          <p:cNvPr id="3" name="">
            <a:extLst xmlns:a="http://schemas.openxmlformats.org/drawingml/2006/main">
              <a:ext uri="{FF2B5EF4-FFF2-40B4-BE49-F238E27FC236}">
                <a16:creationId xmlns:a16="http://schemas.microsoft.com/office/drawing/2014/main" id="{921C5D07-3A0B-418E-9A2D-67A550E81ED1}"/>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0D9C22-0114-4F65-80F8-753FF5E6FA3C}"/>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482"/>
                </a:solidFill>
              </a:defRPr>
            </a:pPr>
            <a:r>
              <a:rPr sz="1275" b="0">
                <a:solidFill>
                  <a:srgbClr val="667482"/>
                </a:solidFill>
              </a:rPr>
              <a:t>Two views demonstrate the core value proposition.</a:t>
            </a:r>
          </a:p>
        </p:txBody>
      </p:sp>
      <p:sp>
        <p:nvSpPr>
          <p:cNvPr id="5" name="">
            <a:extLst xmlns:a="http://schemas.openxmlformats.org/drawingml/2006/main">
              <a:ext uri="{FF2B5EF4-FFF2-40B4-BE49-F238E27FC236}">
                <a16:creationId xmlns:a16="http://schemas.microsoft.com/office/drawing/2014/main" id="{7FBE0574-52D7-4EE6-B008-B229BFBDBEE9}"/>
              </a:ext>
            </a:extLst>
          </p:cNvPr>
          <p:cNvSpPr>
            <a:spLocks xmlns:a="http://schemas.openxmlformats.org/drawingml/2006/main" noGrp="1"/>
          </p:cNvSpPr>
          <p:nvPr/>
        </p:nvSpPr>
        <p:spPr>
          <a:xfrm xmlns:a="http://schemas.openxmlformats.org/drawingml/2006/main">
            <a:off x="552450" y="2152650"/>
            <a:ext cx="5257800" cy="3543300"/>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2E03BAA7-3EB0-48A7-92EC-12F363D0B1C1}"/>
              </a:ext>
            </a:extLst>
          </p:cNvPr>
          <p:cNvSpPr>
            <a:spLocks xmlns:a="http://schemas.openxmlformats.org/drawingml/2006/main" noGrp="1"/>
          </p:cNvSpPr>
          <p:nvPr/>
        </p:nvSpPr>
        <p:spPr>
          <a:xfrm xmlns:a="http://schemas.openxmlformats.org/drawingml/2006/main">
            <a:off x="5981700" y="2152650"/>
            <a:ext cx="5657850" cy="3543300"/>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9525">
            <a:solidFill>
              <a:srgbClr val="CBD5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2d8ec87a39446d3"/>
          <a:stretch xmlns:a="http://schemas.openxmlformats.org/drawingml/2006/main"/>
        </p:blipFill>
        <p:spPr>
          <a:xfrm xmlns:a="http://schemas.openxmlformats.org/drawingml/2006/main">
            <a:off x="986790" y="2324100"/>
            <a:ext cx="4389120" cy="2743200"/>
          </a:xfrm>
          <a:prstGeom xmlns:a="http://schemas.openxmlformats.org/drawingml/2006/main" prst="rect">
            <a:avLst/>
          </a:prstGeom>
        </p:spPr>
      </p:pic>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4f41d651fac48a6"/>
          <a:stretch xmlns:a="http://schemas.openxmlformats.org/drawingml/2006/main"/>
        </p:blipFill>
        <p:spPr>
          <a:xfrm xmlns:a="http://schemas.openxmlformats.org/drawingml/2006/main">
            <a:off x="6616065" y="2324100"/>
            <a:ext cx="4389120" cy="2743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2A3BF05-273A-4481-92ED-3C7A8658A92D}"/>
              </a:ext>
            </a:extLst>
          </p:cNvPr>
          <p:cNvSpPr>
            <a:spLocks xmlns:a="http://schemas.openxmlformats.org/drawingml/2006/main" noGrp="1"/>
          </p:cNvSpPr>
          <p:nvPr/>
        </p:nvSpPr>
        <p:spPr>
          <a:xfrm xmlns:a="http://schemas.openxmlformats.org/drawingml/2006/main">
            <a:off x="781050" y="52197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TASK BOARD</a:t>
            </a:r>
          </a:p>
        </p:txBody>
      </p:sp>
      <p:sp>
        <p:nvSpPr>
          <p:cNvPr id="10" name="">
            <a:extLst xmlns:a="http://schemas.openxmlformats.org/drawingml/2006/main">
              <a:ext uri="{FF2B5EF4-FFF2-40B4-BE49-F238E27FC236}">
                <a16:creationId xmlns:a16="http://schemas.microsoft.com/office/drawing/2014/main" id="{B5C7316F-7E29-4933-86F4-D7907112DE6B}"/>
              </a:ext>
            </a:extLst>
          </p:cNvPr>
          <p:cNvSpPr>
            <a:spLocks xmlns:a="http://schemas.openxmlformats.org/drawingml/2006/main" noGrp="1"/>
          </p:cNvSpPr>
          <p:nvPr/>
        </p:nvSpPr>
        <p:spPr>
          <a:xfrm xmlns:a="http://schemas.openxmlformats.org/drawingml/2006/main">
            <a:off x="2190750" y="52197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667482"/>
                </a:solidFill>
              </a:defRPr>
            </a:pPr>
            <a:r>
              <a:rPr sz="1125" b="0">
                <a:solidFill>
                  <a:srgbClr val="667482"/>
                </a:solidFill>
              </a:rPr>
              <a:t>Ownership, due dates and blockers at a glance</a:t>
            </a:r>
          </a:p>
        </p:txBody>
      </p:sp>
      <p:sp>
        <p:nvSpPr>
          <p:cNvPr id="11" name="">
            <a:extLst xmlns:a="http://schemas.openxmlformats.org/drawingml/2006/main">
              <a:ext uri="{FF2B5EF4-FFF2-40B4-BE49-F238E27FC236}">
                <a16:creationId xmlns:a16="http://schemas.microsoft.com/office/drawing/2014/main" id="{F775AE2F-3FD1-46D0-92FA-12ECBB22153E}"/>
              </a:ext>
            </a:extLst>
          </p:cNvPr>
          <p:cNvSpPr>
            <a:spLocks xmlns:a="http://schemas.openxmlformats.org/drawingml/2006/main" noGrp="1"/>
          </p:cNvSpPr>
          <p:nvPr/>
        </p:nvSpPr>
        <p:spPr>
          <a:xfrm xmlns:a="http://schemas.openxmlformats.org/drawingml/2006/main">
            <a:off x="6210300" y="52197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EVIDENCE</a:t>
            </a:r>
          </a:p>
        </p:txBody>
      </p:sp>
      <p:sp>
        <p:nvSpPr>
          <p:cNvPr id="12" name="">
            <a:extLst xmlns:a="http://schemas.openxmlformats.org/drawingml/2006/main">
              <a:ext uri="{FF2B5EF4-FFF2-40B4-BE49-F238E27FC236}">
                <a16:creationId xmlns:a16="http://schemas.microsoft.com/office/drawing/2014/main" id="{B2813877-2572-4CE4-8A3D-62D0ADB159DA}"/>
              </a:ext>
            </a:extLst>
          </p:cNvPr>
          <p:cNvSpPr>
            <a:spLocks xmlns:a="http://schemas.openxmlformats.org/drawingml/2006/main" noGrp="1"/>
          </p:cNvSpPr>
          <p:nvPr/>
        </p:nvSpPr>
        <p:spPr>
          <a:xfrm xmlns:a="http://schemas.openxmlformats.org/drawingml/2006/main">
            <a:off x="7381875" y="5219700"/>
            <a:ext cx="3857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0">
                <a:solidFill>
                  <a:srgbClr val="667482"/>
                </a:solidFill>
              </a:defRPr>
            </a:pPr>
            <a:r>
              <a:rPr sz="1125" b="0">
                <a:solidFill>
                  <a:srgbClr val="667482"/>
                </a:solidFill>
              </a:rPr>
              <a:t>Counts reconcile to inspectable source events</a:t>
            </a:r>
          </a:p>
        </p:txBody>
      </p:sp>
      <p:sp>
        <p:nvSpPr>
          <p:cNvPr id="13" name="">
            <a:extLst xmlns:a="http://schemas.openxmlformats.org/drawingml/2006/main">
              <a:ext uri="{FF2B5EF4-FFF2-40B4-BE49-F238E27FC236}">
                <a16:creationId xmlns:a16="http://schemas.microsoft.com/office/drawing/2014/main" id="{BFD9B7E4-BEAD-41CE-B6AB-05BC66725479}"/>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STUDYCREW  |  ELEC3609/9609  |  GROUP 02</a:t>
            </a:r>
          </a:p>
        </p:txBody>
      </p:sp>
      <p:sp>
        <p:nvSpPr>
          <p:cNvPr id="14" name="">
            <a:extLst xmlns:a="http://schemas.openxmlformats.org/drawingml/2006/main">
              <a:ext uri="{FF2B5EF4-FFF2-40B4-BE49-F238E27FC236}">
                <a16:creationId xmlns:a16="http://schemas.microsoft.com/office/drawing/2014/main" id="{AE3F6730-AF8D-4700-8654-B3E03084E4E8}"/>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04</a:t>
            </a:r>
          </a:p>
        </p:txBody>
      </p:sp>
    </p:spTree>
    <p:extLst>
      <p:ext uri="{BB962C8B-B14F-4D97-AF65-F5344CB8AC3E}">
        <p14:creationId xmlns:p14="http://schemas.microsoft.com/office/powerpoint/2010/main" val="1714771475"/>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E33DF86-AF3C-431E-AAF9-BA8A1B39AF7B}"/>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04 / TRUST</a:t>
            </a:r>
          </a:p>
        </p:txBody>
      </p:sp>
      <p:sp>
        <p:nvSpPr>
          <p:cNvPr id="2" name="">
            <a:extLst xmlns:a="http://schemas.openxmlformats.org/drawingml/2006/main">
              <a:ext uri="{FF2B5EF4-FFF2-40B4-BE49-F238E27FC236}">
                <a16:creationId xmlns:a16="http://schemas.microsoft.com/office/drawing/2014/main" id="{13DE60CA-0F8D-41E3-9A3A-4269719EAEC8}"/>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850" b="1">
                <a:solidFill>
                  <a:srgbClr val="12263A"/>
                </a:solidFill>
              </a:defRPr>
            </a:pPr>
            <a:r>
              <a:rPr sz="2850" b="1">
                <a:solidFill>
                  <a:srgbClr val="12263A"/>
                </a:solidFill>
              </a:rPr>
              <a:t>The data model makes the promise enforceable.</a:t>
            </a:r>
          </a:p>
        </p:txBody>
      </p:sp>
      <p:sp>
        <p:nvSpPr>
          <p:cNvPr id="3" name="">
            <a:extLst xmlns:a="http://schemas.openxmlformats.org/drawingml/2006/main">
              <a:ext uri="{FF2B5EF4-FFF2-40B4-BE49-F238E27FC236}">
                <a16:creationId xmlns:a16="http://schemas.microsoft.com/office/drawing/2014/main" id="{EA6980B1-4FBF-4B8C-AFA4-C8565108B3E7}"/>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0C76D6-41B0-493B-8F14-E57139F0B10F}"/>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482"/>
                </a:solidFill>
              </a:defRPr>
            </a:pPr>
            <a:r>
              <a:rPr sz="1275" b="0">
                <a:solidFill>
                  <a:srgbClr val="667482"/>
                </a:solidFill>
              </a:rPr>
              <a:t>Normalised relationships, explicit constraints and a project access boundary.</a:t>
            </a:r>
          </a:p>
        </p:txBody>
      </p:sp>
      <p:sp>
        <p:nvSpPr>
          <p:cNvPr id="5" name="">
            <a:extLst xmlns:a="http://schemas.openxmlformats.org/drawingml/2006/main">
              <a:ext uri="{FF2B5EF4-FFF2-40B4-BE49-F238E27FC236}">
                <a16:creationId xmlns:a16="http://schemas.microsoft.com/office/drawing/2014/main" id="{11CE8003-60F8-47B8-BD3D-D3DF52905045}"/>
              </a:ext>
            </a:extLst>
          </p:cNvPr>
          <p:cNvSpPr>
            <a:spLocks xmlns:a="http://schemas.openxmlformats.org/drawingml/2006/main" noGrp="1"/>
          </p:cNvSpPr>
          <p:nvPr/>
        </p:nvSpPr>
        <p:spPr>
          <a:xfrm xmlns:a="http://schemas.openxmlformats.org/drawingml/2006/main">
            <a:off x="552450" y="2152650"/>
            <a:ext cx="194310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4DD47A2F-517A-4FFA-B1BF-E5463E6FBD4F}"/>
              </a:ext>
            </a:extLst>
          </p:cNvPr>
          <p:cNvSpPr>
            <a:spLocks xmlns:a="http://schemas.openxmlformats.org/drawingml/2006/main" noGrp="1"/>
          </p:cNvSpPr>
          <p:nvPr/>
        </p:nvSpPr>
        <p:spPr>
          <a:xfrm xmlns:a="http://schemas.openxmlformats.org/drawingml/2006/main">
            <a:off x="781050" y="2305050"/>
            <a:ext cx="81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000" b="1">
                <a:solidFill>
                  <a:srgbClr val="2774C7"/>
                </a:solidFill>
              </a:defRPr>
            </a:pPr>
            <a:r>
              <a:rPr sz="3000" b="1">
                <a:solidFill>
                  <a:srgbClr val="2774C7"/>
                </a:solidFill>
              </a:rPr>
              <a:t>13</a:t>
            </a:r>
          </a:p>
        </p:txBody>
      </p:sp>
      <p:sp>
        <p:nvSpPr>
          <p:cNvPr id="7" name="">
            <a:extLst xmlns:a="http://schemas.openxmlformats.org/drawingml/2006/main">
              <a:ext uri="{FF2B5EF4-FFF2-40B4-BE49-F238E27FC236}">
                <a16:creationId xmlns:a16="http://schemas.microsoft.com/office/drawing/2014/main" id="{09E1171D-1AFF-4C6E-9B8F-1A3CAED601DF}"/>
              </a:ext>
            </a:extLst>
          </p:cNvPr>
          <p:cNvSpPr>
            <a:spLocks xmlns:a="http://schemas.openxmlformats.org/drawingml/2006/main" noGrp="1"/>
          </p:cNvSpPr>
          <p:nvPr/>
        </p:nvSpPr>
        <p:spPr>
          <a:xfrm xmlns:a="http://schemas.openxmlformats.org/drawingml/2006/main">
            <a:off x="781050" y="2847975"/>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0">
                <a:solidFill>
                  <a:srgbClr val="667482"/>
                </a:solidFill>
              </a:defRPr>
            </a:pPr>
            <a:r>
              <a:rPr sz="1050" b="0">
                <a:solidFill>
                  <a:srgbClr val="667482"/>
                </a:solidFill>
              </a:rPr>
              <a:t>normalised tables</a:t>
            </a:r>
          </a:p>
        </p:txBody>
      </p:sp>
      <p:sp>
        <p:nvSpPr>
          <p:cNvPr id="8" name="">
            <a:extLst xmlns:a="http://schemas.openxmlformats.org/drawingml/2006/main">
              <a:ext uri="{FF2B5EF4-FFF2-40B4-BE49-F238E27FC236}">
                <a16:creationId xmlns:a16="http://schemas.microsoft.com/office/drawing/2014/main" id="{C1BD1802-9842-4BBE-A3CB-E047A0F63641}"/>
              </a:ext>
            </a:extLst>
          </p:cNvPr>
          <p:cNvSpPr>
            <a:spLocks xmlns:a="http://schemas.openxmlformats.org/drawingml/2006/main" noGrp="1"/>
          </p:cNvSpPr>
          <p:nvPr/>
        </p:nvSpPr>
        <p:spPr>
          <a:xfrm xmlns:a="http://schemas.openxmlformats.org/drawingml/2006/main">
            <a:off x="2724150" y="2152650"/>
            <a:ext cx="194310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CBD5DF"/>
            </a:solidFill>
            <a:prstDash val="solid"/>
          </a:ln>
        </p:spPr>
      </p:sp>
      <p:sp>
        <p:nvSpPr>
          <p:cNvPr id="9" name="">
            <a:extLst xmlns:a="http://schemas.openxmlformats.org/drawingml/2006/main">
              <a:ext uri="{FF2B5EF4-FFF2-40B4-BE49-F238E27FC236}">
                <a16:creationId xmlns:a16="http://schemas.microsoft.com/office/drawing/2014/main" id="{849690F9-E634-4640-834D-8E40D7457CF3}"/>
              </a:ext>
            </a:extLst>
          </p:cNvPr>
          <p:cNvSpPr>
            <a:spLocks xmlns:a="http://schemas.openxmlformats.org/drawingml/2006/main" noGrp="1"/>
          </p:cNvSpPr>
          <p:nvPr/>
        </p:nvSpPr>
        <p:spPr>
          <a:xfrm xmlns:a="http://schemas.openxmlformats.org/drawingml/2006/main">
            <a:off x="2952750" y="2305050"/>
            <a:ext cx="81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000" b="1">
                <a:solidFill>
                  <a:srgbClr val="2774C7"/>
                </a:solidFill>
              </a:defRPr>
            </a:pPr>
            <a:r>
              <a:rPr sz="3000" b="1">
                <a:solidFill>
                  <a:srgbClr val="2774C7"/>
                </a:solidFill>
              </a:rPr>
              <a:t>18</a:t>
            </a:r>
          </a:p>
        </p:txBody>
      </p:sp>
      <p:sp>
        <p:nvSpPr>
          <p:cNvPr id="10" name="">
            <a:extLst xmlns:a="http://schemas.openxmlformats.org/drawingml/2006/main">
              <a:ext uri="{FF2B5EF4-FFF2-40B4-BE49-F238E27FC236}">
                <a16:creationId xmlns:a16="http://schemas.microsoft.com/office/drawing/2014/main" id="{C40D18B9-F778-46AA-8B58-45AE04E242E7}"/>
              </a:ext>
            </a:extLst>
          </p:cNvPr>
          <p:cNvSpPr>
            <a:spLocks xmlns:a="http://schemas.openxmlformats.org/drawingml/2006/main" noGrp="1"/>
          </p:cNvSpPr>
          <p:nvPr/>
        </p:nvSpPr>
        <p:spPr>
          <a:xfrm xmlns:a="http://schemas.openxmlformats.org/drawingml/2006/main">
            <a:off x="2952750" y="2847975"/>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0">
                <a:solidFill>
                  <a:srgbClr val="667482"/>
                </a:solidFill>
              </a:defRPr>
            </a:pPr>
            <a:r>
              <a:rPr sz="1050" b="0">
                <a:solidFill>
                  <a:srgbClr val="667482"/>
                </a:solidFill>
              </a:rPr>
              <a:t>traceable requirements</a:t>
            </a:r>
          </a:p>
        </p:txBody>
      </p:sp>
      <p:sp>
        <p:nvSpPr>
          <p:cNvPr id="11" name="">
            <a:extLst xmlns:a="http://schemas.openxmlformats.org/drawingml/2006/main">
              <a:ext uri="{FF2B5EF4-FFF2-40B4-BE49-F238E27FC236}">
                <a16:creationId xmlns:a16="http://schemas.microsoft.com/office/drawing/2014/main" id="{FC9D3A31-DC52-4CD5-BE1C-0FDDD83100ED}"/>
              </a:ext>
            </a:extLst>
          </p:cNvPr>
          <p:cNvSpPr>
            <a:spLocks xmlns:a="http://schemas.openxmlformats.org/drawingml/2006/main" noGrp="1"/>
          </p:cNvSpPr>
          <p:nvPr/>
        </p:nvSpPr>
        <p:spPr>
          <a:xfrm xmlns:a="http://schemas.openxmlformats.org/drawingml/2006/main">
            <a:off x="4895850" y="2152650"/>
            <a:ext cx="194310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CBD5DF"/>
            </a:solidFill>
            <a:prstDash val="solid"/>
          </a:ln>
        </p:spPr>
      </p:sp>
      <p:sp>
        <p:nvSpPr>
          <p:cNvPr id="12" name="">
            <a:extLst xmlns:a="http://schemas.openxmlformats.org/drawingml/2006/main">
              <a:ext uri="{FF2B5EF4-FFF2-40B4-BE49-F238E27FC236}">
                <a16:creationId xmlns:a16="http://schemas.microsoft.com/office/drawing/2014/main" id="{E3CC7242-D2CC-4232-9CBB-9C13FC8CA5DD}"/>
              </a:ext>
            </a:extLst>
          </p:cNvPr>
          <p:cNvSpPr>
            <a:spLocks xmlns:a="http://schemas.openxmlformats.org/drawingml/2006/main" noGrp="1"/>
          </p:cNvSpPr>
          <p:nvPr/>
        </p:nvSpPr>
        <p:spPr>
          <a:xfrm xmlns:a="http://schemas.openxmlformats.org/drawingml/2006/main">
            <a:off x="5124450" y="2305050"/>
            <a:ext cx="81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000" b="1">
                <a:solidFill>
                  <a:srgbClr val="2774C7"/>
                </a:solidFill>
              </a:defRPr>
            </a:pPr>
            <a:r>
              <a:rPr sz="3000" b="1">
                <a:solidFill>
                  <a:srgbClr val="2774C7"/>
                </a:solidFill>
              </a:rPr>
              <a:t>11</a:t>
            </a:r>
          </a:p>
        </p:txBody>
      </p:sp>
      <p:sp>
        <p:nvSpPr>
          <p:cNvPr id="13" name="">
            <a:extLst xmlns:a="http://schemas.openxmlformats.org/drawingml/2006/main">
              <a:ext uri="{FF2B5EF4-FFF2-40B4-BE49-F238E27FC236}">
                <a16:creationId xmlns:a16="http://schemas.microsoft.com/office/drawing/2014/main" id="{E0DEFFE5-F655-4891-BF09-94ECE071A05A}"/>
              </a:ext>
            </a:extLst>
          </p:cNvPr>
          <p:cNvSpPr>
            <a:spLocks xmlns:a="http://schemas.openxmlformats.org/drawingml/2006/main" noGrp="1"/>
          </p:cNvSpPr>
          <p:nvPr/>
        </p:nvSpPr>
        <p:spPr>
          <a:xfrm xmlns:a="http://schemas.openxmlformats.org/drawingml/2006/main">
            <a:off x="5124450" y="2847975"/>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0">
                <a:solidFill>
                  <a:srgbClr val="667482"/>
                </a:solidFill>
              </a:defRPr>
            </a:pPr>
            <a:r>
              <a:rPr sz="1050" b="0">
                <a:solidFill>
                  <a:srgbClr val="667482"/>
                </a:solidFill>
              </a:rPr>
              <a:t>generic views</a:t>
            </a:r>
          </a:p>
        </p:txBody>
      </p:sp>
      <p:sp>
        <p:nvSpPr>
          <p:cNvPr id="14" name="">
            <a:extLst xmlns:a="http://schemas.openxmlformats.org/drawingml/2006/main">
              <a:ext uri="{FF2B5EF4-FFF2-40B4-BE49-F238E27FC236}">
                <a16:creationId xmlns:a16="http://schemas.microsoft.com/office/drawing/2014/main" id="{456425F9-31D7-4C86-AC36-82B5A584358A}"/>
              </a:ext>
            </a:extLst>
          </p:cNvPr>
          <p:cNvSpPr>
            <a:spLocks xmlns:a="http://schemas.openxmlformats.org/drawingml/2006/main" noGrp="1"/>
          </p:cNvSpPr>
          <p:nvPr/>
        </p:nvSpPr>
        <p:spPr>
          <a:xfrm xmlns:a="http://schemas.openxmlformats.org/drawingml/2006/main">
            <a:off x="7239000" y="2152650"/>
            <a:ext cx="4400550" cy="2743200"/>
          </a:xfrm>
          <a:prstGeom xmlns:a="http://schemas.openxmlformats.org/drawingml/2006/main" prst="roundRect">
            <a:avLst>
              <a:gd name="adj" fmla="val 6250"/>
            </a:avLst>
          </a:prstGeom>
          <a:solidFill xmlns:a="http://schemas.openxmlformats.org/drawingml/2006/main">
            <a:srgbClr val="12263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FFCA451-2DCD-46AB-9877-A0F877692283}"/>
              </a:ext>
            </a:extLst>
          </p:cNvPr>
          <p:cNvSpPr>
            <a:spLocks xmlns:a="http://schemas.openxmlformats.org/drawingml/2006/main" noGrp="1"/>
          </p:cNvSpPr>
          <p:nvPr/>
        </p:nvSpPr>
        <p:spPr>
          <a:xfrm xmlns:a="http://schemas.openxmlformats.org/drawingml/2006/main">
            <a:off x="7524750" y="24193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BFE2D4"/>
                </a:solidFill>
              </a:defRPr>
            </a:pPr>
            <a:r>
              <a:rPr sz="1125" b="1">
                <a:solidFill>
                  <a:srgbClr val="BFE2D4"/>
                </a:solidFill>
              </a:rPr>
              <a:t>REQUIRED CARDINALITIES</a:t>
            </a:r>
          </a:p>
        </p:txBody>
      </p:sp>
      <p:sp>
        <p:nvSpPr>
          <p:cNvPr id="16" name="">
            <a:extLst xmlns:a="http://schemas.openxmlformats.org/drawingml/2006/main">
              <a:ext uri="{FF2B5EF4-FFF2-40B4-BE49-F238E27FC236}">
                <a16:creationId xmlns:a16="http://schemas.microsoft.com/office/drawing/2014/main" id="{757B0C2A-ED09-4478-AEF5-6123CC928B27}"/>
              </a:ext>
            </a:extLst>
          </p:cNvPr>
          <p:cNvSpPr>
            <a:spLocks xmlns:a="http://schemas.openxmlformats.org/drawingml/2006/main" noGrp="1"/>
          </p:cNvSpPr>
          <p:nvPr/>
        </p:nvSpPr>
        <p:spPr>
          <a:xfrm xmlns:a="http://schemas.openxmlformats.org/drawingml/2006/main">
            <a:off x="7524750" y="29527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1">
                <a:solidFill>
                  <a:srgbClr val="FFFFFF"/>
                </a:solidFill>
              </a:defRPr>
            </a:pPr>
            <a:r>
              <a:rPr sz="1725" b="1">
                <a:solidFill>
                  <a:srgbClr val="FFFFFF"/>
                </a:solidFill>
              </a:rPr>
              <a:t>users  1 : 1  profiles</a:t>
            </a:r>
          </a:p>
        </p:txBody>
      </p:sp>
      <p:sp>
        <p:nvSpPr>
          <p:cNvPr id="17" name="">
            <a:extLst xmlns:a="http://schemas.openxmlformats.org/drawingml/2006/main">
              <a:ext uri="{FF2B5EF4-FFF2-40B4-BE49-F238E27FC236}">
                <a16:creationId xmlns:a16="http://schemas.microsoft.com/office/drawing/2014/main" id="{64A37891-5993-4D03-B3E9-231EE710C79B}"/>
              </a:ext>
            </a:extLst>
          </p:cNvPr>
          <p:cNvSpPr>
            <a:spLocks xmlns:a="http://schemas.openxmlformats.org/drawingml/2006/main" noGrp="1"/>
          </p:cNvSpPr>
          <p:nvPr/>
        </p:nvSpPr>
        <p:spPr>
          <a:xfrm xmlns:a="http://schemas.openxmlformats.org/drawingml/2006/main">
            <a:off x="7524750" y="354330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1">
                <a:solidFill>
                  <a:srgbClr val="FFFFFF"/>
                </a:solidFill>
              </a:defRPr>
            </a:pPr>
            <a:r>
              <a:rPr sz="1725" b="1">
                <a:solidFill>
                  <a:srgbClr val="FFFFFF"/>
                </a:solidFill>
              </a:rPr>
              <a:t>projects  1 : N  tasks</a:t>
            </a:r>
          </a:p>
        </p:txBody>
      </p:sp>
      <p:sp>
        <p:nvSpPr>
          <p:cNvPr id="18" name="">
            <a:extLst xmlns:a="http://schemas.openxmlformats.org/drawingml/2006/main">
              <a:ext uri="{FF2B5EF4-FFF2-40B4-BE49-F238E27FC236}">
                <a16:creationId xmlns:a16="http://schemas.microsoft.com/office/drawing/2014/main" id="{1A24EC7A-B806-499E-B4DA-CF40E30644D2}"/>
              </a:ext>
            </a:extLst>
          </p:cNvPr>
          <p:cNvSpPr>
            <a:spLocks xmlns:a="http://schemas.openxmlformats.org/drawingml/2006/main" noGrp="1"/>
          </p:cNvSpPr>
          <p:nvPr/>
        </p:nvSpPr>
        <p:spPr>
          <a:xfrm xmlns:a="http://schemas.openxmlformats.org/drawingml/2006/main">
            <a:off x="7524750" y="41338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b="1">
                <a:solidFill>
                  <a:srgbClr val="FFFFFF"/>
                </a:solidFill>
              </a:defRPr>
            </a:pPr>
            <a:r>
              <a:rPr sz="1725" b="1">
                <a:solidFill>
                  <a:srgbClr val="FFFFFF"/>
                </a:solidFill>
              </a:rPr>
              <a:t>tasks  M : N  users</a:t>
            </a:r>
          </a:p>
        </p:txBody>
      </p:sp>
      <p:sp>
        <p:nvSpPr>
          <p:cNvPr id="19" name="">
            <a:extLst xmlns:a="http://schemas.openxmlformats.org/drawingml/2006/main">
              <a:ext uri="{FF2B5EF4-FFF2-40B4-BE49-F238E27FC236}">
                <a16:creationId xmlns:a16="http://schemas.microsoft.com/office/drawing/2014/main" id="{74FC6F8B-DA09-437F-9D3C-E55B1268C654}"/>
              </a:ext>
            </a:extLst>
          </p:cNvPr>
          <p:cNvSpPr>
            <a:spLocks xmlns:a="http://schemas.openxmlformats.org/drawingml/2006/main" noGrp="1"/>
          </p:cNvSpPr>
          <p:nvPr/>
        </p:nvSpPr>
        <p:spPr>
          <a:xfrm xmlns:a="http://schemas.openxmlformats.org/drawingml/2006/main">
            <a:off x="552450" y="3619500"/>
            <a:ext cx="6286500" cy="1276350"/>
          </a:xfrm>
          <a:prstGeom xmlns:a="http://schemas.openxmlformats.org/drawingml/2006/main" prst="roundRect">
            <a:avLst>
              <a:gd name="adj" fmla="val 11940"/>
            </a:avLst>
          </a:prstGeom>
          <a:solidFill xmlns:a="http://schemas.openxmlformats.org/drawingml/2006/main">
            <a:srgbClr val="EAF2F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391451-ECB7-4D03-A835-CA85FDA843A5}"/>
              </a:ext>
            </a:extLst>
          </p:cNvPr>
          <p:cNvSpPr>
            <a:spLocks xmlns:a="http://schemas.openxmlformats.org/drawingml/2006/main" noGrp="1"/>
          </p:cNvSpPr>
          <p:nvPr/>
        </p:nvSpPr>
        <p:spPr>
          <a:xfrm xmlns:a="http://schemas.openxmlformats.org/drawingml/2006/main">
            <a:off x="819150" y="38481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SECURITY BOUNDARY</a:t>
            </a:r>
          </a:p>
        </p:txBody>
      </p:sp>
      <p:sp>
        <p:nvSpPr>
          <p:cNvPr id="21" name="">
            <a:extLst xmlns:a="http://schemas.openxmlformats.org/drawingml/2006/main">
              <a:ext uri="{FF2B5EF4-FFF2-40B4-BE49-F238E27FC236}">
                <a16:creationId xmlns:a16="http://schemas.microsoft.com/office/drawing/2014/main" id="{93510D59-F81F-43CA-8BB3-BF464BE3DA7E}"/>
              </a:ext>
            </a:extLst>
          </p:cNvPr>
          <p:cNvSpPr>
            <a:spLocks xmlns:a="http://schemas.openxmlformats.org/drawingml/2006/main" noGrp="1"/>
          </p:cNvSpPr>
          <p:nvPr/>
        </p:nvSpPr>
        <p:spPr>
          <a:xfrm xmlns:a="http://schemas.openxmlformats.org/drawingml/2006/main">
            <a:off x="819150" y="4229100"/>
            <a:ext cx="5600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0">
                <a:solidFill>
                  <a:srgbClr val="12263A"/>
                </a:solidFill>
              </a:defRPr>
            </a:pPr>
            <a:r>
              <a:rPr sz="1350" b="0">
                <a:solidFill>
                  <a:srgbClr val="12263A"/>
                </a:solidFill>
              </a:rPr>
              <a:t>Every protected request validates the session, current project membership and role before reading or changing data.</a:t>
            </a:r>
          </a:p>
        </p:txBody>
      </p:sp>
      <p:sp>
        <p:nvSpPr>
          <p:cNvPr id="22" name="">
            <a:extLst xmlns:a="http://schemas.openxmlformats.org/drawingml/2006/main">
              <a:ext uri="{FF2B5EF4-FFF2-40B4-BE49-F238E27FC236}">
                <a16:creationId xmlns:a16="http://schemas.microsoft.com/office/drawing/2014/main" id="{8654AD0B-414A-4AED-951B-27453F0DE167}"/>
              </a:ext>
            </a:extLst>
          </p:cNvPr>
          <p:cNvSpPr>
            <a:spLocks xmlns:a="http://schemas.openxmlformats.org/drawingml/2006/main" noGrp="1"/>
          </p:cNvSpPr>
          <p:nvPr/>
        </p:nvSpPr>
        <p:spPr>
          <a:xfrm xmlns:a="http://schemas.openxmlformats.org/drawingml/2006/main">
            <a:off x="552450" y="5219700"/>
            <a:ext cx="11087100" cy="704850"/>
          </a:xfrm>
          <a:prstGeom xmlns:a="http://schemas.openxmlformats.org/drawingml/2006/main" prst="roundRect">
            <a:avLst>
              <a:gd name="adj" fmla="val 18919"/>
            </a:avLst>
          </a:prstGeom>
          <a:solidFill xmlns:a="http://schemas.openxmlformats.org/drawingml/2006/main">
            <a:srgbClr val="FFFFFF"/>
          </a:solidFill>
          <a:ln xmlns:a="http://schemas.openxmlformats.org/drawingml/2006/main" w="9525">
            <a:solidFill>
              <a:srgbClr val="CBD5DF"/>
            </a:solidFill>
            <a:prstDash val="solid"/>
          </a:ln>
        </p:spPr>
      </p:sp>
      <p:sp>
        <p:nvSpPr>
          <p:cNvPr id="23" name="">
            <a:extLst xmlns:a="http://schemas.openxmlformats.org/drawingml/2006/main">
              <a:ext uri="{FF2B5EF4-FFF2-40B4-BE49-F238E27FC236}">
                <a16:creationId xmlns:a16="http://schemas.microsoft.com/office/drawing/2014/main" id="{D299CB6D-5119-4522-9167-3D3159C97981}"/>
              </a:ext>
            </a:extLst>
          </p:cNvPr>
          <p:cNvSpPr>
            <a:spLocks xmlns:a="http://schemas.openxmlformats.org/drawingml/2006/main" noGrp="1"/>
          </p:cNvSpPr>
          <p:nvPr/>
        </p:nvSpPr>
        <p:spPr>
          <a:xfrm xmlns:a="http://schemas.openxmlformats.org/drawingml/2006/main">
            <a:off x="800100" y="54483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1">
                <a:solidFill>
                  <a:srgbClr val="E96B4B"/>
                </a:solidFill>
              </a:defRPr>
            </a:pPr>
            <a:r>
              <a:rPr sz="1050" b="1">
                <a:solidFill>
                  <a:srgbClr val="E96B4B"/>
                </a:solidFill>
              </a:rPr>
              <a:t>BUILD STACK</a:t>
            </a:r>
          </a:p>
        </p:txBody>
      </p:sp>
      <p:sp>
        <p:nvSpPr>
          <p:cNvPr id="24" name="">
            <a:extLst xmlns:a="http://schemas.openxmlformats.org/drawingml/2006/main">
              <a:ext uri="{FF2B5EF4-FFF2-40B4-BE49-F238E27FC236}">
                <a16:creationId xmlns:a16="http://schemas.microsoft.com/office/drawing/2014/main" id="{8A12F390-44C3-4261-85D8-F02FCEA2DA3F}"/>
              </a:ext>
            </a:extLst>
          </p:cNvPr>
          <p:cNvSpPr>
            <a:spLocks xmlns:a="http://schemas.openxmlformats.org/drawingml/2006/main" noGrp="1"/>
          </p:cNvSpPr>
          <p:nvPr/>
        </p:nvSpPr>
        <p:spPr>
          <a:xfrm xmlns:a="http://schemas.openxmlformats.org/drawingml/2006/main">
            <a:off x="2247900" y="5429250"/>
            <a:ext cx="885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2263A"/>
                </a:solidFill>
              </a:defRPr>
            </a:pPr>
            <a:r>
              <a:rPr sz="1275" b="1">
                <a:solidFill>
                  <a:srgbClr val="12263A"/>
                </a:solidFill>
              </a:rPr>
              <a:t>React  ·  Express  ·  PostgreSQL + Prisma  ·  Vitest + Playwright  ·  Docker + GitHub Actions</a:t>
            </a:r>
          </a:p>
        </p:txBody>
      </p:sp>
      <p:sp>
        <p:nvSpPr>
          <p:cNvPr id="25" name="">
            <a:extLst xmlns:a="http://schemas.openxmlformats.org/drawingml/2006/main">
              <a:ext uri="{FF2B5EF4-FFF2-40B4-BE49-F238E27FC236}">
                <a16:creationId xmlns:a16="http://schemas.microsoft.com/office/drawing/2014/main" id="{392D60F0-095D-45AB-9E13-AF3104562458}"/>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STUDYCREW  |  ELEC3609/9609  |  GROUP 02</a:t>
            </a:r>
          </a:p>
        </p:txBody>
      </p:sp>
      <p:sp>
        <p:nvSpPr>
          <p:cNvPr id="26" name="">
            <a:extLst xmlns:a="http://schemas.openxmlformats.org/drawingml/2006/main">
              <a:ext uri="{FF2B5EF4-FFF2-40B4-BE49-F238E27FC236}">
                <a16:creationId xmlns:a16="http://schemas.microsoft.com/office/drawing/2014/main" id="{04C44A13-0935-489F-92DD-F397EA72BD99}"/>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05</a:t>
            </a:r>
          </a:p>
        </p:txBody>
      </p:sp>
    </p:spTree>
    <p:extLst>
      <p:ext uri="{BB962C8B-B14F-4D97-AF65-F5344CB8AC3E}">
        <p14:creationId xmlns:p14="http://schemas.microsoft.com/office/powerpoint/2010/main" val="183137403"/>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18663A0-7734-4764-90DB-CC87B689F3DC}"/>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2774C7"/>
                </a:solidFill>
              </a:defRPr>
            </a:pPr>
            <a:r>
              <a:rPr sz="1125" b="1">
                <a:solidFill>
                  <a:srgbClr val="2774C7"/>
                </a:solidFill>
              </a:rPr>
              <a:t>05 / DELIVERY</a:t>
            </a:r>
          </a:p>
        </p:txBody>
      </p:sp>
      <p:sp>
        <p:nvSpPr>
          <p:cNvPr id="2" name="">
            <a:extLst xmlns:a="http://schemas.openxmlformats.org/drawingml/2006/main">
              <a:ext uri="{FF2B5EF4-FFF2-40B4-BE49-F238E27FC236}">
                <a16:creationId xmlns:a16="http://schemas.microsoft.com/office/drawing/2014/main" id="{733235E8-A1D1-44DB-82DB-AC844A02204F}"/>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2263A"/>
                </a:solidFill>
              </a:defRPr>
            </a:pPr>
            <a:r>
              <a:rPr sz="3150" b="1">
                <a:solidFill>
                  <a:srgbClr val="12263A"/>
                </a:solidFill>
              </a:rPr>
              <a:t>Freeze the MVP. Deliver tested vertical slices.</a:t>
            </a:r>
          </a:p>
        </p:txBody>
      </p:sp>
      <p:sp>
        <p:nvSpPr>
          <p:cNvPr id="3" name="">
            <a:extLst xmlns:a="http://schemas.openxmlformats.org/drawingml/2006/main">
              <a:ext uri="{FF2B5EF4-FFF2-40B4-BE49-F238E27FC236}">
                <a16:creationId xmlns:a16="http://schemas.microsoft.com/office/drawing/2014/main" id="{90349687-4EA4-4B81-A341-BB102662282C}"/>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4258612-C83F-4424-93AC-A7DC5B8A3BF8}"/>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482"/>
                </a:solidFill>
              </a:defRPr>
            </a:pPr>
            <a:r>
              <a:rPr sz="1275" b="0">
                <a:solidFill>
                  <a:srgbClr val="667482"/>
                </a:solidFill>
              </a:rPr>
              <a:t>Weeks 5-12, with search and export held behind the core quality gates.</a:t>
            </a:r>
          </a:p>
        </p:txBody>
      </p:sp>
      <p:sp>
        <p:nvSpPr>
          <p:cNvPr id="5" name="">
            <a:extLst xmlns:a="http://schemas.openxmlformats.org/drawingml/2006/main">
              <a:ext uri="{FF2B5EF4-FFF2-40B4-BE49-F238E27FC236}">
                <a16:creationId xmlns:a16="http://schemas.microsoft.com/office/drawing/2014/main" id="{E027BA91-0DE2-40F7-925A-C854802C3EF4}"/>
              </a:ext>
            </a:extLst>
          </p:cNvPr>
          <p:cNvSpPr>
            <a:spLocks xmlns:a="http://schemas.openxmlformats.org/drawingml/2006/main" noGrp="1"/>
          </p:cNvSpPr>
          <p:nvPr/>
        </p:nvSpPr>
        <p:spPr>
          <a:xfrm xmlns:a="http://schemas.openxmlformats.org/drawingml/2006/main">
            <a:off x="32956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W5</a:t>
            </a:r>
          </a:p>
        </p:txBody>
      </p:sp>
      <p:sp>
        <p:nvSpPr>
          <p:cNvPr id="6" name="">
            <a:extLst xmlns:a="http://schemas.openxmlformats.org/drawingml/2006/main">
              <a:ext uri="{FF2B5EF4-FFF2-40B4-BE49-F238E27FC236}">
                <a16:creationId xmlns:a16="http://schemas.microsoft.com/office/drawing/2014/main" id="{9524697F-244B-45F1-B405-5A7C3F431DEE}"/>
              </a:ext>
            </a:extLst>
          </p:cNvPr>
          <p:cNvSpPr>
            <a:spLocks xmlns:a="http://schemas.openxmlformats.org/drawingml/2006/main" noGrp="1"/>
          </p:cNvSpPr>
          <p:nvPr/>
        </p:nvSpPr>
        <p:spPr>
          <a:xfrm xmlns:a="http://schemas.openxmlformats.org/drawingml/2006/main">
            <a:off x="32956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2A35CC4-3F83-4C6C-B83A-816E44AA5547}"/>
              </a:ext>
            </a:extLst>
          </p:cNvPr>
          <p:cNvSpPr>
            <a:spLocks xmlns:a="http://schemas.openxmlformats.org/drawingml/2006/main" noGrp="1"/>
          </p:cNvSpPr>
          <p:nvPr/>
        </p:nvSpPr>
        <p:spPr>
          <a:xfrm xmlns:a="http://schemas.openxmlformats.org/drawingml/2006/main">
            <a:off x="42481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W6</a:t>
            </a:r>
          </a:p>
        </p:txBody>
      </p:sp>
      <p:sp>
        <p:nvSpPr>
          <p:cNvPr id="8" name="">
            <a:extLst xmlns:a="http://schemas.openxmlformats.org/drawingml/2006/main">
              <a:ext uri="{FF2B5EF4-FFF2-40B4-BE49-F238E27FC236}">
                <a16:creationId xmlns:a16="http://schemas.microsoft.com/office/drawing/2014/main" id="{98560EF9-1D69-4E44-B9A0-8CB6FF8C33F7}"/>
              </a:ext>
            </a:extLst>
          </p:cNvPr>
          <p:cNvSpPr>
            <a:spLocks xmlns:a="http://schemas.openxmlformats.org/drawingml/2006/main" noGrp="1"/>
          </p:cNvSpPr>
          <p:nvPr/>
        </p:nvSpPr>
        <p:spPr>
          <a:xfrm xmlns:a="http://schemas.openxmlformats.org/drawingml/2006/main">
            <a:off x="42481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E60A0F-2260-43D4-83AD-FC717D4037C0}"/>
              </a:ext>
            </a:extLst>
          </p:cNvPr>
          <p:cNvSpPr>
            <a:spLocks xmlns:a="http://schemas.openxmlformats.org/drawingml/2006/main" noGrp="1"/>
          </p:cNvSpPr>
          <p:nvPr/>
        </p:nvSpPr>
        <p:spPr>
          <a:xfrm xmlns:a="http://schemas.openxmlformats.org/drawingml/2006/main">
            <a:off x="52006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W7</a:t>
            </a:r>
          </a:p>
        </p:txBody>
      </p:sp>
      <p:sp>
        <p:nvSpPr>
          <p:cNvPr id="10" name="">
            <a:extLst xmlns:a="http://schemas.openxmlformats.org/drawingml/2006/main">
              <a:ext uri="{FF2B5EF4-FFF2-40B4-BE49-F238E27FC236}">
                <a16:creationId xmlns:a16="http://schemas.microsoft.com/office/drawing/2014/main" id="{9ECE5C4F-AAD8-47D8-8B45-3086054FBEA6}"/>
              </a:ext>
            </a:extLst>
          </p:cNvPr>
          <p:cNvSpPr>
            <a:spLocks xmlns:a="http://schemas.openxmlformats.org/drawingml/2006/main" noGrp="1"/>
          </p:cNvSpPr>
          <p:nvPr/>
        </p:nvSpPr>
        <p:spPr>
          <a:xfrm xmlns:a="http://schemas.openxmlformats.org/drawingml/2006/main">
            <a:off x="52006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8F47676-9037-4C44-B0E7-ECE626557E4B}"/>
              </a:ext>
            </a:extLst>
          </p:cNvPr>
          <p:cNvSpPr>
            <a:spLocks xmlns:a="http://schemas.openxmlformats.org/drawingml/2006/main" noGrp="1"/>
          </p:cNvSpPr>
          <p:nvPr/>
        </p:nvSpPr>
        <p:spPr>
          <a:xfrm xmlns:a="http://schemas.openxmlformats.org/drawingml/2006/main">
            <a:off x="61531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W8</a:t>
            </a:r>
          </a:p>
        </p:txBody>
      </p:sp>
      <p:sp>
        <p:nvSpPr>
          <p:cNvPr id="12" name="">
            <a:extLst xmlns:a="http://schemas.openxmlformats.org/drawingml/2006/main">
              <a:ext uri="{FF2B5EF4-FFF2-40B4-BE49-F238E27FC236}">
                <a16:creationId xmlns:a16="http://schemas.microsoft.com/office/drawing/2014/main" id="{D1869610-EA90-4ADA-AD37-4F99298E156A}"/>
              </a:ext>
            </a:extLst>
          </p:cNvPr>
          <p:cNvSpPr>
            <a:spLocks xmlns:a="http://schemas.openxmlformats.org/drawingml/2006/main" noGrp="1"/>
          </p:cNvSpPr>
          <p:nvPr/>
        </p:nvSpPr>
        <p:spPr>
          <a:xfrm xmlns:a="http://schemas.openxmlformats.org/drawingml/2006/main">
            <a:off x="61531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649D819-6CEC-40A4-B282-349239665F46}"/>
              </a:ext>
            </a:extLst>
          </p:cNvPr>
          <p:cNvSpPr>
            <a:spLocks xmlns:a="http://schemas.openxmlformats.org/drawingml/2006/main" noGrp="1"/>
          </p:cNvSpPr>
          <p:nvPr/>
        </p:nvSpPr>
        <p:spPr>
          <a:xfrm xmlns:a="http://schemas.openxmlformats.org/drawingml/2006/main">
            <a:off x="71056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W9</a:t>
            </a:r>
          </a:p>
        </p:txBody>
      </p:sp>
      <p:sp>
        <p:nvSpPr>
          <p:cNvPr id="14" name="">
            <a:extLst xmlns:a="http://schemas.openxmlformats.org/drawingml/2006/main">
              <a:ext uri="{FF2B5EF4-FFF2-40B4-BE49-F238E27FC236}">
                <a16:creationId xmlns:a16="http://schemas.microsoft.com/office/drawing/2014/main" id="{E96C7170-B3E4-4569-ABD8-9AECC72FF782}"/>
              </a:ext>
            </a:extLst>
          </p:cNvPr>
          <p:cNvSpPr>
            <a:spLocks xmlns:a="http://schemas.openxmlformats.org/drawingml/2006/main" noGrp="1"/>
          </p:cNvSpPr>
          <p:nvPr/>
        </p:nvSpPr>
        <p:spPr>
          <a:xfrm xmlns:a="http://schemas.openxmlformats.org/drawingml/2006/main">
            <a:off x="71056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C99B469-4A66-4C88-9E8E-29D5DCAAB432}"/>
              </a:ext>
            </a:extLst>
          </p:cNvPr>
          <p:cNvSpPr>
            <a:spLocks xmlns:a="http://schemas.openxmlformats.org/drawingml/2006/main" noGrp="1"/>
          </p:cNvSpPr>
          <p:nvPr/>
        </p:nvSpPr>
        <p:spPr>
          <a:xfrm xmlns:a="http://schemas.openxmlformats.org/drawingml/2006/main">
            <a:off x="80581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W10</a:t>
            </a:r>
          </a:p>
        </p:txBody>
      </p:sp>
      <p:sp>
        <p:nvSpPr>
          <p:cNvPr id="16" name="">
            <a:extLst xmlns:a="http://schemas.openxmlformats.org/drawingml/2006/main">
              <a:ext uri="{FF2B5EF4-FFF2-40B4-BE49-F238E27FC236}">
                <a16:creationId xmlns:a16="http://schemas.microsoft.com/office/drawing/2014/main" id="{9D4AE8FE-F0A3-4248-9078-472D67558BC5}"/>
              </a:ext>
            </a:extLst>
          </p:cNvPr>
          <p:cNvSpPr>
            <a:spLocks xmlns:a="http://schemas.openxmlformats.org/drawingml/2006/main" noGrp="1"/>
          </p:cNvSpPr>
          <p:nvPr/>
        </p:nvSpPr>
        <p:spPr>
          <a:xfrm xmlns:a="http://schemas.openxmlformats.org/drawingml/2006/main">
            <a:off x="80581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48DF74E-3A30-46BE-A3D9-7D05556BFB78}"/>
              </a:ext>
            </a:extLst>
          </p:cNvPr>
          <p:cNvSpPr>
            <a:spLocks xmlns:a="http://schemas.openxmlformats.org/drawingml/2006/main" noGrp="1"/>
          </p:cNvSpPr>
          <p:nvPr/>
        </p:nvSpPr>
        <p:spPr>
          <a:xfrm xmlns:a="http://schemas.openxmlformats.org/drawingml/2006/main">
            <a:off x="90106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W11</a:t>
            </a:r>
          </a:p>
        </p:txBody>
      </p:sp>
      <p:sp>
        <p:nvSpPr>
          <p:cNvPr id="18" name="">
            <a:extLst xmlns:a="http://schemas.openxmlformats.org/drawingml/2006/main">
              <a:ext uri="{FF2B5EF4-FFF2-40B4-BE49-F238E27FC236}">
                <a16:creationId xmlns:a16="http://schemas.microsoft.com/office/drawing/2014/main" id="{4AEFBA1C-FB1D-4AF1-B7F0-3E3484AA83D5}"/>
              </a:ext>
            </a:extLst>
          </p:cNvPr>
          <p:cNvSpPr>
            <a:spLocks xmlns:a="http://schemas.openxmlformats.org/drawingml/2006/main" noGrp="1"/>
          </p:cNvSpPr>
          <p:nvPr/>
        </p:nvSpPr>
        <p:spPr>
          <a:xfrm xmlns:a="http://schemas.openxmlformats.org/drawingml/2006/main">
            <a:off x="90106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B72FB7F-2527-43D8-89A7-DA7459B1143A}"/>
              </a:ext>
            </a:extLst>
          </p:cNvPr>
          <p:cNvSpPr>
            <a:spLocks xmlns:a="http://schemas.openxmlformats.org/drawingml/2006/main" noGrp="1"/>
          </p:cNvSpPr>
          <p:nvPr/>
        </p:nvSpPr>
        <p:spPr>
          <a:xfrm xmlns:a="http://schemas.openxmlformats.org/drawingml/2006/main">
            <a:off x="9963150" y="2571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75" b="1">
                <a:solidFill>
                  <a:srgbClr val="667482"/>
                </a:solidFill>
              </a:defRPr>
            </a:pPr>
            <a:r>
              <a:rPr sz="975" b="1">
                <a:solidFill>
                  <a:srgbClr val="667482"/>
                </a:solidFill>
              </a:rPr>
              <a:t>W12</a:t>
            </a:r>
          </a:p>
        </p:txBody>
      </p:sp>
      <p:sp>
        <p:nvSpPr>
          <p:cNvPr id="20" name="">
            <a:extLst xmlns:a="http://schemas.openxmlformats.org/drawingml/2006/main">
              <a:ext uri="{FF2B5EF4-FFF2-40B4-BE49-F238E27FC236}">
                <a16:creationId xmlns:a16="http://schemas.microsoft.com/office/drawing/2014/main" id="{28CA7E87-AD9B-4592-8983-93186D24FF61}"/>
              </a:ext>
            </a:extLst>
          </p:cNvPr>
          <p:cNvSpPr>
            <a:spLocks xmlns:a="http://schemas.openxmlformats.org/drawingml/2006/main" noGrp="1"/>
          </p:cNvSpPr>
          <p:nvPr/>
        </p:nvSpPr>
        <p:spPr>
          <a:xfrm xmlns:a="http://schemas.openxmlformats.org/drawingml/2006/main">
            <a:off x="9963150" y="2819400"/>
            <a:ext cx="9525" cy="205740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A72C716-AFF4-430C-B2AC-7D13117E8C71}"/>
              </a:ext>
            </a:extLst>
          </p:cNvPr>
          <p:cNvSpPr>
            <a:spLocks xmlns:a="http://schemas.openxmlformats.org/drawingml/2006/main" noGrp="1"/>
          </p:cNvSpPr>
          <p:nvPr/>
        </p:nvSpPr>
        <p:spPr>
          <a:xfrm xmlns:a="http://schemas.openxmlformats.org/drawingml/2006/main">
            <a:off x="552450" y="30289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2263A"/>
                </a:solidFill>
              </a:defRPr>
            </a:pPr>
            <a:r>
              <a:rPr sz="1275" b="1">
                <a:solidFill>
                  <a:srgbClr val="12263A"/>
                </a:solidFill>
              </a:rPr>
              <a:t>Validate + freeze</a:t>
            </a:r>
          </a:p>
        </p:txBody>
      </p:sp>
      <p:sp>
        <p:nvSpPr>
          <p:cNvPr id="22" name="">
            <a:extLst xmlns:a="http://schemas.openxmlformats.org/drawingml/2006/main">
              <a:ext uri="{FF2B5EF4-FFF2-40B4-BE49-F238E27FC236}">
                <a16:creationId xmlns:a16="http://schemas.microsoft.com/office/drawing/2014/main" id="{E113B143-2A8E-4130-8BBE-3542B99F70AA}"/>
              </a:ext>
            </a:extLst>
          </p:cNvPr>
          <p:cNvSpPr>
            <a:spLocks xmlns:a="http://schemas.openxmlformats.org/drawingml/2006/main" noGrp="1"/>
          </p:cNvSpPr>
          <p:nvPr/>
        </p:nvSpPr>
        <p:spPr>
          <a:xfrm xmlns:a="http://schemas.openxmlformats.org/drawingml/2006/main">
            <a:off x="3352800" y="2971800"/>
            <a:ext cx="819150" cy="323850"/>
          </a:xfrm>
          <a:prstGeom xmlns:a="http://schemas.openxmlformats.org/drawingml/2006/main" prst="roundRect">
            <a:avLst>
              <a:gd name="adj" fmla="val 38095"/>
            </a:avLst>
          </a:prstGeom>
          <a:solidFill xmlns:a="http://schemas.openxmlformats.org/drawingml/2006/main">
            <a:srgbClr val="E96B4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A52F02F-0D57-475B-ACBF-333809BB20D7}"/>
              </a:ext>
            </a:extLst>
          </p:cNvPr>
          <p:cNvSpPr>
            <a:spLocks xmlns:a="http://schemas.openxmlformats.org/drawingml/2006/main" noGrp="1"/>
          </p:cNvSpPr>
          <p:nvPr/>
        </p:nvSpPr>
        <p:spPr>
          <a:xfrm xmlns:a="http://schemas.openxmlformats.org/drawingml/2006/main">
            <a:off x="552450" y="3505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2263A"/>
                </a:solidFill>
              </a:defRPr>
            </a:pPr>
            <a:r>
              <a:rPr sz="1275" b="1">
                <a:solidFill>
                  <a:srgbClr val="12263A"/>
                </a:solidFill>
              </a:rPr>
              <a:t>Core vertical slices</a:t>
            </a:r>
          </a:p>
        </p:txBody>
      </p:sp>
      <p:sp>
        <p:nvSpPr>
          <p:cNvPr id="24" name="">
            <a:extLst xmlns:a="http://schemas.openxmlformats.org/drawingml/2006/main">
              <a:ext uri="{FF2B5EF4-FFF2-40B4-BE49-F238E27FC236}">
                <a16:creationId xmlns:a16="http://schemas.microsoft.com/office/drawing/2014/main" id="{05D1A0EB-1BF5-4B5E-9C42-29AE4E0F86E8}"/>
              </a:ext>
            </a:extLst>
          </p:cNvPr>
          <p:cNvSpPr>
            <a:spLocks xmlns:a="http://schemas.openxmlformats.org/drawingml/2006/main" noGrp="1"/>
          </p:cNvSpPr>
          <p:nvPr/>
        </p:nvSpPr>
        <p:spPr>
          <a:xfrm xmlns:a="http://schemas.openxmlformats.org/drawingml/2006/main">
            <a:off x="4305300" y="3448050"/>
            <a:ext cx="3676650" cy="323850"/>
          </a:xfrm>
          <a:prstGeom xmlns:a="http://schemas.openxmlformats.org/drawingml/2006/main" prst="roundRect">
            <a:avLst>
              <a:gd name="adj" fmla="val 38095"/>
            </a:avLst>
          </a:prstGeom>
          <a:solidFill xmlns:a="http://schemas.openxmlformats.org/drawingml/2006/main">
            <a:srgbClr val="2774C7"/>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ABB8136-5455-4D6C-9298-6039CA241714}"/>
              </a:ext>
            </a:extLst>
          </p:cNvPr>
          <p:cNvSpPr>
            <a:spLocks xmlns:a="http://schemas.openxmlformats.org/drawingml/2006/main" noGrp="1"/>
          </p:cNvSpPr>
          <p:nvPr/>
        </p:nvSpPr>
        <p:spPr>
          <a:xfrm xmlns:a="http://schemas.openxmlformats.org/drawingml/2006/main">
            <a:off x="552450" y="39814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2263A"/>
                </a:solidFill>
              </a:defRPr>
            </a:pPr>
            <a:r>
              <a:rPr sz="1275" b="1">
                <a:solidFill>
                  <a:srgbClr val="12263A"/>
                </a:solidFill>
              </a:rPr>
              <a:t>Integrate + test</a:t>
            </a:r>
          </a:p>
        </p:txBody>
      </p:sp>
      <p:sp>
        <p:nvSpPr>
          <p:cNvPr id="26" name="">
            <a:extLst xmlns:a="http://schemas.openxmlformats.org/drawingml/2006/main">
              <a:ext uri="{FF2B5EF4-FFF2-40B4-BE49-F238E27FC236}">
                <a16:creationId xmlns:a16="http://schemas.microsoft.com/office/drawing/2014/main" id="{0F22CCC1-B973-4A97-A8CB-D5AD776056B1}"/>
              </a:ext>
            </a:extLst>
          </p:cNvPr>
          <p:cNvSpPr>
            <a:spLocks xmlns:a="http://schemas.openxmlformats.org/drawingml/2006/main" noGrp="1"/>
          </p:cNvSpPr>
          <p:nvPr/>
        </p:nvSpPr>
        <p:spPr>
          <a:xfrm xmlns:a="http://schemas.openxmlformats.org/drawingml/2006/main">
            <a:off x="8115300" y="3924300"/>
            <a:ext cx="1771650" cy="323850"/>
          </a:xfrm>
          <a:prstGeom xmlns:a="http://schemas.openxmlformats.org/drawingml/2006/main" prst="roundRect">
            <a:avLst>
              <a:gd name="adj" fmla="val 38095"/>
            </a:avLst>
          </a:prstGeom>
          <a:solidFill xmlns:a="http://schemas.openxmlformats.org/drawingml/2006/main">
            <a:srgbClr val="12263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0A95331-39F2-412F-BAF2-46E7E75667AA}"/>
              </a:ext>
            </a:extLst>
          </p:cNvPr>
          <p:cNvSpPr>
            <a:spLocks xmlns:a="http://schemas.openxmlformats.org/drawingml/2006/main" noGrp="1"/>
          </p:cNvSpPr>
          <p:nvPr/>
        </p:nvSpPr>
        <p:spPr>
          <a:xfrm xmlns:a="http://schemas.openxmlformats.org/drawingml/2006/main">
            <a:off x="552450" y="4457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1">
                <a:solidFill>
                  <a:srgbClr val="12263A"/>
                </a:solidFill>
              </a:defRPr>
            </a:pPr>
            <a:r>
              <a:rPr sz="1275" b="1">
                <a:solidFill>
                  <a:srgbClr val="12263A"/>
                </a:solidFill>
              </a:rPr>
              <a:t>Rehearse + harden</a:t>
            </a:r>
          </a:p>
        </p:txBody>
      </p:sp>
      <p:sp>
        <p:nvSpPr>
          <p:cNvPr id="28" name="">
            <a:extLst xmlns:a="http://schemas.openxmlformats.org/drawingml/2006/main">
              <a:ext uri="{FF2B5EF4-FFF2-40B4-BE49-F238E27FC236}">
                <a16:creationId xmlns:a16="http://schemas.microsoft.com/office/drawing/2014/main" id="{EFBFB779-17A6-41E5-8BE0-1D5DB2ACDF94}"/>
              </a:ext>
            </a:extLst>
          </p:cNvPr>
          <p:cNvSpPr>
            <a:spLocks xmlns:a="http://schemas.openxmlformats.org/drawingml/2006/main" noGrp="1"/>
          </p:cNvSpPr>
          <p:nvPr/>
        </p:nvSpPr>
        <p:spPr>
          <a:xfrm xmlns:a="http://schemas.openxmlformats.org/drawingml/2006/main">
            <a:off x="10020300" y="4400550"/>
            <a:ext cx="819150" cy="323850"/>
          </a:xfrm>
          <a:prstGeom xmlns:a="http://schemas.openxmlformats.org/drawingml/2006/main" prst="roundRect">
            <a:avLst>
              <a:gd name="adj" fmla="val 38095"/>
            </a:avLst>
          </a:prstGeom>
          <a:solidFill xmlns:a="http://schemas.openxmlformats.org/drawingml/2006/main">
            <a:srgbClr val="4D7C7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EE74DCE-F58A-4D50-AB9F-3AB9854EEE51}"/>
              </a:ext>
            </a:extLst>
          </p:cNvPr>
          <p:cNvSpPr>
            <a:spLocks xmlns:a="http://schemas.openxmlformats.org/drawingml/2006/main" noGrp="1"/>
          </p:cNvSpPr>
          <p:nvPr/>
        </p:nvSpPr>
        <p:spPr>
          <a:xfrm xmlns:a="http://schemas.openxmlformats.org/drawingml/2006/main">
            <a:off x="552450" y="5105400"/>
            <a:ext cx="11087100" cy="800100"/>
          </a:xfrm>
          <a:prstGeom xmlns:a="http://schemas.openxmlformats.org/drawingml/2006/main" prst="roundRect">
            <a:avLst>
              <a:gd name="adj" fmla="val 18750"/>
            </a:avLst>
          </a:prstGeom>
          <a:solidFill xmlns:a="http://schemas.openxmlformats.org/drawingml/2006/main">
            <a:srgbClr val="12263A"/>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AFF8851F-0D88-4A85-AE9F-6DCFBBF64DC4}"/>
              </a:ext>
            </a:extLst>
          </p:cNvPr>
          <p:cNvSpPr>
            <a:spLocks xmlns:a="http://schemas.openxmlformats.org/drawingml/2006/main" noGrp="1"/>
          </p:cNvSpPr>
          <p:nvPr/>
        </p:nvSpPr>
        <p:spPr>
          <a:xfrm xmlns:a="http://schemas.openxmlformats.org/drawingml/2006/main">
            <a:off x="800100" y="536257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b="1">
                <a:solidFill>
                  <a:srgbClr val="BFE2D4"/>
                </a:solidFill>
              </a:defRPr>
            </a:pPr>
            <a:r>
              <a:rPr sz="1050" b="1">
                <a:solidFill>
                  <a:srgbClr val="BFE2D4"/>
                </a:solidFill>
              </a:rPr>
              <a:t>MVP DECISION</a:t>
            </a:r>
          </a:p>
        </p:txBody>
      </p:sp>
      <p:sp>
        <p:nvSpPr>
          <p:cNvPr id="31" name="">
            <a:extLst xmlns:a="http://schemas.openxmlformats.org/drawingml/2006/main">
              <a:ext uri="{FF2B5EF4-FFF2-40B4-BE49-F238E27FC236}">
                <a16:creationId xmlns:a16="http://schemas.microsoft.com/office/drawing/2014/main" id="{C2483013-232E-44B0-9022-587F13AEEE81}"/>
              </a:ext>
            </a:extLst>
          </p:cNvPr>
          <p:cNvSpPr>
            <a:spLocks xmlns:a="http://schemas.openxmlformats.org/drawingml/2006/main" noGrp="1"/>
          </p:cNvSpPr>
          <p:nvPr/>
        </p:nvSpPr>
        <p:spPr>
          <a:xfrm xmlns:a="http://schemas.openxmlformats.org/drawingml/2006/main">
            <a:off x="2476500" y="5343525"/>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1">
                <a:solidFill>
                  <a:srgbClr val="FFFFFF"/>
                </a:solidFill>
              </a:defRPr>
            </a:pPr>
            <a:r>
              <a:rPr sz="1425" b="1">
                <a:solidFill>
                  <a:srgbClr val="FFFFFF"/>
                </a:solidFill>
              </a:rPr>
              <a:t>Approve the 15-requirement baseline; keep search and export as gated stretch work.</a:t>
            </a:r>
          </a:p>
        </p:txBody>
      </p:sp>
      <p:sp>
        <p:nvSpPr>
          <p:cNvPr id="32" name="">
            <a:extLst xmlns:a="http://schemas.openxmlformats.org/drawingml/2006/main">
              <a:ext uri="{FF2B5EF4-FFF2-40B4-BE49-F238E27FC236}">
                <a16:creationId xmlns:a16="http://schemas.microsoft.com/office/drawing/2014/main" id="{22C68E35-1DEC-45E8-9116-71DEAC7C1BDE}"/>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STUDYCREW  |  ELEC3609/9609  |  GROUP 02</a:t>
            </a:r>
          </a:p>
        </p:txBody>
      </p:sp>
      <p:sp>
        <p:nvSpPr>
          <p:cNvPr id="33" name="">
            <a:extLst xmlns:a="http://schemas.openxmlformats.org/drawingml/2006/main">
              <a:ext uri="{FF2B5EF4-FFF2-40B4-BE49-F238E27FC236}">
                <a16:creationId xmlns:a16="http://schemas.microsoft.com/office/drawing/2014/main" id="{B6EE5841-A08E-481B-9F63-3E9169E8204E}"/>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825" b="1">
                <a:solidFill>
                  <a:srgbClr val="667482"/>
                </a:solidFill>
              </a:defRPr>
            </a:pPr>
            <a:r>
              <a:rPr sz="825" b="1">
                <a:solidFill>
                  <a:srgbClr val="667482"/>
                </a:solidFill>
              </a:rPr>
              <a:t>06</a:t>
            </a:r>
          </a:p>
        </p:txBody>
      </p:sp>
      <p:sp>
        <p:nvSpPr>
          <p:cNvPr id="35" name="framework-strip">
            <a:extLst xmlns:a="http://schemas.openxmlformats.org/drawingml/2006/main">
              <a:ext uri="{FF2B5EF4-FFF2-40B4-BE49-F238E27FC236}">
                <a16:creationId xmlns:a16="http://schemas.microsoft.com/office/drawing/2014/main" id="{7242F7D8-4EBD-454B-9A51-9E0794F7A1D7}"/>
              </a:ext>
            </a:extLst>
          </p:cNvPr>
          <p:cNvSpPr>
            <a:spLocks xmlns:a="http://schemas.openxmlformats.org/drawingml/2006/main" noGrp="1"/>
          </p:cNvSpPr>
          <p:nvPr/>
        </p:nvSpPr>
        <p:spPr>
          <a:xfrm xmlns:a="http://schemas.openxmlformats.org/drawingml/2006/main">
            <a:off x="552450" y="2076450"/>
            <a:ext cx="11087100" cy="400050"/>
          </a:xfrm>
          <a:prstGeom xmlns:a="http://schemas.openxmlformats.org/drawingml/2006/main" prst="roundRect">
            <a:avLst>
              <a:gd name="adj" fmla="val 28571"/>
            </a:avLst>
          </a:prstGeom>
          <a:solidFill xmlns:a="http://schemas.openxmlformats.org/drawingml/2006/main">
            <a:srgbClr val="EAF2FA"/>
          </a:solidFill>
          <a:ln xmlns:a="http://schemas.openxmlformats.org/drawingml/2006/main" w="9525">
            <a:solidFill>
              <a:srgbClr val="CBD5DF"/>
            </a:solidFill>
            <a:prstDash val="solid"/>
          </a:ln>
        </p:spPr>
      </p:sp>
      <p:sp>
        <p:nvSpPr>
          <p:cNvPr id="36" name="framework-label">
            <a:extLst xmlns:a="http://schemas.openxmlformats.org/drawingml/2006/main">
              <a:ext uri="{FF2B5EF4-FFF2-40B4-BE49-F238E27FC236}">
                <a16:creationId xmlns:a16="http://schemas.microsoft.com/office/drawing/2014/main" id="{5401567E-948B-45B3-9D7F-B8C0798DAC51}"/>
              </a:ext>
            </a:extLst>
          </p:cNvPr>
          <p:cNvSpPr>
            <a:spLocks xmlns:a="http://schemas.openxmlformats.org/drawingml/2006/main" noGrp="1"/>
          </p:cNvSpPr>
          <p:nvPr/>
        </p:nvSpPr>
        <p:spPr>
          <a:xfrm xmlns:a="http://schemas.openxmlformats.org/drawingml/2006/main">
            <a:off x="781050" y="21526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2774C7"/>
                </a:solidFill>
              </a:defRPr>
            </a:pPr>
            <a:r>
              <a:rPr sz="1200" b="1">
                <a:solidFill>
                  <a:srgbClr val="2774C7"/>
                </a:solidFill>
              </a:rPr>
              <a:t>FRAMEWORKS</a:t>
            </a:r>
          </a:p>
        </p:txBody>
      </p:sp>
      <p:sp>
        <p:nvSpPr>
          <p:cNvPr id="37" name="framework-list">
            <a:extLst xmlns:a="http://schemas.openxmlformats.org/drawingml/2006/main">
              <a:ext uri="{FF2B5EF4-FFF2-40B4-BE49-F238E27FC236}">
                <a16:creationId xmlns:a16="http://schemas.microsoft.com/office/drawing/2014/main" id="{EB13FE2A-9DFE-4004-8720-6AC345E49E40}"/>
              </a:ext>
            </a:extLst>
          </p:cNvPr>
          <p:cNvSpPr>
            <a:spLocks xmlns:a="http://schemas.openxmlformats.org/drawingml/2006/main" noGrp="1"/>
          </p:cNvSpPr>
          <p:nvPr/>
        </p:nvSpPr>
        <p:spPr>
          <a:xfrm xmlns:a="http://schemas.openxmlformats.org/drawingml/2006/main">
            <a:off x="2228850" y="2143125"/>
            <a:ext cx="904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12263A"/>
                </a:solidFill>
              </a:defRPr>
            </a:pPr>
            <a:r>
              <a:rPr sz="1200" b="1">
                <a:solidFill>
                  <a:srgbClr val="12263A"/>
                </a:solidFill>
              </a:rPr>
              <a:t>React  ·  Express  ·  PostgreSQL + Prisma  ·  Vitest + Playwright  ·  Docker + GitHub Actions</a:t>
            </a:r>
          </a:p>
        </p:txBody>
      </p:sp>
    </p:spTree>
    <p:extLst>
      <p:ext uri="{BB962C8B-B14F-4D97-AF65-F5344CB8AC3E}">
        <p14:creationId xmlns:p14="http://schemas.microsoft.com/office/powerpoint/2010/main" val="431942378"/>
      </p:ext>
    </p:extLst>
  </p:cSld>
</p:sld>
</file>

<file path=ppt/theme/theme1.xml><?xml version="1.0" encoding="utf-8"?>
<a:theme xmlns:a="http://schemas.openxmlformats.org/drawingml/2006/main" name="ChatGPT">
  <a:themeElements>
    <a:clrScheme name="StudyCrew Editorial">
      <a:dk1>
        <a:srgbClr val="0B1825"/>
      </a:dk1>
      <a:lt1>
        <a:srgbClr val="FFFFFF"/>
      </a:lt1>
      <a:dk2>
        <a:srgbClr val="12263A"/>
      </a:dk2>
      <a:lt2>
        <a:srgbClr val="EAF2FA"/>
      </a:lt2>
      <a:accent1>
        <a:srgbClr val="2774C7"/>
      </a:accent1>
      <a:accent2>
        <a:srgbClr val="E96B4B"/>
      </a:accent2>
      <a:accent3>
        <a:srgbClr val="BFE2D4"/>
      </a:accent3>
      <a:accent4>
        <a:srgbClr val="D8A72A"/>
      </a:accent4>
      <a:accent5>
        <a:srgbClr val="4D7C78"/>
      </a:accent5>
      <a:accent6>
        <a:srgbClr val="8A6F4D"/>
      </a:accent6>
      <a:hlink>
        <a:srgbClr val="2774C7"/>
      </a:hlink>
      <a:folHlink>
        <a:srgbClr val="E96B4B"/>
      </a:folHlink>
    </a:clrScheme>
    <a:fontScheme name="Office">
      <a:majorFont>
        <a:latin typeface="Calibri Light"/>
        <a:ea typeface="Calibri Light"/>
        <a:cs typeface="Calibri Light"/>
      </a:majorFont>
      <a:minorFont>
        <a:latin typeface="Calibri"/>
        <a:ea typeface="Calibri"/>
        <a:cs typeface="Calibri"/>
      </a:minorFont>
    </a:fontScheme>
    <a:fmtScheme name="StudyCrew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2026-08-29T15:20:27.7600000Z</dcterms:created>
  <dcterms:modified xsi:type="dcterms:W3CDTF">2026-08-29T15:20:27.7600000Z</dcterms:modified>
</coreProperties>
</file>