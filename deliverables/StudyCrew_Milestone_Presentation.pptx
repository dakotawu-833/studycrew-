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0:00-0:25 · Speaker A</a:t>
            </a:r>
          </a:p>
          <a:p>
            <a:r>
              <a:t>StudyCrew makes group work visible before it becomes a problem. It gives student teams one place to coordinate tasks and meetings, then backs contribution conversations with transparent activity evidence.</a:t>
            </a:r>
          </a:p>
          <a:p>
            <a:endParaRPr/>
          </a:p>
          <a:p>
            <a:r>
              <a:t>[Sources]</a:t>
            </a:r>
          </a:p>
          <a:p>
            <a:r>
              <a:t>- Assignment brief supplied by the unit, 2026.</a:t>
            </a:r>
          </a:p>
          <a:p>
            <a:r>
              <a:t>- StudyCrew System Design Report, Section 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0:25-1:05 · Speaker A</a:t>
            </a:r>
          </a:p>
          <a:p>
            <a:r>
              <a:t>Today, work is often split across chat, calendars and task lists. Status becomes stale, blockers surface late, and contribution discussions depend on memory. Teams need coordination and evidence together, without a black-box score.</a:t>
            </a:r>
          </a:p>
          <a:p>
            <a:endParaRPr/>
          </a:p>
          <a:p>
            <a:r>
              <a:t>[Sources]</a:t>
            </a:r>
          </a:p>
          <a:p>
            <a:r>
              <a:t>- StudyCrew System Design Report, Section 1.1.</a:t>
            </a:r>
          </a:p>
          <a:p>
            <a:r>
              <a:t>- Team problem synthesis based on the assignment context.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1:05-2:00 · Speaker B</a:t>
            </a:r>
          </a:p>
          <a:p>
            <a:r>
              <a:t>StudyCrew follows a simple loop: plan the work, coordinate delivery, and review evidence. Members create and assign tasks, explain blockers, schedule meetings and RSVP. Each successful action adds an immutable event, so totals always lead back to context.</a:t>
            </a:r>
          </a:p>
          <a:p>
            <a:endParaRPr/>
          </a:p>
          <a:p>
            <a:r>
              <a:t>[Sources]</a:t>
            </a:r>
          </a:p>
          <a:p>
            <a:r>
              <a:t>- StudyCrew functional requirements FR-PROJ-01 through FR-CONTR-02.</a:t>
            </a:r>
          </a:p>
          <a:p>
            <a:r>
              <a:t>- database/schema.sql: activity_events table and related foreign keys.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2:00-3:10 · Speaker C</a:t>
            </a:r>
          </a:p>
          <a:p>
            <a:r>
              <a:t>The task board shows ownership and risk at a glance. Task detail keeps assignments, workflow and discussion together. The contribution view compares activity using both a chart and table, but deliberately avoids grading. Selecting a member reveals the events behind each total.</a:t>
            </a:r>
          </a:p>
          <a:p>
            <a:endParaRPr/>
          </a:p>
          <a:p>
            <a:r>
              <a:t>[Sources]</a:t>
            </a:r>
          </a:p>
          <a:p>
            <a:r>
              <a:t>- design/generated/wf-04-task-board.png.</a:t>
            </a:r>
          </a:p>
          <a:p>
            <a:r>
              <a:t>- design/generated/wf-08-contributions.png.</a:t>
            </a:r>
          </a:p>
          <a:p>
            <a:r>
              <a:t>- StudyCrew traceability matrix, FR-TASK-01/02/03 and FR-CONTR-01/02.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3:10-4:00 · Speaker C</a:t>
            </a:r>
          </a:p>
          <a:p>
            <a:r>
              <a:t>The design is feasible and safe. Thirteen normalised PostgreSQL tables support explicit one-to-one, one-to-many and many-to-many relationships. Every protected request checks current membership. React, Express and PostgreSQL let us deliver in tested vertical slices.</a:t>
            </a:r>
          </a:p>
          <a:p>
            <a:endParaRPr/>
          </a:p>
          <a:p>
            <a:r>
              <a:t>[Sources]</a:t>
            </a:r>
          </a:p>
          <a:p>
            <a:r>
              <a:t>- database/schema.sql, PostgreSQL 16 physical schema.</a:t>
            </a:r>
          </a:p>
          <a:p>
            <a:r>
              <a:t>- StudyCrew System Design Report, Sections 3 and 6.</a:t>
            </a:r>
          </a:p>
          <a:p>
            <a:r>
              <a:t>- IEEE Std 830-1998 is used because the assignment explicitly requests Section 5.3.2.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4:00-4:50 · Speaker D</a:t>
            </a:r>
          </a:p>
          <a:p>
            <a:r>
              <a:t>Our approved baseline is authentication, private projects, tasks, comments, meetings, notifications and contribution evidence. We will build it with React and Express, PostgreSQL with Prisma, Vitest and Playwright, plus Docker and GitHub Actions. The Gantt moves from MVP validation into core vertical slices, integration and testing, then rehearsal and hardening. Search and export remain gated stretch goals.</a:t>
            </a:r>
          </a:p>
          <a:p>
            <a:endParaRPr/>
          </a:p>
          <a:p>
            <a:r>
              <a:t>4:50-5:00 close</a:t>
            </a:r>
          </a:p>
          <a:p>
            <a:r>
              <a:t>StudyCrew does not judge who worked hardest. It gives teams the shared facts to notice risk earlier, coordinate better, and have fairer conversations. We are ready to validate the MVP and begin implementation.</a:t>
            </a:r>
          </a:p>
          <a:p>
            <a:endParaRPr/>
          </a:p>
          <a:p>
            <a:r>
              <a:t>[Sources]</a:t>
            </a:r>
          </a:p>
          <a:p>
            <a:r>
              <a:t>- StudyCrew Proposed MVP, approved-baseline candidate.</a:t>
            </a:r>
          </a:p>
          <a:p>
            <a:r>
              <a:t>- Assignment brief: milestone and final submission schedule.</a:t>
            </a:r>
          </a:p>
          <a:p>
            <a:r>
              <a:t>- StudyCrew Presentation Script, rehearsal timings.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825"/>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E5E9A08-0DD1-44F8-A88A-4809D076FAF7}"/>
              </a:ext>
            </a:extLst>
          </p:cNvPr>
          <p:cNvSpPr>
            <a:spLocks noGrp="1"/>
          </p:cNvSpPr>
          <p:nvPr/>
        </p:nvSpPr>
        <p:spPr>
          <a:xfrm>
            <a:off x="0" y="0"/>
            <a:ext cx="152400" cy="6858000"/>
          </a:xfrm>
          <a:prstGeom prst="rect">
            <a:avLst/>
          </a:prstGeom>
          <a:solidFill>
            <a:srgbClr val="2774C7"/>
          </a:solidFill>
          <a:ln w="0">
            <a:noFill/>
            <a:prstDash val="solid"/>
          </a:ln>
        </p:spPr>
        <p:txBody>
          <a:bodyPr/>
          <a:lstStyle/>
          <a:p>
            <a:endParaRPr lang="zh-CN" altLang="en-US"/>
          </a:p>
        </p:txBody>
      </p:sp>
      <p:sp>
        <p:nvSpPr>
          <p:cNvPr id="2" name="矩形 1">
            <a:extLst>
              <a:ext uri="{FF2B5EF4-FFF2-40B4-BE49-F238E27FC236}">
                <a16:creationId xmlns:a16="http://schemas.microsoft.com/office/drawing/2014/main" id="{9E25AFC3-AF64-40B7-80E5-0C38F56CE7C2}"/>
              </a:ext>
            </a:extLst>
          </p:cNvPr>
          <p:cNvSpPr>
            <a:spLocks noGrp="1"/>
          </p:cNvSpPr>
          <p:nvPr/>
        </p:nvSpPr>
        <p:spPr>
          <a:xfrm>
            <a:off x="685800" y="628650"/>
            <a:ext cx="2286000" cy="323850"/>
          </a:xfrm>
          <a:prstGeom prst="rect">
            <a:avLst/>
          </a:prstGeom>
          <a:noFill/>
          <a:ln w="0">
            <a:noFill/>
            <a:prstDash val="solid"/>
          </a:ln>
        </p:spPr>
        <p:txBody>
          <a:bodyPr/>
          <a:lstStyle/>
          <a:p>
            <a:pPr>
              <a:buNone/>
              <a:defRPr sz="1275" b="1">
                <a:solidFill>
                  <a:srgbClr val="BFE2D4"/>
                </a:solidFill>
              </a:defRPr>
            </a:pPr>
            <a:r>
              <a:rPr sz="1275" b="1">
                <a:solidFill>
                  <a:srgbClr val="BFE2D4"/>
                </a:solidFill>
              </a:rPr>
              <a:t>STUDYCREW</a:t>
            </a:r>
          </a:p>
        </p:txBody>
      </p:sp>
      <p:sp>
        <p:nvSpPr>
          <p:cNvPr id="3" name="矩形 2">
            <a:extLst>
              <a:ext uri="{FF2B5EF4-FFF2-40B4-BE49-F238E27FC236}">
                <a16:creationId xmlns:a16="http://schemas.microsoft.com/office/drawing/2014/main" id="{FC3C9C8E-511C-4992-85C6-2CEB38FE9212}"/>
              </a:ext>
            </a:extLst>
          </p:cNvPr>
          <p:cNvSpPr>
            <a:spLocks noGrp="1"/>
          </p:cNvSpPr>
          <p:nvPr/>
        </p:nvSpPr>
        <p:spPr>
          <a:xfrm>
            <a:off x="685800" y="1428750"/>
            <a:ext cx="8477250" cy="2571750"/>
          </a:xfrm>
          <a:prstGeom prst="rect">
            <a:avLst/>
          </a:prstGeom>
          <a:noFill/>
          <a:ln w="0">
            <a:noFill/>
            <a:prstDash val="solid"/>
          </a:ln>
        </p:spPr>
        <p:txBody>
          <a:bodyPr/>
          <a:lstStyle/>
          <a:p>
            <a:pPr>
              <a:buNone/>
              <a:defRPr sz="4650" b="1">
                <a:solidFill>
                  <a:srgbClr val="FFFFFF"/>
                </a:solidFill>
              </a:defRPr>
            </a:pPr>
            <a:r>
              <a:rPr sz="4650" b="1" dirty="0">
                <a:solidFill>
                  <a:srgbClr val="FFFFFF"/>
                </a:solidFill>
              </a:rPr>
              <a:t>Make group work</a:t>
            </a:r>
          </a:p>
          <a:p>
            <a:pPr>
              <a:buNone/>
              <a:defRPr sz="4650" b="1">
                <a:solidFill>
                  <a:srgbClr val="FFFFFF"/>
                </a:solidFill>
              </a:defRPr>
            </a:pPr>
            <a:r>
              <a:rPr sz="4650" b="1" dirty="0">
                <a:solidFill>
                  <a:srgbClr val="FFFFFF"/>
                </a:solidFill>
              </a:rPr>
              <a:t>visible before it</a:t>
            </a:r>
          </a:p>
          <a:p>
            <a:pPr>
              <a:buNone/>
              <a:defRPr sz="4650" b="1">
                <a:solidFill>
                  <a:srgbClr val="FFFFFF"/>
                </a:solidFill>
              </a:defRPr>
            </a:pPr>
            <a:r>
              <a:rPr sz="4650" b="1" dirty="0">
                <a:solidFill>
                  <a:srgbClr val="FFFFFF"/>
                </a:solidFill>
              </a:rPr>
              <a:t>becomes a problem.</a:t>
            </a:r>
          </a:p>
        </p:txBody>
      </p:sp>
      <p:sp>
        <p:nvSpPr>
          <p:cNvPr id="4" name="矩形 3">
            <a:extLst>
              <a:ext uri="{FF2B5EF4-FFF2-40B4-BE49-F238E27FC236}">
                <a16:creationId xmlns:a16="http://schemas.microsoft.com/office/drawing/2014/main" id="{65451645-413F-44FA-86F9-8D4FB89850D8}"/>
              </a:ext>
            </a:extLst>
          </p:cNvPr>
          <p:cNvSpPr>
            <a:spLocks noGrp="1"/>
          </p:cNvSpPr>
          <p:nvPr/>
        </p:nvSpPr>
        <p:spPr>
          <a:xfrm>
            <a:off x="685800" y="4343400"/>
            <a:ext cx="2762250" cy="57150"/>
          </a:xfrm>
          <a:prstGeom prst="rect">
            <a:avLst/>
          </a:prstGeom>
          <a:solidFill>
            <a:srgbClr val="E96B4B"/>
          </a:solidFill>
          <a:ln w="0">
            <a:noFill/>
            <a:prstDash val="solid"/>
          </a:ln>
        </p:spPr>
        <p:txBody>
          <a:bodyPr/>
          <a:lstStyle/>
          <a:p>
            <a:endParaRPr lang="zh-CN" altLang="en-US"/>
          </a:p>
        </p:txBody>
      </p:sp>
      <p:sp>
        <p:nvSpPr>
          <p:cNvPr id="5" name="矩形 4">
            <a:extLst>
              <a:ext uri="{FF2B5EF4-FFF2-40B4-BE49-F238E27FC236}">
                <a16:creationId xmlns:a16="http://schemas.microsoft.com/office/drawing/2014/main" id="{A357ABE0-34FC-42AE-8892-B705450577F6}"/>
              </a:ext>
            </a:extLst>
          </p:cNvPr>
          <p:cNvSpPr>
            <a:spLocks noGrp="1"/>
          </p:cNvSpPr>
          <p:nvPr/>
        </p:nvSpPr>
        <p:spPr>
          <a:xfrm>
            <a:off x="685800" y="4629150"/>
            <a:ext cx="6953250" cy="742950"/>
          </a:xfrm>
          <a:prstGeom prst="rect">
            <a:avLst/>
          </a:prstGeom>
          <a:noFill/>
          <a:ln w="0">
            <a:noFill/>
            <a:prstDash val="solid"/>
          </a:ln>
        </p:spPr>
        <p:txBody>
          <a:bodyPr/>
          <a:lstStyle/>
          <a:p>
            <a:pPr>
              <a:buNone/>
              <a:defRPr sz="1800" b="0">
                <a:solidFill>
                  <a:srgbClr val="D8E3EC"/>
                </a:solidFill>
              </a:defRPr>
            </a:pPr>
            <a:r>
              <a:rPr sz="1800" b="0" dirty="0">
                <a:solidFill>
                  <a:srgbClr val="D8E3EC"/>
                </a:solidFill>
              </a:rPr>
              <a:t>One private workflow for planning, coordination and inspectable contribution evidence.</a:t>
            </a:r>
          </a:p>
        </p:txBody>
      </p:sp>
      <p:sp>
        <p:nvSpPr>
          <p:cNvPr id="6" name="矩形: 圆角 5">
            <a:extLst>
              <a:ext uri="{FF2B5EF4-FFF2-40B4-BE49-F238E27FC236}">
                <a16:creationId xmlns:a16="http://schemas.microsoft.com/office/drawing/2014/main" id="{31F14BA2-FCEC-4D01-A325-35E654EE9B06}"/>
              </a:ext>
            </a:extLst>
          </p:cNvPr>
          <p:cNvSpPr>
            <a:spLocks noGrp="1"/>
          </p:cNvSpPr>
          <p:nvPr/>
        </p:nvSpPr>
        <p:spPr>
          <a:xfrm>
            <a:off x="9124950" y="1200150"/>
            <a:ext cx="2095500" cy="3848100"/>
          </a:xfrm>
          <a:prstGeom prst="roundRect">
            <a:avLst>
              <a:gd name="adj" fmla="val 10000"/>
            </a:avLst>
          </a:prstGeom>
          <a:solidFill>
            <a:srgbClr val="2774C7"/>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E49A5B29-1A40-496A-A28B-DDEB558CE420}"/>
              </a:ext>
            </a:extLst>
          </p:cNvPr>
          <p:cNvSpPr>
            <a:spLocks noGrp="1"/>
          </p:cNvSpPr>
          <p:nvPr/>
        </p:nvSpPr>
        <p:spPr>
          <a:xfrm>
            <a:off x="9448800" y="1657350"/>
            <a:ext cx="1428750" cy="342900"/>
          </a:xfrm>
          <a:prstGeom prst="rect">
            <a:avLst/>
          </a:prstGeom>
          <a:noFill/>
          <a:ln w="0">
            <a:noFill/>
            <a:prstDash val="solid"/>
          </a:ln>
        </p:spPr>
        <p:txBody>
          <a:bodyPr/>
          <a:lstStyle/>
          <a:p>
            <a:pPr>
              <a:buNone/>
              <a:defRPr sz="1800" b="1">
                <a:solidFill>
                  <a:srgbClr val="FFFFFF"/>
                </a:solidFill>
              </a:defRPr>
            </a:pPr>
            <a:r>
              <a:rPr sz="1800" b="1">
                <a:solidFill>
                  <a:srgbClr val="FFFFFF"/>
                </a:solidFill>
              </a:rPr>
              <a:t>PLAN</a:t>
            </a:r>
          </a:p>
        </p:txBody>
      </p:sp>
      <p:sp>
        <p:nvSpPr>
          <p:cNvPr id="8" name="矩形 7">
            <a:extLst>
              <a:ext uri="{FF2B5EF4-FFF2-40B4-BE49-F238E27FC236}">
                <a16:creationId xmlns:a16="http://schemas.microsoft.com/office/drawing/2014/main" id="{D3AF8C70-1C77-4453-9859-EDD6155FDDA2}"/>
              </a:ext>
            </a:extLst>
          </p:cNvPr>
          <p:cNvSpPr>
            <a:spLocks noGrp="1"/>
          </p:cNvSpPr>
          <p:nvPr/>
        </p:nvSpPr>
        <p:spPr>
          <a:xfrm>
            <a:off x="9448800" y="2705100"/>
            <a:ext cx="1619250" cy="342900"/>
          </a:xfrm>
          <a:prstGeom prst="rect">
            <a:avLst/>
          </a:prstGeom>
          <a:noFill/>
          <a:ln w="0">
            <a:noFill/>
            <a:prstDash val="solid"/>
          </a:ln>
        </p:spPr>
        <p:txBody>
          <a:bodyPr/>
          <a:lstStyle/>
          <a:p>
            <a:pPr>
              <a:buNone/>
              <a:defRPr sz="1800" b="1">
                <a:solidFill>
                  <a:srgbClr val="FFFFFF"/>
                </a:solidFill>
              </a:defRPr>
            </a:pPr>
            <a:r>
              <a:rPr sz="1800" b="1" dirty="0">
                <a:solidFill>
                  <a:srgbClr val="FFFFFF"/>
                </a:solidFill>
              </a:rPr>
              <a:t>COORDINATE</a:t>
            </a:r>
          </a:p>
        </p:txBody>
      </p:sp>
      <p:sp>
        <p:nvSpPr>
          <p:cNvPr id="9" name="矩形 8">
            <a:extLst>
              <a:ext uri="{FF2B5EF4-FFF2-40B4-BE49-F238E27FC236}">
                <a16:creationId xmlns:a16="http://schemas.microsoft.com/office/drawing/2014/main" id="{F0F36EEC-C812-4E2C-B96C-443FD5D7C90B}"/>
              </a:ext>
            </a:extLst>
          </p:cNvPr>
          <p:cNvSpPr>
            <a:spLocks noGrp="1"/>
          </p:cNvSpPr>
          <p:nvPr/>
        </p:nvSpPr>
        <p:spPr>
          <a:xfrm>
            <a:off x="9448800" y="3752850"/>
            <a:ext cx="1428750" cy="342900"/>
          </a:xfrm>
          <a:prstGeom prst="rect">
            <a:avLst/>
          </a:prstGeom>
          <a:noFill/>
          <a:ln w="0">
            <a:noFill/>
            <a:prstDash val="solid"/>
          </a:ln>
        </p:spPr>
        <p:txBody>
          <a:bodyPr/>
          <a:lstStyle/>
          <a:p>
            <a:pPr>
              <a:buNone/>
              <a:defRPr sz="1800" b="1">
                <a:solidFill>
                  <a:srgbClr val="FFFFFF"/>
                </a:solidFill>
              </a:defRPr>
            </a:pPr>
            <a:r>
              <a:rPr sz="1800" b="1">
                <a:solidFill>
                  <a:srgbClr val="FFFFFF"/>
                </a:solidFill>
              </a:rPr>
              <a:t>PROVE</a:t>
            </a:r>
          </a:p>
        </p:txBody>
      </p:sp>
      <p:sp>
        <p:nvSpPr>
          <p:cNvPr id="10" name="矩形 9">
            <a:extLst>
              <a:ext uri="{FF2B5EF4-FFF2-40B4-BE49-F238E27FC236}">
                <a16:creationId xmlns:a16="http://schemas.microsoft.com/office/drawing/2014/main" id="{2E2CF188-83FB-4560-A3D9-82EF0686BB46}"/>
              </a:ext>
            </a:extLst>
          </p:cNvPr>
          <p:cNvSpPr>
            <a:spLocks noGrp="1"/>
          </p:cNvSpPr>
          <p:nvPr/>
        </p:nvSpPr>
        <p:spPr>
          <a:xfrm>
            <a:off x="9448800" y="4171950"/>
            <a:ext cx="1428750" cy="266700"/>
          </a:xfrm>
          <a:prstGeom prst="rect">
            <a:avLst/>
          </a:prstGeom>
          <a:noFill/>
          <a:ln w="0">
            <a:noFill/>
            <a:prstDash val="solid"/>
          </a:ln>
        </p:spPr>
        <p:txBody>
          <a:bodyPr/>
          <a:lstStyle/>
          <a:p>
            <a:pPr>
              <a:buNone/>
              <a:defRPr sz="1200" b="0" i="1">
                <a:solidFill>
                  <a:srgbClr val="BFE2D4"/>
                </a:solidFill>
              </a:defRPr>
            </a:pPr>
            <a:r>
              <a:rPr sz="1200" b="0" i="1">
                <a:solidFill>
                  <a:srgbClr val="BFE2D4"/>
                </a:solidFill>
              </a:rPr>
              <a:t>not grade</a:t>
            </a:r>
          </a:p>
        </p:txBody>
      </p:sp>
      <p:sp>
        <p:nvSpPr>
          <p:cNvPr id="11" name="矩形 10">
            <a:extLst>
              <a:ext uri="{FF2B5EF4-FFF2-40B4-BE49-F238E27FC236}">
                <a16:creationId xmlns:a16="http://schemas.microsoft.com/office/drawing/2014/main" id="{1753BA1A-04CD-4905-82FF-C8DC781D32D2}"/>
              </a:ext>
            </a:extLst>
          </p:cNvPr>
          <p:cNvSpPr>
            <a:spLocks noGrp="1"/>
          </p:cNvSpPr>
          <p:nvPr/>
        </p:nvSpPr>
        <p:spPr>
          <a:xfrm>
            <a:off x="685800" y="6305550"/>
            <a:ext cx="5143500" cy="209550"/>
          </a:xfrm>
          <a:prstGeom prst="rect">
            <a:avLst/>
          </a:prstGeom>
          <a:noFill/>
          <a:ln w="0">
            <a:noFill/>
            <a:prstDash val="solid"/>
          </a:ln>
        </p:spPr>
        <p:txBody>
          <a:bodyPr/>
          <a:lstStyle/>
          <a:p>
            <a:pPr>
              <a:buNone/>
              <a:defRPr sz="900" b="1">
                <a:solidFill>
                  <a:srgbClr val="A8BAC9"/>
                </a:solidFill>
              </a:defRPr>
            </a:pPr>
            <a:r>
              <a:rPr sz="900" b="1" dirty="0">
                <a:solidFill>
                  <a:srgbClr val="A8BAC9"/>
                </a:solidFill>
              </a:rPr>
              <a:t>ELEC3609  ·  ASSIGNMENT 1  ·  GROUP </a:t>
            </a:r>
            <a:r>
              <a:rPr lang="en-US" sz="900" b="1" dirty="0">
                <a:solidFill>
                  <a:srgbClr val="A8BAC9"/>
                </a:solidFill>
              </a:rPr>
              <a:t>06</a:t>
            </a:r>
            <a:endParaRPr sz="900" b="1" dirty="0">
              <a:solidFill>
                <a:srgbClr val="A8BAC9"/>
              </a:solidFill>
            </a:endParaRPr>
          </a:p>
        </p:txBody>
      </p:sp>
      <p:sp>
        <p:nvSpPr>
          <p:cNvPr id="14" name="矩形 13">
            <a:extLst>
              <a:ext uri="{FF2B5EF4-FFF2-40B4-BE49-F238E27FC236}">
                <a16:creationId xmlns:a16="http://schemas.microsoft.com/office/drawing/2014/main" id="{89B73E11-6978-9905-05C6-D269F6F90650}"/>
              </a:ext>
            </a:extLst>
          </p:cNvPr>
          <p:cNvSpPr>
            <a:spLocks noGrp="1"/>
          </p:cNvSpPr>
          <p:nvPr/>
        </p:nvSpPr>
        <p:spPr>
          <a:xfrm>
            <a:off x="685799" y="5372100"/>
            <a:ext cx="10949787" cy="342900"/>
          </a:xfrm>
          <a:prstGeom prst="rect">
            <a:avLst/>
          </a:prstGeom>
          <a:noFill/>
          <a:ln w="0">
            <a:noFill/>
            <a:prstDash val="solid"/>
          </a:ln>
        </p:spPr>
        <p:txBody>
          <a:bodyPr/>
          <a:lstStyle/>
          <a:p>
            <a:pPr>
              <a:buNone/>
              <a:defRPr sz="1800" b="1">
                <a:solidFill>
                  <a:srgbClr val="FFFFFF"/>
                </a:solidFill>
              </a:defRPr>
            </a:pPr>
            <a:r>
              <a:rPr lang="en-US" sz="1800" b="1" dirty="0">
                <a:solidFill>
                  <a:srgbClr val="FFFFFF"/>
                </a:solidFill>
              </a:rPr>
              <a:t>Group members: Dakota Wu, Leo Li, Jiayuan Zhang, </a:t>
            </a:r>
            <a:r>
              <a:rPr lang="en-US" sz="1800" b="1" dirty="0" err="1">
                <a:solidFill>
                  <a:srgbClr val="FFFFFF"/>
                </a:solidFill>
              </a:rPr>
              <a:t>Yizhen</a:t>
            </a:r>
            <a:r>
              <a:rPr lang="en-US" sz="1800" b="1" dirty="0">
                <a:solidFill>
                  <a:srgbClr val="FFFFFF"/>
                </a:solidFill>
              </a:rPr>
              <a:t> Gou</a:t>
            </a:r>
            <a:endParaRPr sz="1800" b="1" dirty="0">
              <a:solidFill>
                <a:srgbClr val="FFFFFF"/>
              </a:solidFill>
            </a:endParaRPr>
          </a:p>
        </p:txBody>
      </p:sp>
    </p:spTree>
    <p:extLst>
      <p:ext uri="{BB962C8B-B14F-4D97-AF65-F5344CB8AC3E}">
        <p14:creationId xmlns:p14="http://schemas.microsoft.com/office/powerpoint/2010/main" val="961738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9868E504-5EFE-4380-B8E7-5146F4401AF5}"/>
              </a:ext>
            </a:extLst>
          </p:cNvPr>
          <p:cNvSpPr>
            <a:spLocks noGrp="1"/>
          </p:cNvSpPr>
          <p:nvPr/>
        </p:nvSpPr>
        <p:spPr>
          <a:xfrm>
            <a:off x="9525000" y="400050"/>
            <a:ext cx="2114550" cy="228600"/>
          </a:xfrm>
          <a:prstGeom prst="rect">
            <a:avLst/>
          </a:prstGeom>
          <a:noFill/>
          <a:ln w="0">
            <a:noFill/>
            <a:prstDash val="solid"/>
          </a:ln>
        </p:spPr>
        <p:txBody>
          <a:bodyPr/>
          <a:lstStyle/>
          <a:p>
            <a:pPr>
              <a:buNone/>
              <a:defRPr sz="1125" b="1">
                <a:solidFill>
                  <a:srgbClr val="2774C7"/>
                </a:solidFill>
              </a:defRPr>
            </a:pPr>
            <a:r>
              <a:rPr sz="1125" b="1">
                <a:solidFill>
                  <a:srgbClr val="2774C7"/>
                </a:solidFill>
              </a:rPr>
              <a:t>01 / PROBLEM</a:t>
            </a:r>
          </a:p>
        </p:txBody>
      </p:sp>
      <p:sp>
        <p:nvSpPr>
          <p:cNvPr id="2" name="矩形 1">
            <a:extLst>
              <a:ext uri="{FF2B5EF4-FFF2-40B4-BE49-F238E27FC236}">
                <a16:creationId xmlns:a16="http://schemas.microsoft.com/office/drawing/2014/main" id="{2E6AABE7-BC0F-4A31-ADD8-7BB50BA35AC8}"/>
              </a:ext>
            </a:extLst>
          </p:cNvPr>
          <p:cNvSpPr>
            <a:spLocks noGrp="1"/>
          </p:cNvSpPr>
          <p:nvPr/>
        </p:nvSpPr>
        <p:spPr>
          <a:xfrm>
            <a:off x="552450" y="781050"/>
            <a:ext cx="10477500" cy="685800"/>
          </a:xfrm>
          <a:prstGeom prst="rect">
            <a:avLst/>
          </a:prstGeom>
          <a:noFill/>
          <a:ln w="0">
            <a:noFill/>
            <a:prstDash val="solid"/>
          </a:ln>
        </p:spPr>
        <p:txBody>
          <a:bodyPr/>
          <a:lstStyle/>
          <a:p>
            <a:pPr>
              <a:buNone/>
              <a:defRPr sz="3150" b="1">
                <a:solidFill>
                  <a:srgbClr val="12263A"/>
                </a:solidFill>
              </a:defRPr>
            </a:pPr>
            <a:r>
              <a:rPr sz="3150" b="1">
                <a:solidFill>
                  <a:srgbClr val="12263A"/>
                </a:solidFill>
              </a:rPr>
              <a:t>Group work fails quietly before it fails visibly.</a:t>
            </a:r>
          </a:p>
        </p:txBody>
      </p:sp>
      <p:sp>
        <p:nvSpPr>
          <p:cNvPr id="3" name="矩形 2">
            <a:extLst>
              <a:ext uri="{FF2B5EF4-FFF2-40B4-BE49-F238E27FC236}">
                <a16:creationId xmlns:a16="http://schemas.microsoft.com/office/drawing/2014/main" id="{66DC2D34-3AE0-4D38-AB8A-C1363109797B}"/>
              </a:ext>
            </a:extLst>
          </p:cNvPr>
          <p:cNvSpPr>
            <a:spLocks noGrp="1"/>
          </p:cNvSpPr>
          <p:nvPr/>
        </p:nvSpPr>
        <p:spPr>
          <a:xfrm>
            <a:off x="552450" y="1524000"/>
            <a:ext cx="11087100" cy="28575"/>
          </a:xfrm>
          <a:prstGeom prst="rect">
            <a:avLst/>
          </a:prstGeom>
          <a:solidFill>
            <a:srgbClr val="2774C7"/>
          </a:solidFill>
          <a:ln w="0">
            <a:noFill/>
            <a:prstDash val="solid"/>
          </a:ln>
        </p:spPr>
        <p:txBody>
          <a:bodyPr/>
          <a:lstStyle/>
          <a:p>
            <a:endParaRPr lang="zh-CN" altLang="en-US"/>
          </a:p>
        </p:txBody>
      </p:sp>
      <p:sp>
        <p:nvSpPr>
          <p:cNvPr id="4" name="矩形 3">
            <a:extLst>
              <a:ext uri="{FF2B5EF4-FFF2-40B4-BE49-F238E27FC236}">
                <a16:creationId xmlns:a16="http://schemas.microsoft.com/office/drawing/2014/main" id="{7738EF5D-AE28-4554-8575-48A87A1D3F9A}"/>
              </a:ext>
            </a:extLst>
          </p:cNvPr>
          <p:cNvSpPr>
            <a:spLocks noGrp="1"/>
          </p:cNvSpPr>
          <p:nvPr/>
        </p:nvSpPr>
        <p:spPr>
          <a:xfrm>
            <a:off x="552450" y="1657350"/>
            <a:ext cx="10477500" cy="361950"/>
          </a:xfrm>
          <a:prstGeom prst="rect">
            <a:avLst/>
          </a:prstGeom>
          <a:noFill/>
          <a:ln w="0">
            <a:noFill/>
            <a:prstDash val="solid"/>
          </a:ln>
        </p:spPr>
        <p:txBody>
          <a:bodyPr/>
          <a:lstStyle/>
          <a:p>
            <a:pPr>
              <a:buNone/>
              <a:defRPr sz="1275" b="0">
                <a:solidFill>
                  <a:srgbClr val="667482"/>
                </a:solidFill>
              </a:defRPr>
            </a:pPr>
            <a:r>
              <a:rPr sz="1275" b="0">
                <a:solidFill>
                  <a:srgbClr val="667482"/>
                </a:solidFill>
              </a:rPr>
              <a:t>Two disconnected problems reinforce each other.</a:t>
            </a:r>
          </a:p>
        </p:txBody>
      </p:sp>
      <p:sp>
        <p:nvSpPr>
          <p:cNvPr id="5" name="矩形: 圆角 4">
            <a:extLst>
              <a:ext uri="{FF2B5EF4-FFF2-40B4-BE49-F238E27FC236}">
                <a16:creationId xmlns:a16="http://schemas.microsoft.com/office/drawing/2014/main" id="{8AE43767-6473-4078-986D-7C4F22ACF095}"/>
              </a:ext>
            </a:extLst>
          </p:cNvPr>
          <p:cNvSpPr>
            <a:spLocks noGrp="1"/>
          </p:cNvSpPr>
          <p:nvPr/>
        </p:nvSpPr>
        <p:spPr>
          <a:xfrm>
            <a:off x="552450" y="2247900"/>
            <a:ext cx="5219700" cy="3371850"/>
          </a:xfrm>
          <a:prstGeom prst="roundRect">
            <a:avLst>
              <a:gd name="adj" fmla="val 5085"/>
            </a:avLst>
          </a:prstGeom>
          <a:solidFill>
            <a:srgbClr val="FFFFFF"/>
          </a:solidFill>
          <a:ln w="9525">
            <a:solidFill>
              <a:srgbClr val="CBD5DF"/>
            </a:solidFill>
            <a:prstDash val="solid"/>
          </a:ln>
        </p:spPr>
        <p:txBody>
          <a:bodyPr/>
          <a:lstStyle/>
          <a:p>
            <a:endParaRPr lang="zh-CN" altLang="en-US"/>
          </a:p>
        </p:txBody>
      </p:sp>
      <p:sp>
        <p:nvSpPr>
          <p:cNvPr id="6" name="矩形: 圆角 5">
            <a:extLst>
              <a:ext uri="{FF2B5EF4-FFF2-40B4-BE49-F238E27FC236}">
                <a16:creationId xmlns:a16="http://schemas.microsoft.com/office/drawing/2014/main" id="{6EAA7248-5EF5-412B-AE83-E5C7229833BE}"/>
              </a:ext>
            </a:extLst>
          </p:cNvPr>
          <p:cNvSpPr>
            <a:spLocks noGrp="1"/>
          </p:cNvSpPr>
          <p:nvPr/>
        </p:nvSpPr>
        <p:spPr>
          <a:xfrm>
            <a:off x="5943600" y="2247900"/>
            <a:ext cx="5695950" cy="3371850"/>
          </a:xfrm>
          <a:prstGeom prst="roundRect">
            <a:avLst>
              <a:gd name="adj" fmla="val 5085"/>
            </a:avLst>
          </a:prstGeom>
          <a:solidFill>
            <a:srgbClr val="12263A"/>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F5BF48FC-E8EA-4156-8D50-0AE74D950649}"/>
              </a:ext>
            </a:extLst>
          </p:cNvPr>
          <p:cNvSpPr>
            <a:spLocks noGrp="1"/>
          </p:cNvSpPr>
          <p:nvPr/>
        </p:nvSpPr>
        <p:spPr>
          <a:xfrm>
            <a:off x="876300" y="2571750"/>
            <a:ext cx="2381250" cy="266700"/>
          </a:xfrm>
          <a:prstGeom prst="rect">
            <a:avLst/>
          </a:prstGeom>
          <a:noFill/>
          <a:ln w="0">
            <a:noFill/>
            <a:prstDash val="solid"/>
          </a:ln>
        </p:spPr>
        <p:txBody>
          <a:bodyPr/>
          <a:lstStyle/>
          <a:p>
            <a:pPr>
              <a:buNone/>
              <a:defRPr sz="1050" b="1">
                <a:solidFill>
                  <a:srgbClr val="2774C7"/>
                </a:solidFill>
              </a:defRPr>
            </a:pPr>
            <a:r>
              <a:rPr sz="1050" b="1">
                <a:solidFill>
                  <a:srgbClr val="2774C7"/>
                </a:solidFill>
              </a:rPr>
              <a:t>COORDINATION</a:t>
            </a:r>
          </a:p>
        </p:txBody>
      </p:sp>
      <p:sp>
        <p:nvSpPr>
          <p:cNvPr id="8" name="矩形 7">
            <a:extLst>
              <a:ext uri="{FF2B5EF4-FFF2-40B4-BE49-F238E27FC236}">
                <a16:creationId xmlns:a16="http://schemas.microsoft.com/office/drawing/2014/main" id="{8EAD0893-9FCF-4274-AA7E-273C10C5A078}"/>
              </a:ext>
            </a:extLst>
          </p:cNvPr>
          <p:cNvSpPr>
            <a:spLocks noGrp="1"/>
          </p:cNvSpPr>
          <p:nvPr/>
        </p:nvSpPr>
        <p:spPr>
          <a:xfrm>
            <a:off x="876300" y="3028950"/>
            <a:ext cx="4000500" cy="1257300"/>
          </a:xfrm>
          <a:prstGeom prst="rect">
            <a:avLst/>
          </a:prstGeom>
          <a:noFill/>
          <a:ln w="0">
            <a:noFill/>
            <a:prstDash val="solid"/>
          </a:ln>
        </p:spPr>
        <p:txBody>
          <a:bodyPr/>
          <a:lstStyle/>
          <a:p>
            <a:pPr>
              <a:buNone/>
              <a:defRPr sz="2400" b="1">
                <a:solidFill>
                  <a:srgbClr val="12263A"/>
                </a:solidFill>
              </a:defRPr>
            </a:pPr>
            <a:r>
              <a:rPr sz="2400" b="1">
                <a:solidFill>
                  <a:srgbClr val="12263A"/>
                </a:solidFill>
              </a:rPr>
              <a:t>Work is split across</a:t>
            </a:r>
          </a:p>
          <a:p>
            <a:pPr>
              <a:buNone/>
              <a:defRPr sz="2400" b="1">
                <a:solidFill>
                  <a:srgbClr val="12263A"/>
                </a:solidFill>
              </a:defRPr>
            </a:pPr>
            <a:r>
              <a:rPr sz="2400" b="1">
                <a:solidFill>
                  <a:srgbClr val="12263A"/>
                </a:solidFill>
              </a:rPr>
              <a:t>chat, calendars and</a:t>
            </a:r>
          </a:p>
          <a:p>
            <a:pPr>
              <a:buNone/>
              <a:defRPr sz="2400" b="1">
                <a:solidFill>
                  <a:srgbClr val="12263A"/>
                </a:solidFill>
              </a:defRPr>
            </a:pPr>
            <a:r>
              <a:rPr sz="2400" b="1">
                <a:solidFill>
                  <a:srgbClr val="12263A"/>
                </a:solidFill>
              </a:rPr>
              <a:t>task lists.</a:t>
            </a:r>
          </a:p>
        </p:txBody>
      </p:sp>
      <p:sp>
        <p:nvSpPr>
          <p:cNvPr id="9" name="矩形 8">
            <a:extLst>
              <a:ext uri="{FF2B5EF4-FFF2-40B4-BE49-F238E27FC236}">
                <a16:creationId xmlns:a16="http://schemas.microsoft.com/office/drawing/2014/main" id="{929364B8-2FCE-4C96-BA1B-F3191FC49C3A}"/>
              </a:ext>
            </a:extLst>
          </p:cNvPr>
          <p:cNvSpPr>
            <a:spLocks noGrp="1"/>
          </p:cNvSpPr>
          <p:nvPr/>
        </p:nvSpPr>
        <p:spPr>
          <a:xfrm>
            <a:off x="876300" y="4610100"/>
            <a:ext cx="4000500" cy="552450"/>
          </a:xfrm>
          <a:prstGeom prst="rect">
            <a:avLst/>
          </a:prstGeom>
          <a:noFill/>
          <a:ln w="0">
            <a:noFill/>
            <a:prstDash val="solid"/>
          </a:ln>
        </p:spPr>
        <p:txBody>
          <a:bodyPr/>
          <a:lstStyle/>
          <a:p>
            <a:pPr>
              <a:buNone/>
              <a:defRPr sz="1425" b="0">
                <a:solidFill>
                  <a:srgbClr val="667482"/>
                </a:solidFill>
              </a:defRPr>
            </a:pPr>
            <a:r>
              <a:rPr sz="1425" b="0">
                <a:solidFill>
                  <a:srgbClr val="667482"/>
                </a:solidFill>
              </a:rPr>
              <a:t>Status becomes stale. Blockers surface near submission.</a:t>
            </a:r>
          </a:p>
        </p:txBody>
      </p:sp>
      <p:sp>
        <p:nvSpPr>
          <p:cNvPr id="10" name="矩形 9">
            <a:extLst>
              <a:ext uri="{FF2B5EF4-FFF2-40B4-BE49-F238E27FC236}">
                <a16:creationId xmlns:a16="http://schemas.microsoft.com/office/drawing/2014/main" id="{82833E7F-263D-47EC-BCE9-62AC9AC42E5F}"/>
              </a:ext>
            </a:extLst>
          </p:cNvPr>
          <p:cNvSpPr>
            <a:spLocks noGrp="1"/>
          </p:cNvSpPr>
          <p:nvPr/>
        </p:nvSpPr>
        <p:spPr>
          <a:xfrm>
            <a:off x="6305550" y="2571750"/>
            <a:ext cx="2381250" cy="266700"/>
          </a:xfrm>
          <a:prstGeom prst="rect">
            <a:avLst/>
          </a:prstGeom>
          <a:noFill/>
          <a:ln w="0">
            <a:noFill/>
            <a:prstDash val="solid"/>
          </a:ln>
        </p:spPr>
        <p:txBody>
          <a:bodyPr/>
          <a:lstStyle/>
          <a:p>
            <a:pPr>
              <a:buNone/>
              <a:defRPr sz="1050" b="1">
                <a:solidFill>
                  <a:srgbClr val="BFE2D4"/>
                </a:solidFill>
              </a:defRPr>
            </a:pPr>
            <a:r>
              <a:rPr sz="1050" b="1">
                <a:solidFill>
                  <a:srgbClr val="BFE2D4"/>
                </a:solidFill>
              </a:rPr>
              <a:t>CONTRIBUTION</a:t>
            </a:r>
          </a:p>
        </p:txBody>
      </p:sp>
      <p:sp>
        <p:nvSpPr>
          <p:cNvPr id="11" name="矩形 10">
            <a:extLst>
              <a:ext uri="{FF2B5EF4-FFF2-40B4-BE49-F238E27FC236}">
                <a16:creationId xmlns:a16="http://schemas.microsoft.com/office/drawing/2014/main" id="{86AFF03F-9C1B-45F5-8AEF-B3116DB81FB2}"/>
              </a:ext>
            </a:extLst>
          </p:cNvPr>
          <p:cNvSpPr>
            <a:spLocks noGrp="1"/>
          </p:cNvSpPr>
          <p:nvPr/>
        </p:nvSpPr>
        <p:spPr>
          <a:xfrm>
            <a:off x="6305550" y="3028950"/>
            <a:ext cx="4095750" cy="1257300"/>
          </a:xfrm>
          <a:prstGeom prst="rect">
            <a:avLst/>
          </a:prstGeom>
          <a:noFill/>
          <a:ln w="0">
            <a:noFill/>
            <a:prstDash val="solid"/>
          </a:ln>
        </p:spPr>
        <p:txBody>
          <a:bodyPr/>
          <a:lstStyle/>
          <a:p>
            <a:pPr>
              <a:buNone/>
              <a:defRPr sz="2400" b="1">
                <a:solidFill>
                  <a:srgbClr val="FFFFFF"/>
                </a:solidFill>
              </a:defRPr>
            </a:pPr>
            <a:r>
              <a:rPr sz="2400" b="1">
                <a:solidFill>
                  <a:srgbClr val="FFFFFF"/>
                </a:solidFill>
              </a:rPr>
              <a:t>Teams reconstruct</a:t>
            </a:r>
          </a:p>
          <a:p>
            <a:pPr>
              <a:buNone/>
              <a:defRPr sz="2400" b="1">
                <a:solidFill>
                  <a:srgbClr val="FFFFFF"/>
                </a:solidFill>
              </a:defRPr>
            </a:pPr>
            <a:r>
              <a:rPr sz="2400" b="1">
                <a:solidFill>
                  <a:srgbClr val="FFFFFF"/>
                </a:solidFill>
              </a:rPr>
              <a:t>who did what from</a:t>
            </a:r>
          </a:p>
          <a:p>
            <a:pPr>
              <a:buNone/>
              <a:defRPr sz="2400" b="1">
                <a:solidFill>
                  <a:srgbClr val="FFFFFF"/>
                </a:solidFill>
              </a:defRPr>
            </a:pPr>
            <a:r>
              <a:rPr sz="2400" b="1">
                <a:solidFill>
                  <a:srgbClr val="FFFFFF"/>
                </a:solidFill>
              </a:rPr>
              <a:t>memory.</a:t>
            </a:r>
          </a:p>
        </p:txBody>
      </p:sp>
      <p:sp>
        <p:nvSpPr>
          <p:cNvPr id="12" name="矩形 11">
            <a:extLst>
              <a:ext uri="{FF2B5EF4-FFF2-40B4-BE49-F238E27FC236}">
                <a16:creationId xmlns:a16="http://schemas.microsoft.com/office/drawing/2014/main" id="{75E4427E-FE3B-44E3-B004-C3621A69A8D4}"/>
              </a:ext>
            </a:extLst>
          </p:cNvPr>
          <p:cNvSpPr>
            <a:spLocks noGrp="1"/>
          </p:cNvSpPr>
          <p:nvPr/>
        </p:nvSpPr>
        <p:spPr>
          <a:xfrm>
            <a:off x="6305550" y="4610100"/>
            <a:ext cx="4095750" cy="552450"/>
          </a:xfrm>
          <a:prstGeom prst="rect">
            <a:avLst/>
          </a:prstGeom>
          <a:noFill/>
          <a:ln w="0">
            <a:noFill/>
            <a:prstDash val="solid"/>
          </a:ln>
        </p:spPr>
        <p:txBody>
          <a:bodyPr/>
          <a:lstStyle/>
          <a:p>
            <a:pPr>
              <a:buNone/>
              <a:defRPr sz="1425" b="0">
                <a:solidFill>
                  <a:srgbClr val="D8E3EC"/>
                </a:solidFill>
              </a:defRPr>
            </a:pPr>
            <a:r>
              <a:rPr sz="1425" b="0">
                <a:solidFill>
                  <a:srgbClr val="D8E3EC"/>
                </a:solidFill>
              </a:rPr>
              <a:t>Late disputes lack shared facts and context.</a:t>
            </a:r>
          </a:p>
        </p:txBody>
      </p:sp>
      <p:sp>
        <p:nvSpPr>
          <p:cNvPr id="13" name="矩形: 圆角 12">
            <a:extLst>
              <a:ext uri="{FF2B5EF4-FFF2-40B4-BE49-F238E27FC236}">
                <a16:creationId xmlns:a16="http://schemas.microsoft.com/office/drawing/2014/main" id="{0CD73F75-D60A-4B0F-8E9D-C38962095C1D}"/>
              </a:ext>
            </a:extLst>
          </p:cNvPr>
          <p:cNvSpPr>
            <a:spLocks noGrp="1"/>
          </p:cNvSpPr>
          <p:nvPr/>
        </p:nvSpPr>
        <p:spPr>
          <a:xfrm>
            <a:off x="4895850" y="5219700"/>
            <a:ext cx="1847850" cy="400050"/>
          </a:xfrm>
          <a:prstGeom prst="roundRect">
            <a:avLst>
              <a:gd name="adj" fmla="val 47619"/>
            </a:avLst>
          </a:prstGeom>
          <a:solidFill>
            <a:srgbClr val="E96B4B"/>
          </a:solidFill>
          <a:ln w="0">
            <a:noFill/>
            <a:prstDash val="solid"/>
          </a:ln>
        </p:spPr>
        <p:txBody>
          <a:bodyPr/>
          <a:lstStyle/>
          <a:p>
            <a:endParaRPr lang="zh-CN" altLang="en-US"/>
          </a:p>
        </p:txBody>
      </p:sp>
      <p:sp>
        <p:nvSpPr>
          <p:cNvPr id="14" name="矩形 13">
            <a:extLst>
              <a:ext uri="{FF2B5EF4-FFF2-40B4-BE49-F238E27FC236}">
                <a16:creationId xmlns:a16="http://schemas.microsoft.com/office/drawing/2014/main" id="{18A7AA61-898D-4596-B22F-09AE61CEF99C}"/>
              </a:ext>
            </a:extLst>
          </p:cNvPr>
          <p:cNvSpPr>
            <a:spLocks noGrp="1"/>
          </p:cNvSpPr>
          <p:nvPr/>
        </p:nvSpPr>
        <p:spPr>
          <a:xfrm>
            <a:off x="5133975" y="5324475"/>
            <a:ext cx="1524000" cy="209550"/>
          </a:xfrm>
          <a:prstGeom prst="rect">
            <a:avLst/>
          </a:prstGeom>
          <a:noFill/>
          <a:ln w="0">
            <a:noFill/>
            <a:prstDash val="solid"/>
          </a:ln>
        </p:spPr>
        <p:txBody>
          <a:bodyPr/>
          <a:lstStyle/>
          <a:p>
            <a:pPr>
              <a:buNone/>
              <a:defRPr sz="975" b="1">
                <a:solidFill>
                  <a:srgbClr val="FFFFFF"/>
                </a:solidFill>
              </a:defRPr>
            </a:pPr>
            <a:r>
              <a:rPr sz="975" b="1">
                <a:solidFill>
                  <a:srgbClr val="FFFFFF"/>
                </a:solidFill>
              </a:rPr>
              <a:t>ONE WORKFLOW</a:t>
            </a:r>
          </a:p>
        </p:txBody>
      </p:sp>
      <p:sp>
        <p:nvSpPr>
          <p:cNvPr id="15" name="矩形 14">
            <a:extLst>
              <a:ext uri="{FF2B5EF4-FFF2-40B4-BE49-F238E27FC236}">
                <a16:creationId xmlns:a16="http://schemas.microsoft.com/office/drawing/2014/main" id="{2BC45DE2-3B63-4359-8717-AEEA3EB6A22E}"/>
              </a:ext>
            </a:extLst>
          </p:cNvPr>
          <p:cNvSpPr>
            <a:spLocks noGrp="1"/>
          </p:cNvSpPr>
          <p:nvPr/>
        </p:nvSpPr>
        <p:spPr>
          <a:xfrm>
            <a:off x="552450" y="6496050"/>
            <a:ext cx="4953000" cy="190500"/>
          </a:xfrm>
          <a:prstGeom prst="rect">
            <a:avLst/>
          </a:prstGeom>
          <a:noFill/>
          <a:ln w="0">
            <a:noFill/>
            <a:prstDash val="solid"/>
          </a:ln>
        </p:spPr>
        <p:txBody>
          <a:bodyPr/>
          <a:lstStyle/>
          <a:p>
            <a:pPr>
              <a:buNone/>
              <a:defRPr sz="825" b="1">
                <a:solidFill>
                  <a:srgbClr val="667482"/>
                </a:solidFill>
              </a:defRPr>
            </a:pPr>
            <a:r>
              <a:rPr sz="825" b="1" dirty="0">
                <a:solidFill>
                  <a:srgbClr val="667482"/>
                </a:solidFill>
              </a:rPr>
              <a:t>STUDYCREW  |  ELEC3609  |  GROUP 0</a:t>
            </a:r>
            <a:r>
              <a:rPr lang="en-US" sz="825" b="1" dirty="0">
                <a:solidFill>
                  <a:srgbClr val="667482"/>
                </a:solidFill>
              </a:rPr>
              <a:t>6</a:t>
            </a:r>
            <a:endParaRPr sz="825" b="1" dirty="0">
              <a:solidFill>
                <a:srgbClr val="667482"/>
              </a:solidFill>
            </a:endParaRPr>
          </a:p>
        </p:txBody>
      </p:sp>
      <p:sp>
        <p:nvSpPr>
          <p:cNvPr id="16" name="矩形 15">
            <a:extLst>
              <a:ext uri="{FF2B5EF4-FFF2-40B4-BE49-F238E27FC236}">
                <a16:creationId xmlns:a16="http://schemas.microsoft.com/office/drawing/2014/main" id="{819FE89D-4DCC-471C-8E67-369AEEFFE790}"/>
              </a:ext>
            </a:extLst>
          </p:cNvPr>
          <p:cNvSpPr>
            <a:spLocks noGrp="1"/>
          </p:cNvSpPr>
          <p:nvPr/>
        </p:nvSpPr>
        <p:spPr>
          <a:xfrm>
            <a:off x="11125200" y="6496050"/>
            <a:ext cx="514350" cy="190500"/>
          </a:xfrm>
          <a:prstGeom prst="rect">
            <a:avLst/>
          </a:prstGeom>
          <a:noFill/>
          <a:ln w="0">
            <a:noFill/>
            <a:prstDash val="solid"/>
          </a:ln>
        </p:spPr>
        <p:txBody>
          <a:bodyPr/>
          <a:lstStyle/>
          <a:p>
            <a:pPr>
              <a:buNone/>
              <a:defRPr sz="825" b="1">
                <a:solidFill>
                  <a:srgbClr val="667482"/>
                </a:solidFill>
              </a:defRPr>
            </a:pPr>
            <a:r>
              <a:rPr sz="825" b="1">
                <a:solidFill>
                  <a:srgbClr val="667482"/>
                </a:solidFill>
              </a:rPr>
              <a:t>02</a:t>
            </a:r>
          </a:p>
        </p:txBody>
      </p:sp>
    </p:spTree>
    <p:extLst>
      <p:ext uri="{BB962C8B-B14F-4D97-AF65-F5344CB8AC3E}">
        <p14:creationId xmlns:p14="http://schemas.microsoft.com/office/powerpoint/2010/main" val="1052043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FB398898-82BF-4112-B1EE-EE5DB2815B47}"/>
              </a:ext>
            </a:extLst>
          </p:cNvPr>
          <p:cNvSpPr>
            <a:spLocks noGrp="1"/>
          </p:cNvSpPr>
          <p:nvPr/>
        </p:nvSpPr>
        <p:spPr>
          <a:xfrm>
            <a:off x="9525000" y="400050"/>
            <a:ext cx="2114550" cy="228600"/>
          </a:xfrm>
          <a:prstGeom prst="rect">
            <a:avLst/>
          </a:prstGeom>
          <a:noFill/>
          <a:ln w="0">
            <a:noFill/>
            <a:prstDash val="solid"/>
          </a:ln>
        </p:spPr>
        <p:txBody>
          <a:bodyPr/>
          <a:lstStyle/>
          <a:p>
            <a:pPr>
              <a:buNone/>
              <a:defRPr sz="1125" b="1">
                <a:solidFill>
                  <a:srgbClr val="2774C7"/>
                </a:solidFill>
              </a:defRPr>
            </a:pPr>
            <a:r>
              <a:rPr sz="1125" b="1">
                <a:solidFill>
                  <a:srgbClr val="2774C7"/>
                </a:solidFill>
              </a:rPr>
              <a:t>02 / RESPONSE</a:t>
            </a:r>
          </a:p>
        </p:txBody>
      </p:sp>
      <p:sp>
        <p:nvSpPr>
          <p:cNvPr id="2" name="矩形 1">
            <a:extLst>
              <a:ext uri="{FF2B5EF4-FFF2-40B4-BE49-F238E27FC236}">
                <a16:creationId xmlns:a16="http://schemas.microsoft.com/office/drawing/2014/main" id="{DCAF7D40-152E-456B-A594-A7C4080FAB1D}"/>
              </a:ext>
            </a:extLst>
          </p:cNvPr>
          <p:cNvSpPr>
            <a:spLocks noGrp="1"/>
          </p:cNvSpPr>
          <p:nvPr/>
        </p:nvSpPr>
        <p:spPr>
          <a:xfrm>
            <a:off x="552450" y="781050"/>
            <a:ext cx="10477500" cy="685800"/>
          </a:xfrm>
          <a:prstGeom prst="rect">
            <a:avLst/>
          </a:prstGeom>
          <a:noFill/>
          <a:ln w="0">
            <a:noFill/>
            <a:prstDash val="solid"/>
          </a:ln>
        </p:spPr>
        <p:txBody>
          <a:bodyPr/>
          <a:lstStyle/>
          <a:p>
            <a:pPr>
              <a:buNone/>
              <a:defRPr sz="3150" b="1">
                <a:solidFill>
                  <a:srgbClr val="12263A"/>
                </a:solidFill>
              </a:defRPr>
            </a:pPr>
            <a:r>
              <a:rPr sz="3150" b="1">
                <a:solidFill>
                  <a:srgbClr val="12263A"/>
                </a:solidFill>
              </a:rPr>
              <a:t>A simple loop: plan, coordinate, review evidence.</a:t>
            </a:r>
          </a:p>
        </p:txBody>
      </p:sp>
      <p:sp>
        <p:nvSpPr>
          <p:cNvPr id="3" name="矩形 2">
            <a:extLst>
              <a:ext uri="{FF2B5EF4-FFF2-40B4-BE49-F238E27FC236}">
                <a16:creationId xmlns:a16="http://schemas.microsoft.com/office/drawing/2014/main" id="{8771E619-78CA-4510-80E3-D722A0D853E8}"/>
              </a:ext>
            </a:extLst>
          </p:cNvPr>
          <p:cNvSpPr>
            <a:spLocks noGrp="1"/>
          </p:cNvSpPr>
          <p:nvPr/>
        </p:nvSpPr>
        <p:spPr>
          <a:xfrm>
            <a:off x="552450" y="1524000"/>
            <a:ext cx="11087100" cy="28575"/>
          </a:xfrm>
          <a:prstGeom prst="rect">
            <a:avLst/>
          </a:prstGeom>
          <a:solidFill>
            <a:srgbClr val="2774C7"/>
          </a:solidFill>
          <a:ln w="0">
            <a:noFill/>
            <a:prstDash val="solid"/>
          </a:ln>
        </p:spPr>
        <p:txBody>
          <a:bodyPr/>
          <a:lstStyle/>
          <a:p>
            <a:endParaRPr lang="zh-CN" altLang="en-US"/>
          </a:p>
        </p:txBody>
      </p:sp>
      <p:sp>
        <p:nvSpPr>
          <p:cNvPr id="4" name="矩形 3">
            <a:extLst>
              <a:ext uri="{FF2B5EF4-FFF2-40B4-BE49-F238E27FC236}">
                <a16:creationId xmlns:a16="http://schemas.microsoft.com/office/drawing/2014/main" id="{591D5560-663D-490A-B77B-DB0AA32B1B6B}"/>
              </a:ext>
            </a:extLst>
          </p:cNvPr>
          <p:cNvSpPr>
            <a:spLocks noGrp="1"/>
          </p:cNvSpPr>
          <p:nvPr/>
        </p:nvSpPr>
        <p:spPr>
          <a:xfrm>
            <a:off x="552450" y="1657350"/>
            <a:ext cx="10477500" cy="361950"/>
          </a:xfrm>
          <a:prstGeom prst="rect">
            <a:avLst/>
          </a:prstGeom>
          <a:noFill/>
          <a:ln w="0">
            <a:noFill/>
            <a:prstDash val="solid"/>
          </a:ln>
        </p:spPr>
        <p:txBody>
          <a:bodyPr/>
          <a:lstStyle/>
          <a:p>
            <a:pPr>
              <a:buNone/>
              <a:defRPr sz="1275" b="0">
                <a:solidFill>
                  <a:srgbClr val="667482"/>
                </a:solidFill>
              </a:defRPr>
            </a:pPr>
            <a:r>
              <a:rPr sz="1275" b="0">
                <a:solidFill>
                  <a:srgbClr val="667482"/>
                </a:solidFill>
              </a:rPr>
              <a:t>Every meaningful action retains its context.</a:t>
            </a:r>
          </a:p>
        </p:txBody>
      </p:sp>
      <p:sp>
        <p:nvSpPr>
          <p:cNvPr id="5" name="矩形: 圆角 4">
            <a:extLst>
              <a:ext uri="{FF2B5EF4-FFF2-40B4-BE49-F238E27FC236}">
                <a16:creationId xmlns:a16="http://schemas.microsoft.com/office/drawing/2014/main" id="{A42056F3-9113-4CCB-B41D-762C93954980}"/>
              </a:ext>
            </a:extLst>
          </p:cNvPr>
          <p:cNvSpPr>
            <a:spLocks noGrp="1"/>
          </p:cNvSpPr>
          <p:nvPr/>
        </p:nvSpPr>
        <p:spPr>
          <a:xfrm>
            <a:off x="552450" y="2343150"/>
            <a:ext cx="3105150" cy="2724150"/>
          </a:xfrm>
          <a:prstGeom prst="roundRect">
            <a:avLst>
              <a:gd name="adj" fmla="val 6294"/>
            </a:avLst>
          </a:prstGeom>
          <a:solidFill>
            <a:srgbClr val="FFFFFF"/>
          </a:solidFill>
          <a:ln w="9525">
            <a:solidFill>
              <a:srgbClr val="CBD5DF"/>
            </a:solidFill>
            <a:prstDash val="solid"/>
          </a:ln>
        </p:spPr>
        <p:txBody>
          <a:bodyPr/>
          <a:lstStyle/>
          <a:p>
            <a:endParaRPr lang="zh-CN" altLang="en-US"/>
          </a:p>
        </p:txBody>
      </p:sp>
      <p:sp>
        <p:nvSpPr>
          <p:cNvPr id="6" name="矩形 5">
            <a:extLst>
              <a:ext uri="{FF2B5EF4-FFF2-40B4-BE49-F238E27FC236}">
                <a16:creationId xmlns:a16="http://schemas.microsoft.com/office/drawing/2014/main" id="{8AADCA42-A283-4BDE-90D7-DB6AE59E54CD}"/>
              </a:ext>
            </a:extLst>
          </p:cNvPr>
          <p:cNvSpPr>
            <a:spLocks noGrp="1"/>
          </p:cNvSpPr>
          <p:nvPr/>
        </p:nvSpPr>
        <p:spPr>
          <a:xfrm>
            <a:off x="819150" y="2590800"/>
            <a:ext cx="628650" cy="342900"/>
          </a:xfrm>
          <a:prstGeom prst="rect">
            <a:avLst/>
          </a:prstGeom>
          <a:noFill/>
          <a:ln w="0">
            <a:noFill/>
            <a:prstDash val="solid"/>
          </a:ln>
        </p:spPr>
        <p:txBody>
          <a:bodyPr/>
          <a:lstStyle/>
          <a:p>
            <a:pPr>
              <a:buNone/>
              <a:defRPr sz="1275" b="1">
                <a:solidFill>
                  <a:srgbClr val="E96B4B"/>
                </a:solidFill>
              </a:defRPr>
            </a:pPr>
            <a:r>
              <a:rPr sz="1275" b="1">
                <a:solidFill>
                  <a:srgbClr val="E96B4B"/>
                </a:solidFill>
              </a:rPr>
              <a:t>01</a:t>
            </a:r>
          </a:p>
        </p:txBody>
      </p:sp>
      <p:sp>
        <p:nvSpPr>
          <p:cNvPr id="7" name="矩形 6">
            <a:extLst>
              <a:ext uri="{FF2B5EF4-FFF2-40B4-BE49-F238E27FC236}">
                <a16:creationId xmlns:a16="http://schemas.microsoft.com/office/drawing/2014/main" id="{84917130-74F6-4219-A39C-CC4CD0CB1966}"/>
              </a:ext>
            </a:extLst>
          </p:cNvPr>
          <p:cNvSpPr>
            <a:spLocks noGrp="1"/>
          </p:cNvSpPr>
          <p:nvPr/>
        </p:nvSpPr>
        <p:spPr>
          <a:xfrm>
            <a:off x="819150" y="3105150"/>
            <a:ext cx="2381250" cy="361950"/>
          </a:xfrm>
          <a:prstGeom prst="rect">
            <a:avLst/>
          </a:prstGeom>
          <a:noFill/>
          <a:ln w="0">
            <a:noFill/>
            <a:prstDash val="solid"/>
          </a:ln>
        </p:spPr>
        <p:txBody>
          <a:bodyPr/>
          <a:lstStyle/>
          <a:p>
            <a:pPr>
              <a:buNone/>
              <a:defRPr sz="2025" b="1">
                <a:solidFill>
                  <a:srgbClr val="12263A"/>
                </a:solidFill>
              </a:defRPr>
            </a:pPr>
            <a:r>
              <a:rPr sz="2025" b="1">
                <a:solidFill>
                  <a:srgbClr val="12263A"/>
                </a:solidFill>
              </a:rPr>
              <a:t>PLAN</a:t>
            </a:r>
          </a:p>
        </p:txBody>
      </p:sp>
      <p:sp>
        <p:nvSpPr>
          <p:cNvPr id="8" name="矩形 7">
            <a:extLst>
              <a:ext uri="{FF2B5EF4-FFF2-40B4-BE49-F238E27FC236}">
                <a16:creationId xmlns:a16="http://schemas.microsoft.com/office/drawing/2014/main" id="{7345BDFB-62A7-4856-8749-FF9EB9A57505}"/>
              </a:ext>
            </a:extLst>
          </p:cNvPr>
          <p:cNvSpPr>
            <a:spLocks noGrp="1"/>
          </p:cNvSpPr>
          <p:nvPr/>
        </p:nvSpPr>
        <p:spPr>
          <a:xfrm>
            <a:off x="819150" y="3657600"/>
            <a:ext cx="2476500" cy="1066800"/>
          </a:xfrm>
          <a:prstGeom prst="rect">
            <a:avLst/>
          </a:prstGeom>
          <a:noFill/>
          <a:ln w="0">
            <a:noFill/>
            <a:prstDash val="solid"/>
          </a:ln>
        </p:spPr>
        <p:txBody>
          <a:bodyPr/>
          <a:lstStyle/>
          <a:p>
            <a:pPr>
              <a:buNone/>
              <a:defRPr sz="1575" b="0">
                <a:solidFill>
                  <a:srgbClr val="667482"/>
                </a:solidFill>
              </a:defRPr>
            </a:pPr>
            <a:r>
              <a:rPr sz="1575" b="0">
                <a:solidFill>
                  <a:srgbClr val="667482"/>
                </a:solidFill>
              </a:rPr>
              <a:t>Create projects.</a:t>
            </a:r>
          </a:p>
          <a:p>
            <a:pPr>
              <a:buNone/>
              <a:defRPr sz="1575" b="0">
                <a:solidFill>
                  <a:srgbClr val="667482"/>
                </a:solidFill>
              </a:defRPr>
            </a:pPr>
            <a:r>
              <a:rPr sz="1575" b="0">
                <a:solidFill>
                  <a:srgbClr val="667482"/>
                </a:solidFill>
              </a:rPr>
              <a:t>Assign tasks.</a:t>
            </a:r>
          </a:p>
          <a:p>
            <a:pPr>
              <a:buNone/>
              <a:defRPr sz="1575" b="0">
                <a:solidFill>
                  <a:srgbClr val="667482"/>
                </a:solidFill>
              </a:defRPr>
            </a:pPr>
            <a:r>
              <a:rPr sz="1575" b="0">
                <a:solidFill>
                  <a:srgbClr val="667482"/>
                </a:solidFill>
              </a:rPr>
              <a:t>Set ownership.</a:t>
            </a:r>
          </a:p>
        </p:txBody>
      </p:sp>
      <p:sp>
        <p:nvSpPr>
          <p:cNvPr id="9" name="矩形: 圆角 8">
            <a:extLst>
              <a:ext uri="{FF2B5EF4-FFF2-40B4-BE49-F238E27FC236}">
                <a16:creationId xmlns:a16="http://schemas.microsoft.com/office/drawing/2014/main" id="{90D7DA2E-577C-454C-AF06-6F53DFBEC8BA}"/>
              </a:ext>
            </a:extLst>
          </p:cNvPr>
          <p:cNvSpPr>
            <a:spLocks noGrp="1"/>
          </p:cNvSpPr>
          <p:nvPr/>
        </p:nvSpPr>
        <p:spPr>
          <a:xfrm>
            <a:off x="4038600" y="2343150"/>
            <a:ext cx="3105150" cy="2724150"/>
          </a:xfrm>
          <a:prstGeom prst="roundRect">
            <a:avLst>
              <a:gd name="adj" fmla="val 6294"/>
            </a:avLst>
          </a:prstGeom>
          <a:solidFill>
            <a:srgbClr val="EAF2FA"/>
          </a:solidFill>
          <a:ln w="9525">
            <a:solidFill>
              <a:srgbClr val="CBD5DF"/>
            </a:solidFill>
            <a:prstDash val="solid"/>
          </a:ln>
        </p:spPr>
        <p:txBody>
          <a:bodyPr/>
          <a:lstStyle/>
          <a:p>
            <a:endParaRPr lang="zh-CN" altLang="en-US"/>
          </a:p>
        </p:txBody>
      </p:sp>
      <p:sp>
        <p:nvSpPr>
          <p:cNvPr id="10" name="矩形 9">
            <a:extLst>
              <a:ext uri="{FF2B5EF4-FFF2-40B4-BE49-F238E27FC236}">
                <a16:creationId xmlns:a16="http://schemas.microsoft.com/office/drawing/2014/main" id="{3CA560B0-4751-4751-B910-A2EBA8D46B9D}"/>
              </a:ext>
            </a:extLst>
          </p:cNvPr>
          <p:cNvSpPr>
            <a:spLocks noGrp="1"/>
          </p:cNvSpPr>
          <p:nvPr/>
        </p:nvSpPr>
        <p:spPr>
          <a:xfrm>
            <a:off x="4305300" y="2590800"/>
            <a:ext cx="628650" cy="342900"/>
          </a:xfrm>
          <a:prstGeom prst="rect">
            <a:avLst/>
          </a:prstGeom>
          <a:noFill/>
          <a:ln w="0">
            <a:noFill/>
            <a:prstDash val="solid"/>
          </a:ln>
        </p:spPr>
        <p:txBody>
          <a:bodyPr/>
          <a:lstStyle/>
          <a:p>
            <a:pPr>
              <a:buNone/>
              <a:defRPr sz="1275" b="1">
                <a:solidFill>
                  <a:srgbClr val="E96B4B"/>
                </a:solidFill>
              </a:defRPr>
            </a:pPr>
            <a:r>
              <a:rPr sz="1275" b="1">
                <a:solidFill>
                  <a:srgbClr val="E96B4B"/>
                </a:solidFill>
              </a:rPr>
              <a:t>02</a:t>
            </a:r>
          </a:p>
        </p:txBody>
      </p:sp>
      <p:sp>
        <p:nvSpPr>
          <p:cNvPr id="11" name="矩形 10">
            <a:extLst>
              <a:ext uri="{FF2B5EF4-FFF2-40B4-BE49-F238E27FC236}">
                <a16:creationId xmlns:a16="http://schemas.microsoft.com/office/drawing/2014/main" id="{FAC25ADE-62EF-4BF7-A501-A928C699099D}"/>
              </a:ext>
            </a:extLst>
          </p:cNvPr>
          <p:cNvSpPr>
            <a:spLocks noGrp="1"/>
          </p:cNvSpPr>
          <p:nvPr/>
        </p:nvSpPr>
        <p:spPr>
          <a:xfrm>
            <a:off x="4305300" y="3105150"/>
            <a:ext cx="2381250" cy="361950"/>
          </a:xfrm>
          <a:prstGeom prst="rect">
            <a:avLst/>
          </a:prstGeom>
          <a:noFill/>
          <a:ln w="0">
            <a:noFill/>
            <a:prstDash val="solid"/>
          </a:ln>
        </p:spPr>
        <p:txBody>
          <a:bodyPr/>
          <a:lstStyle/>
          <a:p>
            <a:pPr>
              <a:buNone/>
              <a:defRPr sz="2025" b="1">
                <a:solidFill>
                  <a:srgbClr val="12263A"/>
                </a:solidFill>
              </a:defRPr>
            </a:pPr>
            <a:r>
              <a:rPr sz="2025" b="1">
                <a:solidFill>
                  <a:srgbClr val="12263A"/>
                </a:solidFill>
              </a:rPr>
              <a:t>COORDINATE</a:t>
            </a:r>
          </a:p>
        </p:txBody>
      </p:sp>
      <p:sp>
        <p:nvSpPr>
          <p:cNvPr id="12" name="矩形 11">
            <a:extLst>
              <a:ext uri="{FF2B5EF4-FFF2-40B4-BE49-F238E27FC236}">
                <a16:creationId xmlns:a16="http://schemas.microsoft.com/office/drawing/2014/main" id="{76530A9C-3388-4C6E-A397-A83F028DD6C7}"/>
              </a:ext>
            </a:extLst>
          </p:cNvPr>
          <p:cNvSpPr>
            <a:spLocks noGrp="1"/>
          </p:cNvSpPr>
          <p:nvPr/>
        </p:nvSpPr>
        <p:spPr>
          <a:xfrm>
            <a:off x="4305300" y="3657600"/>
            <a:ext cx="2476500" cy="1066800"/>
          </a:xfrm>
          <a:prstGeom prst="rect">
            <a:avLst/>
          </a:prstGeom>
          <a:noFill/>
          <a:ln w="0">
            <a:noFill/>
            <a:prstDash val="solid"/>
          </a:ln>
        </p:spPr>
        <p:txBody>
          <a:bodyPr/>
          <a:lstStyle/>
          <a:p>
            <a:pPr>
              <a:buNone/>
              <a:defRPr sz="1575" b="0">
                <a:solidFill>
                  <a:srgbClr val="667482"/>
                </a:solidFill>
              </a:defRPr>
            </a:pPr>
            <a:r>
              <a:rPr sz="1575" b="0">
                <a:solidFill>
                  <a:srgbClr val="667482"/>
                </a:solidFill>
              </a:rPr>
              <a:t>Progress work.</a:t>
            </a:r>
          </a:p>
          <a:p>
            <a:pPr>
              <a:buNone/>
              <a:defRPr sz="1575" b="0">
                <a:solidFill>
                  <a:srgbClr val="667482"/>
                </a:solidFill>
              </a:defRPr>
            </a:pPr>
            <a:r>
              <a:rPr sz="1575" b="0">
                <a:solidFill>
                  <a:srgbClr val="667482"/>
                </a:solidFill>
              </a:rPr>
              <a:t>Discuss blockers.</a:t>
            </a:r>
          </a:p>
          <a:p>
            <a:pPr>
              <a:buNone/>
              <a:defRPr sz="1575" b="0">
                <a:solidFill>
                  <a:srgbClr val="667482"/>
                </a:solidFill>
              </a:defRPr>
            </a:pPr>
            <a:r>
              <a:rPr sz="1575" b="0">
                <a:solidFill>
                  <a:srgbClr val="667482"/>
                </a:solidFill>
              </a:rPr>
              <a:t>Schedule and RSVP.</a:t>
            </a:r>
          </a:p>
        </p:txBody>
      </p:sp>
      <p:sp>
        <p:nvSpPr>
          <p:cNvPr id="13" name="矩形: 圆角 12">
            <a:extLst>
              <a:ext uri="{FF2B5EF4-FFF2-40B4-BE49-F238E27FC236}">
                <a16:creationId xmlns:a16="http://schemas.microsoft.com/office/drawing/2014/main" id="{C45F3564-6F45-4C3F-8B81-5F0D237BF838}"/>
              </a:ext>
            </a:extLst>
          </p:cNvPr>
          <p:cNvSpPr>
            <a:spLocks noGrp="1"/>
          </p:cNvSpPr>
          <p:nvPr/>
        </p:nvSpPr>
        <p:spPr>
          <a:xfrm>
            <a:off x="7524750" y="2343150"/>
            <a:ext cx="3105150" cy="2724150"/>
          </a:xfrm>
          <a:prstGeom prst="roundRect">
            <a:avLst>
              <a:gd name="adj" fmla="val 6294"/>
            </a:avLst>
          </a:prstGeom>
          <a:solidFill>
            <a:srgbClr val="FFFFFF"/>
          </a:solidFill>
          <a:ln w="9525">
            <a:solidFill>
              <a:srgbClr val="CBD5DF"/>
            </a:solidFill>
            <a:prstDash val="solid"/>
          </a:ln>
        </p:spPr>
        <p:txBody>
          <a:bodyPr/>
          <a:lstStyle/>
          <a:p>
            <a:endParaRPr lang="zh-CN" altLang="en-US"/>
          </a:p>
        </p:txBody>
      </p:sp>
      <p:sp>
        <p:nvSpPr>
          <p:cNvPr id="14" name="矩形 13">
            <a:extLst>
              <a:ext uri="{FF2B5EF4-FFF2-40B4-BE49-F238E27FC236}">
                <a16:creationId xmlns:a16="http://schemas.microsoft.com/office/drawing/2014/main" id="{2FCE345A-EA6B-438E-B96E-811E8992B9E6}"/>
              </a:ext>
            </a:extLst>
          </p:cNvPr>
          <p:cNvSpPr>
            <a:spLocks noGrp="1"/>
          </p:cNvSpPr>
          <p:nvPr/>
        </p:nvSpPr>
        <p:spPr>
          <a:xfrm>
            <a:off x="7791450" y="2590800"/>
            <a:ext cx="628650" cy="342900"/>
          </a:xfrm>
          <a:prstGeom prst="rect">
            <a:avLst/>
          </a:prstGeom>
          <a:noFill/>
          <a:ln w="0">
            <a:noFill/>
            <a:prstDash val="solid"/>
          </a:ln>
        </p:spPr>
        <p:txBody>
          <a:bodyPr/>
          <a:lstStyle/>
          <a:p>
            <a:pPr>
              <a:buNone/>
              <a:defRPr sz="1275" b="1">
                <a:solidFill>
                  <a:srgbClr val="E96B4B"/>
                </a:solidFill>
              </a:defRPr>
            </a:pPr>
            <a:r>
              <a:rPr sz="1275" b="1">
                <a:solidFill>
                  <a:srgbClr val="E96B4B"/>
                </a:solidFill>
              </a:rPr>
              <a:t>03</a:t>
            </a:r>
          </a:p>
        </p:txBody>
      </p:sp>
      <p:sp>
        <p:nvSpPr>
          <p:cNvPr id="15" name="矩形 14">
            <a:extLst>
              <a:ext uri="{FF2B5EF4-FFF2-40B4-BE49-F238E27FC236}">
                <a16:creationId xmlns:a16="http://schemas.microsoft.com/office/drawing/2014/main" id="{82C1E229-7B4B-46E8-A402-33D566B7BA10}"/>
              </a:ext>
            </a:extLst>
          </p:cNvPr>
          <p:cNvSpPr>
            <a:spLocks noGrp="1"/>
          </p:cNvSpPr>
          <p:nvPr/>
        </p:nvSpPr>
        <p:spPr>
          <a:xfrm>
            <a:off x="7791450" y="3105150"/>
            <a:ext cx="2381250" cy="361950"/>
          </a:xfrm>
          <a:prstGeom prst="rect">
            <a:avLst/>
          </a:prstGeom>
          <a:noFill/>
          <a:ln w="0">
            <a:noFill/>
            <a:prstDash val="solid"/>
          </a:ln>
        </p:spPr>
        <p:txBody>
          <a:bodyPr/>
          <a:lstStyle/>
          <a:p>
            <a:pPr>
              <a:buNone/>
              <a:defRPr sz="2025" b="1">
                <a:solidFill>
                  <a:srgbClr val="12263A"/>
                </a:solidFill>
              </a:defRPr>
            </a:pPr>
            <a:r>
              <a:rPr sz="2025" b="1">
                <a:solidFill>
                  <a:srgbClr val="12263A"/>
                </a:solidFill>
              </a:rPr>
              <a:t>REVIEW</a:t>
            </a:r>
          </a:p>
        </p:txBody>
      </p:sp>
      <p:sp>
        <p:nvSpPr>
          <p:cNvPr id="16" name="矩形 15">
            <a:extLst>
              <a:ext uri="{FF2B5EF4-FFF2-40B4-BE49-F238E27FC236}">
                <a16:creationId xmlns:a16="http://schemas.microsoft.com/office/drawing/2014/main" id="{5B8CD48D-D9D4-486A-98AA-15A866EFB7C6}"/>
              </a:ext>
            </a:extLst>
          </p:cNvPr>
          <p:cNvSpPr>
            <a:spLocks noGrp="1"/>
          </p:cNvSpPr>
          <p:nvPr/>
        </p:nvSpPr>
        <p:spPr>
          <a:xfrm>
            <a:off x="7791450" y="3657600"/>
            <a:ext cx="2476500" cy="1066800"/>
          </a:xfrm>
          <a:prstGeom prst="rect">
            <a:avLst/>
          </a:prstGeom>
          <a:noFill/>
          <a:ln w="0">
            <a:noFill/>
            <a:prstDash val="solid"/>
          </a:ln>
        </p:spPr>
        <p:txBody>
          <a:bodyPr/>
          <a:lstStyle/>
          <a:p>
            <a:pPr>
              <a:buNone/>
              <a:defRPr sz="1575" b="0">
                <a:solidFill>
                  <a:srgbClr val="667482"/>
                </a:solidFill>
              </a:defRPr>
            </a:pPr>
            <a:r>
              <a:rPr sz="1575" b="0">
                <a:solidFill>
                  <a:srgbClr val="667482"/>
                </a:solidFill>
              </a:rPr>
              <a:t>See activity totals.</a:t>
            </a:r>
          </a:p>
          <a:p>
            <a:pPr>
              <a:buNone/>
              <a:defRPr sz="1575" b="0">
                <a:solidFill>
                  <a:srgbClr val="667482"/>
                </a:solidFill>
              </a:defRPr>
            </a:pPr>
            <a:r>
              <a:rPr sz="1575" b="0">
                <a:solidFill>
                  <a:srgbClr val="667482"/>
                </a:solidFill>
              </a:rPr>
              <a:t>Drill into events.</a:t>
            </a:r>
          </a:p>
          <a:p>
            <a:pPr>
              <a:buNone/>
              <a:defRPr sz="1575" b="0">
                <a:solidFill>
                  <a:srgbClr val="667482"/>
                </a:solidFill>
              </a:defRPr>
            </a:pPr>
            <a:r>
              <a:rPr sz="1575" b="0">
                <a:solidFill>
                  <a:srgbClr val="667482"/>
                </a:solidFill>
              </a:rPr>
              <a:t>Have the conversation.</a:t>
            </a:r>
          </a:p>
        </p:txBody>
      </p:sp>
      <p:sp>
        <p:nvSpPr>
          <p:cNvPr id="17" name="矩形 16">
            <a:extLst>
              <a:ext uri="{FF2B5EF4-FFF2-40B4-BE49-F238E27FC236}">
                <a16:creationId xmlns:a16="http://schemas.microsoft.com/office/drawing/2014/main" id="{F2513228-DD49-4D68-A83F-005654297AAF}"/>
              </a:ext>
            </a:extLst>
          </p:cNvPr>
          <p:cNvSpPr>
            <a:spLocks noGrp="1"/>
          </p:cNvSpPr>
          <p:nvPr/>
        </p:nvSpPr>
        <p:spPr>
          <a:xfrm>
            <a:off x="3705225" y="3333750"/>
            <a:ext cx="323850" cy="457200"/>
          </a:xfrm>
          <a:prstGeom prst="rect">
            <a:avLst/>
          </a:prstGeom>
          <a:noFill/>
          <a:ln w="0">
            <a:noFill/>
            <a:prstDash val="solid"/>
          </a:ln>
        </p:spPr>
        <p:txBody>
          <a:bodyPr/>
          <a:lstStyle/>
          <a:p>
            <a:pPr>
              <a:buNone/>
              <a:defRPr sz="2550" b="1">
                <a:solidFill>
                  <a:srgbClr val="2774C7"/>
                </a:solidFill>
              </a:defRPr>
            </a:pPr>
            <a:r>
              <a:rPr sz="2550" b="1">
                <a:solidFill>
                  <a:srgbClr val="2774C7"/>
                </a:solidFill>
              </a:rPr>
              <a:t>→</a:t>
            </a:r>
          </a:p>
        </p:txBody>
      </p:sp>
      <p:sp>
        <p:nvSpPr>
          <p:cNvPr id="18" name="矩形 17">
            <a:extLst>
              <a:ext uri="{FF2B5EF4-FFF2-40B4-BE49-F238E27FC236}">
                <a16:creationId xmlns:a16="http://schemas.microsoft.com/office/drawing/2014/main" id="{53583048-F408-4C74-912F-B5599396AE56}"/>
              </a:ext>
            </a:extLst>
          </p:cNvPr>
          <p:cNvSpPr>
            <a:spLocks noGrp="1"/>
          </p:cNvSpPr>
          <p:nvPr/>
        </p:nvSpPr>
        <p:spPr>
          <a:xfrm>
            <a:off x="7191375" y="3333750"/>
            <a:ext cx="323850" cy="457200"/>
          </a:xfrm>
          <a:prstGeom prst="rect">
            <a:avLst/>
          </a:prstGeom>
          <a:noFill/>
          <a:ln w="0">
            <a:noFill/>
            <a:prstDash val="solid"/>
          </a:ln>
        </p:spPr>
        <p:txBody>
          <a:bodyPr/>
          <a:lstStyle/>
          <a:p>
            <a:pPr>
              <a:buNone/>
              <a:defRPr sz="2550" b="1">
                <a:solidFill>
                  <a:srgbClr val="2774C7"/>
                </a:solidFill>
              </a:defRPr>
            </a:pPr>
            <a:r>
              <a:rPr sz="2550" b="1">
                <a:solidFill>
                  <a:srgbClr val="2774C7"/>
                </a:solidFill>
              </a:rPr>
              <a:t>→</a:t>
            </a:r>
          </a:p>
        </p:txBody>
      </p:sp>
      <p:sp>
        <p:nvSpPr>
          <p:cNvPr id="19" name="矩形: 圆角 18">
            <a:extLst>
              <a:ext uri="{FF2B5EF4-FFF2-40B4-BE49-F238E27FC236}">
                <a16:creationId xmlns:a16="http://schemas.microsoft.com/office/drawing/2014/main" id="{22B05FC5-FD94-4FDF-9BC0-DF0F10F55079}"/>
              </a:ext>
            </a:extLst>
          </p:cNvPr>
          <p:cNvSpPr>
            <a:spLocks noGrp="1"/>
          </p:cNvSpPr>
          <p:nvPr/>
        </p:nvSpPr>
        <p:spPr>
          <a:xfrm>
            <a:off x="552450" y="5334000"/>
            <a:ext cx="10077450" cy="666750"/>
          </a:xfrm>
          <a:prstGeom prst="roundRect">
            <a:avLst>
              <a:gd name="adj" fmla="val 20000"/>
            </a:avLst>
          </a:prstGeom>
          <a:solidFill>
            <a:srgbClr val="12263A"/>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D448524E-E92C-4C58-8A3D-0D2437F0D48A}"/>
              </a:ext>
            </a:extLst>
          </p:cNvPr>
          <p:cNvSpPr>
            <a:spLocks noGrp="1"/>
          </p:cNvSpPr>
          <p:nvPr/>
        </p:nvSpPr>
        <p:spPr>
          <a:xfrm>
            <a:off x="838200" y="5534025"/>
            <a:ext cx="3333750" cy="266700"/>
          </a:xfrm>
          <a:prstGeom prst="rect">
            <a:avLst/>
          </a:prstGeom>
          <a:noFill/>
          <a:ln w="0">
            <a:noFill/>
            <a:prstDash val="solid"/>
          </a:ln>
        </p:spPr>
        <p:txBody>
          <a:bodyPr/>
          <a:lstStyle/>
          <a:p>
            <a:pPr>
              <a:buNone/>
              <a:defRPr sz="1275" b="1">
                <a:solidFill>
                  <a:srgbClr val="BFE2D4"/>
                </a:solidFill>
              </a:defRPr>
            </a:pPr>
            <a:r>
              <a:rPr sz="1275" b="1">
                <a:solidFill>
                  <a:srgbClr val="BFE2D4"/>
                </a:solidFill>
              </a:rPr>
              <a:t>IMMUTABLE ACTIVITY EVENTS</a:t>
            </a:r>
          </a:p>
        </p:txBody>
      </p:sp>
      <p:sp>
        <p:nvSpPr>
          <p:cNvPr id="21" name="矩形 20">
            <a:extLst>
              <a:ext uri="{FF2B5EF4-FFF2-40B4-BE49-F238E27FC236}">
                <a16:creationId xmlns:a16="http://schemas.microsoft.com/office/drawing/2014/main" id="{E80C3469-7B6C-47E3-9D96-93DAABD3D372}"/>
              </a:ext>
            </a:extLst>
          </p:cNvPr>
          <p:cNvSpPr>
            <a:spLocks noGrp="1"/>
          </p:cNvSpPr>
          <p:nvPr/>
        </p:nvSpPr>
        <p:spPr>
          <a:xfrm>
            <a:off x="6772275" y="5524500"/>
            <a:ext cx="3524250" cy="266700"/>
          </a:xfrm>
          <a:prstGeom prst="rect">
            <a:avLst/>
          </a:prstGeom>
          <a:noFill/>
          <a:ln w="0">
            <a:noFill/>
            <a:prstDash val="solid"/>
          </a:ln>
        </p:spPr>
        <p:txBody>
          <a:bodyPr/>
          <a:lstStyle/>
          <a:p>
            <a:pPr>
              <a:buNone/>
              <a:defRPr sz="1350" b="0" i="1">
                <a:solidFill>
                  <a:srgbClr val="FFFFFF"/>
                </a:solidFill>
              </a:defRPr>
            </a:pPr>
            <a:r>
              <a:rPr sz="1350" b="0" i="1">
                <a:solidFill>
                  <a:srgbClr val="FFFFFF"/>
                </a:solidFill>
              </a:rPr>
              <a:t>Evidence, not an automated grade</a:t>
            </a:r>
          </a:p>
        </p:txBody>
      </p:sp>
      <p:sp>
        <p:nvSpPr>
          <p:cNvPr id="22" name="矩形 21">
            <a:extLst>
              <a:ext uri="{FF2B5EF4-FFF2-40B4-BE49-F238E27FC236}">
                <a16:creationId xmlns:a16="http://schemas.microsoft.com/office/drawing/2014/main" id="{E9CDBA11-39EF-440C-BE69-FC917BA051EE}"/>
              </a:ext>
            </a:extLst>
          </p:cNvPr>
          <p:cNvSpPr>
            <a:spLocks noGrp="1"/>
          </p:cNvSpPr>
          <p:nvPr/>
        </p:nvSpPr>
        <p:spPr>
          <a:xfrm>
            <a:off x="552450" y="6496050"/>
            <a:ext cx="4953000" cy="190500"/>
          </a:xfrm>
          <a:prstGeom prst="rect">
            <a:avLst/>
          </a:prstGeom>
          <a:noFill/>
          <a:ln w="0">
            <a:noFill/>
            <a:prstDash val="solid"/>
          </a:ln>
        </p:spPr>
        <p:txBody>
          <a:bodyPr/>
          <a:lstStyle/>
          <a:p>
            <a:pPr>
              <a:buNone/>
              <a:defRPr sz="825" b="1">
                <a:solidFill>
                  <a:srgbClr val="667482"/>
                </a:solidFill>
              </a:defRPr>
            </a:pPr>
            <a:r>
              <a:rPr lang="en-US" altLang="zh-CN" sz="825" b="1" dirty="0">
                <a:solidFill>
                  <a:srgbClr val="667482"/>
                </a:solidFill>
              </a:rPr>
              <a:t>STUDYCREW  |  ELEC3609  |  GROUP 06</a:t>
            </a:r>
          </a:p>
        </p:txBody>
      </p:sp>
      <p:sp>
        <p:nvSpPr>
          <p:cNvPr id="23" name="矩形 22">
            <a:extLst>
              <a:ext uri="{FF2B5EF4-FFF2-40B4-BE49-F238E27FC236}">
                <a16:creationId xmlns:a16="http://schemas.microsoft.com/office/drawing/2014/main" id="{FFFA6F42-13C0-4041-A7A6-C27BD419DF3B}"/>
              </a:ext>
            </a:extLst>
          </p:cNvPr>
          <p:cNvSpPr>
            <a:spLocks noGrp="1"/>
          </p:cNvSpPr>
          <p:nvPr/>
        </p:nvSpPr>
        <p:spPr>
          <a:xfrm>
            <a:off x="11125200" y="6496050"/>
            <a:ext cx="514350" cy="190500"/>
          </a:xfrm>
          <a:prstGeom prst="rect">
            <a:avLst/>
          </a:prstGeom>
          <a:noFill/>
          <a:ln w="0">
            <a:noFill/>
            <a:prstDash val="solid"/>
          </a:ln>
        </p:spPr>
        <p:txBody>
          <a:bodyPr/>
          <a:lstStyle/>
          <a:p>
            <a:pPr>
              <a:buNone/>
              <a:defRPr sz="825" b="1">
                <a:solidFill>
                  <a:srgbClr val="667482"/>
                </a:solidFill>
              </a:defRPr>
            </a:pPr>
            <a:r>
              <a:rPr sz="825" b="1">
                <a:solidFill>
                  <a:srgbClr val="667482"/>
                </a:solidFill>
              </a:rPr>
              <a:t>03</a:t>
            </a:r>
          </a:p>
        </p:txBody>
      </p:sp>
    </p:spTree>
    <p:extLst>
      <p:ext uri="{BB962C8B-B14F-4D97-AF65-F5344CB8AC3E}">
        <p14:creationId xmlns:p14="http://schemas.microsoft.com/office/powerpoint/2010/main" val="1366918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239A3C96-7D53-45DC-9E7C-0787A0A580F9}"/>
              </a:ext>
            </a:extLst>
          </p:cNvPr>
          <p:cNvSpPr>
            <a:spLocks noGrp="1"/>
          </p:cNvSpPr>
          <p:nvPr/>
        </p:nvSpPr>
        <p:spPr>
          <a:xfrm>
            <a:off x="9525000" y="400050"/>
            <a:ext cx="2114550" cy="228600"/>
          </a:xfrm>
          <a:prstGeom prst="rect">
            <a:avLst/>
          </a:prstGeom>
          <a:noFill/>
          <a:ln w="0">
            <a:noFill/>
            <a:prstDash val="solid"/>
          </a:ln>
        </p:spPr>
        <p:txBody>
          <a:bodyPr/>
          <a:lstStyle/>
          <a:p>
            <a:pPr>
              <a:buNone/>
              <a:defRPr sz="1125" b="1">
                <a:solidFill>
                  <a:srgbClr val="2774C7"/>
                </a:solidFill>
              </a:defRPr>
            </a:pPr>
            <a:r>
              <a:rPr sz="1125" b="1">
                <a:solidFill>
                  <a:srgbClr val="2774C7"/>
                </a:solidFill>
              </a:rPr>
              <a:t>03 / PRODUCT</a:t>
            </a:r>
          </a:p>
        </p:txBody>
      </p:sp>
      <p:sp>
        <p:nvSpPr>
          <p:cNvPr id="2" name="矩形 1">
            <a:extLst>
              <a:ext uri="{FF2B5EF4-FFF2-40B4-BE49-F238E27FC236}">
                <a16:creationId xmlns:a16="http://schemas.microsoft.com/office/drawing/2014/main" id="{88F5A75B-0C0B-4174-B61A-999B85C50D1F}"/>
              </a:ext>
            </a:extLst>
          </p:cNvPr>
          <p:cNvSpPr>
            <a:spLocks noGrp="1"/>
          </p:cNvSpPr>
          <p:nvPr/>
        </p:nvSpPr>
        <p:spPr>
          <a:xfrm>
            <a:off x="552450" y="781050"/>
            <a:ext cx="10477500" cy="685800"/>
          </a:xfrm>
          <a:prstGeom prst="rect">
            <a:avLst/>
          </a:prstGeom>
          <a:noFill/>
          <a:ln w="0">
            <a:noFill/>
            <a:prstDash val="solid"/>
          </a:ln>
        </p:spPr>
        <p:txBody>
          <a:bodyPr/>
          <a:lstStyle/>
          <a:p>
            <a:pPr>
              <a:buNone/>
              <a:defRPr sz="3150" b="1">
                <a:solidFill>
                  <a:srgbClr val="12263A"/>
                </a:solidFill>
              </a:defRPr>
            </a:pPr>
            <a:r>
              <a:rPr sz="3150" b="1">
                <a:solidFill>
                  <a:srgbClr val="12263A"/>
                </a:solidFill>
              </a:rPr>
              <a:t>The workflow is already testable on paper.</a:t>
            </a:r>
          </a:p>
        </p:txBody>
      </p:sp>
      <p:sp>
        <p:nvSpPr>
          <p:cNvPr id="3" name="矩形 2">
            <a:extLst>
              <a:ext uri="{FF2B5EF4-FFF2-40B4-BE49-F238E27FC236}">
                <a16:creationId xmlns:a16="http://schemas.microsoft.com/office/drawing/2014/main" id="{921C5D07-3A0B-418E-9A2D-67A550E81ED1}"/>
              </a:ext>
            </a:extLst>
          </p:cNvPr>
          <p:cNvSpPr>
            <a:spLocks noGrp="1"/>
          </p:cNvSpPr>
          <p:nvPr/>
        </p:nvSpPr>
        <p:spPr>
          <a:xfrm>
            <a:off x="552450" y="1524000"/>
            <a:ext cx="11087100" cy="28575"/>
          </a:xfrm>
          <a:prstGeom prst="rect">
            <a:avLst/>
          </a:prstGeom>
          <a:solidFill>
            <a:srgbClr val="2774C7"/>
          </a:solidFill>
          <a:ln w="0">
            <a:noFill/>
            <a:prstDash val="solid"/>
          </a:ln>
        </p:spPr>
        <p:txBody>
          <a:bodyPr/>
          <a:lstStyle/>
          <a:p>
            <a:endParaRPr lang="zh-CN" altLang="en-US"/>
          </a:p>
        </p:txBody>
      </p:sp>
      <p:sp>
        <p:nvSpPr>
          <p:cNvPr id="4" name="矩形 3">
            <a:extLst>
              <a:ext uri="{FF2B5EF4-FFF2-40B4-BE49-F238E27FC236}">
                <a16:creationId xmlns:a16="http://schemas.microsoft.com/office/drawing/2014/main" id="{090D9C22-0114-4F65-80F8-753FF5E6FA3C}"/>
              </a:ext>
            </a:extLst>
          </p:cNvPr>
          <p:cNvSpPr>
            <a:spLocks noGrp="1"/>
          </p:cNvSpPr>
          <p:nvPr/>
        </p:nvSpPr>
        <p:spPr>
          <a:xfrm>
            <a:off x="552450" y="1657350"/>
            <a:ext cx="10477500" cy="361950"/>
          </a:xfrm>
          <a:prstGeom prst="rect">
            <a:avLst/>
          </a:prstGeom>
          <a:noFill/>
          <a:ln w="0">
            <a:noFill/>
            <a:prstDash val="solid"/>
          </a:ln>
        </p:spPr>
        <p:txBody>
          <a:bodyPr/>
          <a:lstStyle/>
          <a:p>
            <a:pPr>
              <a:buNone/>
              <a:defRPr sz="1275" b="0">
                <a:solidFill>
                  <a:srgbClr val="667482"/>
                </a:solidFill>
              </a:defRPr>
            </a:pPr>
            <a:r>
              <a:rPr sz="1275" b="0">
                <a:solidFill>
                  <a:srgbClr val="667482"/>
                </a:solidFill>
              </a:rPr>
              <a:t>Two views demonstrate the core value proposition.</a:t>
            </a:r>
          </a:p>
        </p:txBody>
      </p:sp>
      <p:sp>
        <p:nvSpPr>
          <p:cNvPr id="5" name="矩形: 圆角 4">
            <a:extLst>
              <a:ext uri="{FF2B5EF4-FFF2-40B4-BE49-F238E27FC236}">
                <a16:creationId xmlns:a16="http://schemas.microsoft.com/office/drawing/2014/main" id="{7FBE0574-52D7-4EE6-B008-B229BFBDBEE9}"/>
              </a:ext>
            </a:extLst>
          </p:cNvPr>
          <p:cNvSpPr>
            <a:spLocks noGrp="1"/>
          </p:cNvSpPr>
          <p:nvPr/>
        </p:nvSpPr>
        <p:spPr>
          <a:xfrm>
            <a:off x="552450" y="2152650"/>
            <a:ext cx="5257800" cy="3543300"/>
          </a:xfrm>
          <a:prstGeom prst="roundRect">
            <a:avLst>
              <a:gd name="adj" fmla="val 4301"/>
            </a:avLst>
          </a:prstGeom>
          <a:solidFill>
            <a:srgbClr val="FFFFFF"/>
          </a:solidFill>
          <a:ln w="9525">
            <a:solidFill>
              <a:srgbClr val="CBD5DF"/>
            </a:solidFill>
            <a:prstDash val="solid"/>
          </a:ln>
        </p:spPr>
        <p:txBody>
          <a:bodyPr/>
          <a:lstStyle/>
          <a:p>
            <a:endParaRPr lang="zh-CN" altLang="en-US"/>
          </a:p>
        </p:txBody>
      </p:sp>
      <p:sp>
        <p:nvSpPr>
          <p:cNvPr id="6" name="矩形: 圆角 5">
            <a:extLst>
              <a:ext uri="{FF2B5EF4-FFF2-40B4-BE49-F238E27FC236}">
                <a16:creationId xmlns:a16="http://schemas.microsoft.com/office/drawing/2014/main" id="{2E03BAA7-3EB0-48A7-92EC-12F363D0B1C1}"/>
              </a:ext>
            </a:extLst>
          </p:cNvPr>
          <p:cNvSpPr>
            <a:spLocks noGrp="1"/>
          </p:cNvSpPr>
          <p:nvPr/>
        </p:nvSpPr>
        <p:spPr>
          <a:xfrm>
            <a:off x="5981700" y="2152650"/>
            <a:ext cx="5657850" cy="3543300"/>
          </a:xfrm>
          <a:prstGeom prst="roundRect">
            <a:avLst>
              <a:gd name="adj" fmla="val 4301"/>
            </a:avLst>
          </a:prstGeom>
          <a:solidFill>
            <a:srgbClr val="FFFFFF"/>
          </a:solidFill>
          <a:ln w="9525">
            <a:solidFill>
              <a:srgbClr val="CBD5DF"/>
            </a:solidFill>
            <a:prstDash val="solid"/>
          </a:ln>
        </p:spPr>
        <p:txBody>
          <a:bodyPr/>
          <a:lstStyle/>
          <a:p>
            <a:endParaRPr lang="zh-CN" altLang="en-US"/>
          </a:p>
        </p:txBody>
      </p:sp>
      <p:pic>
        <p:nvPicPr>
          <p:cNvPr id="24" name="图片 23"/>
          <p:cNvPicPr>
            <a:picLocks noChangeAspect="1"/>
          </p:cNvPicPr>
          <p:nvPr/>
        </p:nvPicPr>
        <p:blipFill>
          <a:blip r:embed="rId3"/>
          <a:stretch/>
        </p:blipFill>
        <p:spPr>
          <a:xfrm>
            <a:off x="986790" y="2324100"/>
            <a:ext cx="4389120" cy="2743200"/>
          </a:xfrm>
          <a:prstGeom prst="rect">
            <a:avLst/>
          </a:prstGeom>
        </p:spPr>
      </p:pic>
      <p:pic>
        <p:nvPicPr>
          <p:cNvPr id="25" name="图片 24"/>
          <p:cNvPicPr>
            <a:picLocks noChangeAspect="1"/>
          </p:cNvPicPr>
          <p:nvPr/>
        </p:nvPicPr>
        <p:blipFill>
          <a:blip r:embed="rId4"/>
          <a:stretch/>
        </p:blipFill>
        <p:spPr>
          <a:xfrm>
            <a:off x="6616065" y="2324100"/>
            <a:ext cx="4389120" cy="2743200"/>
          </a:xfrm>
          <a:prstGeom prst="rect">
            <a:avLst/>
          </a:prstGeom>
        </p:spPr>
      </p:pic>
      <p:sp>
        <p:nvSpPr>
          <p:cNvPr id="9" name="矩形 8">
            <a:extLst>
              <a:ext uri="{FF2B5EF4-FFF2-40B4-BE49-F238E27FC236}">
                <a16:creationId xmlns:a16="http://schemas.microsoft.com/office/drawing/2014/main" id="{62A3BF05-273A-4481-92ED-3C7A8658A92D}"/>
              </a:ext>
            </a:extLst>
          </p:cNvPr>
          <p:cNvSpPr>
            <a:spLocks noGrp="1"/>
          </p:cNvSpPr>
          <p:nvPr/>
        </p:nvSpPr>
        <p:spPr>
          <a:xfrm>
            <a:off x="781050" y="5219700"/>
            <a:ext cx="1714500" cy="247650"/>
          </a:xfrm>
          <a:prstGeom prst="rect">
            <a:avLst/>
          </a:prstGeom>
          <a:noFill/>
          <a:ln w="0">
            <a:noFill/>
            <a:prstDash val="solid"/>
          </a:ln>
        </p:spPr>
        <p:txBody>
          <a:bodyPr/>
          <a:lstStyle/>
          <a:p>
            <a:pPr>
              <a:buNone/>
              <a:defRPr sz="1125" b="1">
                <a:solidFill>
                  <a:srgbClr val="2774C7"/>
                </a:solidFill>
              </a:defRPr>
            </a:pPr>
            <a:r>
              <a:rPr sz="1125" b="1">
                <a:solidFill>
                  <a:srgbClr val="2774C7"/>
                </a:solidFill>
              </a:rPr>
              <a:t>TASK BOARD</a:t>
            </a:r>
          </a:p>
        </p:txBody>
      </p:sp>
      <p:sp>
        <p:nvSpPr>
          <p:cNvPr id="10" name="矩形 9">
            <a:extLst>
              <a:ext uri="{FF2B5EF4-FFF2-40B4-BE49-F238E27FC236}">
                <a16:creationId xmlns:a16="http://schemas.microsoft.com/office/drawing/2014/main" id="{B5C7316F-7E29-4933-86F4-D7907112DE6B}"/>
              </a:ext>
            </a:extLst>
          </p:cNvPr>
          <p:cNvSpPr>
            <a:spLocks noGrp="1"/>
          </p:cNvSpPr>
          <p:nvPr/>
        </p:nvSpPr>
        <p:spPr>
          <a:xfrm>
            <a:off x="2190750" y="5219700"/>
            <a:ext cx="3238500" cy="266700"/>
          </a:xfrm>
          <a:prstGeom prst="rect">
            <a:avLst/>
          </a:prstGeom>
          <a:noFill/>
          <a:ln w="0">
            <a:noFill/>
            <a:prstDash val="solid"/>
          </a:ln>
        </p:spPr>
        <p:txBody>
          <a:bodyPr/>
          <a:lstStyle/>
          <a:p>
            <a:pPr>
              <a:buNone/>
              <a:defRPr sz="1125" b="0">
                <a:solidFill>
                  <a:srgbClr val="667482"/>
                </a:solidFill>
              </a:defRPr>
            </a:pPr>
            <a:r>
              <a:rPr sz="1125" b="0">
                <a:solidFill>
                  <a:srgbClr val="667482"/>
                </a:solidFill>
              </a:rPr>
              <a:t>Ownership, due dates and blockers at a glance</a:t>
            </a:r>
          </a:p>
        </p:txBody>
      </p:sp>
      <p:sp>
        <p:nvSpPr>
          <p:cNvPr id="11" name="矩形 10">
            <a:extLst>
              <a:ext uri="{FF2B5EF4-FFF2-40B4-BE49-F238E27FC236}">
                <a16:creationId xmlns:a16="http://schemas.microsoft.com/office/drawing/2014/main" id="{F775AE2F-3FD1-46D0-92FA-12ECBB22153E}"/>
              </a:ext>
            </a:extLst>
          </p:cNvPr>
          <p:cNvSpPr>
            <a:spLocks noGrp="1"/>
          </p:cNvSpPr>
          <p:nvPr/>
        </p:nvSpPr>
        <p:spPr>
          <a:xfrm>
            <a:off x="6210300" y="5219700"/>
            <a:ext cx="1524000" cy="247650"/>
          </a:xfrm>
          <a:prstGeom prst="rect">
            <a:avLst/>
          </a:prstGeom>
          <a:noFill/>
          <a:ln w="0">
            <a:noFill/>
            <a:prstDash val="solid"/>
          </a:ln>
        </p:spPr>
        <p:txBody>
          <a:bodyPr/>
          <a:lstStyle/>
          <a:p>
            <a:pPr>
              <a:buNone/>
              <a:defRPr sz="1125" b="1">
                <a:solidFill>
                  <a:srgbClr val="2774C7"/>
                </a:solidFill>
              </a:defRPr>
            </a:pPr>
            <a:r>
              <a:rPr sz="1125" b="1">
                <a:solidFill>
                  <a:srgbClr val="2774C7"/>
                </a:solidFill>
              </a:rPr>
              <a:t>EVIDENCE</a:t>
            </a:r>
          </a:p>
        </p:txBody>
      </p:sp>
      <p:sp>
        <p:nvSpPr>
          <p:cNvPr id="12" name="矩形 11">
            <a:extLst>
              <a:ext uri="{FF2B5EF4-FFF2-40B4-BE49-F238E27FC236}">
                <a16:creationId xmlns:a16="http://schemas.microsoft.com/office/drawing/2014/main" id="{B2813877-2572-4CE4-8A3D-62D0ADB159DA}"/>
              </a:ext>
            </a:extLst>
          </p:cNvPr>
          <p:cNvSpPr>
            <a:spLocks noGrp="1"/>
          </p:cNvSpPr>
          <p:nvPr/>
        </p:nvSpPr>
        <p:spPr>
          <a:xfrm>
            <a:off x="7381875" y="5219700"/>
            <a:ext cx="3857625" cy="266700"/>
          </a:xfrm>
          <a:prstGeom prst="rect">
            <a:avLst/>
          </a:prstGeom>
          <a:noFill/>
          <a:ln w="0">
            <a:noFill/>
            <a:prstDash val="solid"/>
          </a:ln>
        </p:spPr>
        <p:txBody>
          <a:bodyPr/>
          <a:lstStyle/>
          <a:p>
            <a:pPr>
              <a:buNone/>
              <a:defRPr sz="1125" b="0">
                <a:solidFill>
                  <a:srgbClr val="667482"/>
                </a:solidFill>
              </a:defRPr>
            </a:pPr>
            <a:r>
              <a:rPr sz="1125" b="0">
                <a:solidFill>
                  <a:srgbClr val="667482"/>
                </a:solidFill>
              </a:rPr>
              <a:t>Counts reconcile to inspectable source events</a:t>
            </a:r>
          </a:p>
        </p:txBody>
      </p:sp>
      <p:sp>
        <p:nvSpPr>
          <p:cNvPr id="13" name="矩形 12">
            <a:extLst>
              <a:ext uri="{FF2B5EF4-FFF2-40B4-BE49-F238E27FC236}">
                <a16:creationId xmlns:a16="http://schemas.microsoft.com/office/drawing/2014/main" id="{BFD9B7E4-BEAD-41CE-B6AB-05BC66725479}"/>
              </a:ext>
            </a:extLst>
          </p:cNvPr>
          <p:cNvSpPr>
            <a:spLocks noGrp="1"/>
          </p:cNvSpPr>
          <p:nvPr/>
        </p:nvSpPr>
        <p:spPr>
          <a:xfrm>
            <a:off x="552450" y="6496050"/>
            <a:ext cx="4953000" cy="190500"/>
          </a:xfrm>
          <a:prstGeom prst="rect">
            <a:avLst/>
          </a:prstGeom>
          <a:noFill/>
          <a:ln w="0">
            <a:noFill/>
            <a:prstDash val="solid"/>
          </a:ln>
        </p:spPr>
        <p:txBody>
          <a:bodyPr/>
          <a:lstStyle/>
          <a:p>
            <a:pPr>
              <a:buNone/>
              <a:defRPr sz="825" b="1">
                <a:solidFill>
                  <a:srgbClr val="667482"/>
                </a:solidFill>
              </a:defRPr>
            </a:pPr>
            <a:r>
              <a:rPr lang="en-US" altLang="zh-CN" sz="825" b="1" dirty="0">
                <a:solidFill>
                  <a:srgbClr val="667482"/>
                </a:solidFill>
              </a:rPr>
              <a:t>STUDYCREW  |  ELEC3609  |  GROUP 06</a:t>
            </a:r>
          </a:p>
        </p:txBody>
      </p:sp>
      <p:sp>
        <p:nvSpPr>
          <p:cNvPr id="14" name="矩形 13">
            <a:extLst>
              <a:ext uri="{FF2B5EF4-FFF2-40B4-BE49-F238E27FC236}">
                <a16:creationId xmlns:a16="http://schemas.microsoft.com/office/drawing/2014/main" id="{AE3F6730-AF8D-4700-8654-B3E03084E4E8}"/>
              </a:ext>
            </a:extLst>
          </p:cNvPr>
          <p:cNvSpPr>
            <a:spLocks noGrp="1"/>
          </p:cNvSpPr>
          <p:nvPr/>
        </p:nvSpPr>
        <p:spPr>
          <a:xfrm>
            <a:off x="11125200" y="6496050"/>
            <a:ext cx="514350" cy="190500"/>
          </a:xfrm>
          <a:prstGeom prst="rect">
            <a:avLst/>
          </a:prstGeom>
          <a:noFill/>
          <a:ln w="0">
            <a:noFill/>
            <a:prstDash val="solid"/>
          </a:ln>
        </p:spPr>
        <p:txBody>
          <a:bodyPr/>
          <a:lstStyle/>
          <a:p>
            <a:pPr>
              <a:buNone/>
              <a:defRPr sz="825" b="1">
                <a:solidFill>
                  <a:srgbClr val="667482"/>
                </a:solidFill>
              </a:defRPr>
            </a:pPr>
            <a:r>
              <a:rPr sz="825" b="1">
                <a:solidFill>
                  <a:srgbClr val="667482"/>
                </a:solidFill>
              </a:rPr>
              <a:t>04</a:t>
            </a:r>
          </a:p>
        </p:txBody>
      </p:sp>
    </p:spTree>
    <p:extLst>
      <p:ext uri="{BB962C8B-B14F-4D97-AF65-F5344CB8AC3E}">
        <p14:creationId xmlns:p14="http://schemas.microsoft.com/office/powerpoint/2010/main" val="1714771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1E33DF86-AF3C-431E-AAF9-BA8A1B39AF7B}"/>
              </a:ext>
            </a:extLst>
          </p:cNvPr>
          <p:cNvSpPr>
            <a:spLocks noGrp="1"/>
          </p:cNvSpPr>
          <p:nvPr/>
        </p:nvSpPr>
        <p:spPr>
          <a:xfrm>
            <a:off x="9525000" y="400050"/>
            <a:ext cx="2114550" cy="228600"/>
          </a:xfrm>
          <a:prstGeom prst="rect">
            <a:avLst/>
          </a:prstGeom>
          <a:noFill/>
          <a:ln w="0">
            <a:noFill/>
            <a:prstDash val="solid"/>
          </a:ln>
        </p:spPr>
        <p:txBody>
          <a:bodyPr/>
          <a:lstStyle/>
          <a:p>
            <a:pPr>
              <a:buNone/>
              <a:defRPr sz="1125" b="1">
                <a:solidFill>
                  <a:srgbClr val="2774C7"/>
                </a:solidFill>
              </a:defRPr>
            </a:pPr>
            <a:r>
              <a:rPr sz="1125" b="1">
                <a:solidFill>
                  <a:srgbClr val="2774C7"/>
                </a:solidFill>
              </a:rPr>
              <a:t>04 / TRUST</a:t>
            </a:r>
          </a:p>
        </p:txBody>
      </p:sp>
      <p:sp>
        <p:nvSpPr>
          <p:cNvPr id="2" name="矩形 1">
            <a:extLst>
              <a:ext uri="{FF2B5EF4-FFF2-40B4-BE49-F238E27FC236}">
                <a16:creationId xmlns:a16="http://schemas.microsoft.com/office/drawing/2014/main" id="{13DE60CA-0F8D-41E3-9A3A-4269719EAEC8}"/>
              </a:ext>
            </a:extLst>
          </p:cNvPr>
          <p:cNvSpPr>
            <a:spLocks noGrp="1"/>
          </p:cNvSpPr>
          <p:nvPr/>
        </p:nvSpPr>
        <p:spPr>
          <a:xfrm>
            <a:off x="552450" y="781050"/>
            <a:ext cx="10477500" cy="685800"/>
          </a:xfrm>
          <a:prstGeom prst="rect">
            <a:avLst/>
          </a:prstGeom>
          <a:noFill/>
          <a:ln w="0">
            <a:noFill/>
            <a:prstDash val="solid"/>
          </a:ln>
        </p:spPr>
        <p:txBody>
          <a:bodyPr/>
          <a:lstStyle/>
          <a:p>
            <a:pPr>
              <a:buNone/>
              <a:defRPr sz="2850" b="1">
                <a:solidFill>
                  <a:srgbClr val="12263A"/>
                </a:solidFill>
              </a:defRPr>
            </a:pPr>
            <a:r>
              <a:rPr sz="2850" b="1">
                <a:solidFill>
                  <a:srgbClr val="12263A"/>
                </a:solidFill>
              </a:rPr>
              <a:t>The data model makes the promise enforceable.</a:t>
            </a:r>
          </a:p>
        </p:txBody>
      </p:sp>
      <p:sp>
        <p:nvSpPr>
          <p:cNvPr id="3" name="矩形 2">
            <a:extLst>
              <a:ext uri="{FF2B5EF4-FFF2-40B4-BE49-F238E27FC236}">
                <a16:creationId xmlns:a16="http://schemas.microsoft.com/office/drawing/2014/main" id="{EA6980B1-4FBF-4B8C-AFA4-C8565108B3E7}"/>
              </a:ext>
            </a:extLst>
          </p:cNvPr>
          <p:cNvSpPr>
            <a:spLocks noGrp="1"/>
          </p:cNvSpPr>
          <p:nvPr/>
        </p:nvSpPr>
        <p:spPr>
          <a:xfrm>
            <a:off x="552450" y="1524000"/>
            <a:ext cx="11087100" cy="28575"/>
          </a:xfrm>
          <a:prstGeom prst="rect">
            <a:avLst/>
          </a:prstGeom>
          <a:solidFill>
            <a:srgbClr val="2774C7"/>
          </a:solidFill>
          <a:ln w="0">
            <a:noFill/>
            <a:prstDash val="solid"/>
          </a:ln>
        </p:spPr>
        <p:txBody>
          <a:bodyPr/>
          <a:lstStyle/>
          <a:p>
            <a:endParaRPr lang="zh-CN" altLang="en-US"/>
          </a:p>
        </p:txBody>
      </p:sp>
      <p:sp>
        <p:nvSpPr>
          <p:cNvPr id="4" name="矩形 3">
            <a:extLst>
              <a:ext uri="{FF2B5EF4-FFF2-40B4-BE49-F238E27FC236}">
                <a16:creationId xmlns:a16="http://schemas.microsoft.com/office/drawing/2014/main" id="{320C76D6-41B0-493B-8F14-E57139F0B10F}"/>
              </a:ext>
            </a:extLst>
          </p:cNvPr>
          <p:cNvSpPr>
            <a:spLocks noGrp="1"/>
          </p:cNvSpPr>
          <p:nvPr/>
        </p:nvSpPr>
        <p:spPr>
          <a:xfrm>
            <a:off x="552450" y="1657350"/>
            <a:ext cx="10477500" cy="361950"/>
          </a:xfrm>
          <a:prstGeom prst="rect">
            <a:avLst/>
          </a:prstGeom>
          <a:noFill/>
          <a:ln w="0">
            <a:noFill/>
            <a:prstDash val="solid"/>
          </a:ln>
        </p:spPr>
        <p:txBody>
          <a:bodyPr/>
          <a:lstStyle/>
          <a:p>
            <a:pPr>
              <a:buNone/>
              <a:defRPr sz="1275" b="0">
                <a:solidFill>
                  <a:srgbClr val="667482"/>
                </a:solidFill>
              </a:defRPr>
            </a:pPr>
            <a:r>
              <a:rPr sz="1275" b="0">
                <a:solidFill>
                  <a:srgbClr val="667482"/>
                </a:solidFill>
              </a:rPr>
              <a:t>Normalised relationships, explicit constraints and a project access boundary.</a:t>
            </a:r>
          </a:p>
        </p:txBody>
      </p:sp>
      <p:sp>
        <p:nvSpPr>
          <p:cNvPr id="5" name="矩形: 圆角 4">
            <a:extLst>
              <a:ext uri="{FF2B5EF4-FFF2-40B4-BE49-F238E27FC236}">
                <a16:creationId xmlns:a16="http://schemas.microsoft.com/office/drawing/2014/main" id="{11CE8003-60F8-47B8-BD3D-D3DF52905045}"/>
              </a:ext>
            </a:extLst>
          </p:cNvPr>
          <p:cNvSpPr>
            <a:spLocks noGrp="1"/>
          </p:cNvSpPr>
          <p:nvPr/>
        </p:nvSpPr>
        <p:spPr>
          <a:xfrm>
            <a:off x="552450" y="2152650"/>
            <a:ext cx="1943100" cy="1123950"/>
          </a:xfrm>
          <a:prstGeom prst="roundRect">
            <a:avLst>
              <a:gd name="adj" fmla="val 13559"/>
            </a:avLst>
          </a:prstGeom>
          <a:solidFill>
            <a:srgbClr val="FFFFFF"/>
          </a:solidFill>
          <a:ln w="9525">
            <a:solidFill>
              <a:srgbClr val="CBD5DF"/>
            </a:solidFill>
            <a:prstDash val="solid"/>
          </a:ln>
        </p:spPr>
        <p:txBody>
          <a:bodyPr/>
          <a:lstStyle/>
          <a:p>
            <a:endParaRPr lang="zh-CN" altLang="en-US"/>
          </a:p>
        </p:txBody>
      </p:sp>
      <p:sp>
        <p:nvSpPr>
          <p:cNvPr id="6" name="矩形 5">
            <a:extLst>
              <a:ext uri="{FF2B5EF4-FFF2-40B4-BE49-F238E27FC236}">
                <a16:creationId xmlns:a16="http://schemas.microsoft.com/office/drawing/2014/main" id="{4DD47A2F-517A-4FFA-B1BF-E5463E6FBD4F}"/>
              </a:ext>
            </a:extLst>
          </p:cNvPr>
          <p:cNvSpPr>
            <a:spLocks noGrp="1"/>
          </p:cNvSpPr>
          <p:nvPr/>
        </p:nvSpPr>
        <p:spPr>
          <a:xfrm>
            <a:off x="781050" y="2305050"/>
            <a:ext cx="819150" cy="495300"/>
          </a:xfrm>
          <a:prstGeom prst="rect">
            <a:avLst/>
          </a:prstGeom>
          <a:noFill/>
          <a:ln w="0">
            <a:noFill/>
            <a:prstDash val="solid"/>
          </a:ln>
        </p:spPr>
        <p:txBody>
          <a:bodyPr/>
          <a:lstStyle/>
          <a:p>
            <a:pPr>
              <a:buNone/>
              <a:defRPr sz="3000" b="1">
                <a:solidFill>
                  <a:srgbClr val="2774C7"/>
                </a:solidFill>
              </a:defRPr>
            </a:pPr>
            <a:r>
              <a:rPr sz="3000" b="1">
                <a:solidFill>
                  <a:srgbClr val="2774C7"/>
                </a:solidFill>
              </a:rPr>
              <a:t>13</a:t>
            </a:r>
          </a:p>
        </p:txBody>
      </p:sp>
      <p:sp>
        <p:nvSpPr>
          <p:cNvPr id="7" name="矩形 6">
            <a:extLst>
              <a:ext uri="{FF2B5EF4-FFF2-40B4-BE49-F238E27FC236}">
                <a16:creationId xmlns:a16="http://schemas.microsoft.com/office/drawing/2014/main" id="{09E1171D-1AFF-4C6E-9B8F-1A3CAED601DF}"/>
              </a:ext>
            </a:extLst>
          </p:cNvPr>
          <p:cNvSpPr>
            <a:spLocks noGrp="1"/>
          </p:cNvSpPr>
          <p:nvPr/>
        </p:nvSpPr>
        <p:spPr>
          <a:xfrm>
            <a:off x="781050" y="2847975"/>
            <a:ext cx="1524000" cy="247650"/>
          </a:xfrm>
          <a:prstGeom prst="rect">
            <a:avLst/>
          </a:prstGeom>
          <a:noFill/>
          <a:ln w="0">
            <a:noFill/>
            <a:prstDash val="solid"/>
          </a:ln>
        </p:spPr>
        <p:txBody>
          <a:bodyPr/>
          <a:lstStyle/>
          <a:p>
            <a:pPr>
              <a:buNone/>
              <a:defRPr sz="1050" b="0">
                <a:solidFill>
                  <a:srgbClr val="667482"/>
                </a:solidFill>
              </a:defRPr>
            </a:pPr>
            <a:r>
              <a:rPr sz="1050" b="0">
                <a:solidFill>
                  <a:srgbClr val="667482"/>
                </a:solidFill>
              </a:rPr>
              <a:t>normalised tables</a:t>
            </a:r>
          </a:p>
        </p:txBody>
      </p:sp>
      <p:sp>
        <p:nvSpPr>
          <p:cNvPr id="8" name="矩形: 圆角 7">
            <a:extLst>
              <a:ext uri="{FF2B5EF4-FFF2-40B4-BE49-F238E27FC236}">
                <a16:creationId xmlns:a16="http://schemas.microsoft.com/office/drawing/2014/main" id="{C1BD1802-9842-4BBE-A3CB-E047A0F63641}"/>
              </a:ext>
            </a:extLst>
          </p:cNvPr>
          <p:cNvSpPr>
            <a:spLocks noGrp="1"/>
          </p:cNvSpPr>
          <p:nvPr/>
        </p:nvSpPr>
        <p:spPr>
          <a:xfrm>
            <a:off x="2724150" y="2152650"/>
            <a:ext cx="1943100" cy="1123950"/>
          </a:xfrm>
          <a:prstGeom prst="roundRect">
            <a:avLst>
              <a:gd name="adj" fmla="val 13559"/>
            </a:avLst>
          </a:prstGeom>
          <a:solidFill>
            <a:srgbClr val="FFFFFF"/>
          </a:solidFill>
          <a:ln w="9525">
            <a:solidFill>
              <a:srgbClr val="CBD5DF"/>
            </a:solidFill>
            <a:prstDash val="solid"/>
          </a:ln>
        </p:spPr>
        <p:txBody>
          <a:bodyPr/>
          <a:lstStyle/>
          <a:p>
            <a:endParaRPr lang="zh-CN" altLang="en-US"/>
          </a:p>
        </p:txBody>
      </p:sp>
      <p:sp>
        <p:nvSpPr>
          <p:cNvPr id="9" name="矩形 8">
            <a:extLst>
              <a:ext uri="{FF2B5EF4-FFF2-40B4-BE49-F238E27FC236}">
                <a16:creationId xmlns:a16="http://schemas.microsoft.com/office/drawing/2014/main" id="{849690F9-E634-4640-834D-8E40D7457CF3}"/>
              </a:ext>
            </a:extLst>
          </p:cNvPr>
          <p:cNvSpPr>
            <a:spLocks noGrp="1"/>
          </p:cNvSpPr>
          <p:nvPr/>
        </p:nvSpPr>
        <p:spPr>
          <a:xfrm>
            <a:off x="2952750" y="2305050"/>
            <a:ext cx="819150" cy="495300"/>
          </a:xfrm>
          <a:prstGeom prst="rect">
            <a:avLst/>
          </a:prstGeom>
          <a:noFill/>
          <a:ln w="0">
            <a:noFill/>
            <a:prstDash val="solid"/>
          </a:ln>
        </p:spPr>
        <p:txBody>
          <a:bodyPr/>
          <a:lstStyle/>
          <a:p>
            <a:pPr>
              <a:buNone/>
              <a:defRPr sz="3000" b="1">
                <a:solidFill>
                  <a:srgbClr val="2774C7"/>
                </a:solidFill>
              </a:defRPr>
            </a:pPr>
            <a:r>
              <a:rPr sz="3000" b="1">
                <a:solidFill>
                  <a:srgbClr val="2774C7"/>
                </a:solidFill>
              </a:rPr>
              <a:t>18</a:t>
            </a:r>
          </a:p>
        </p:txBody>
      </p:sp>
      <p:sp>
        <p:nvSpPr>
          <p:cNvPr id="10" name="矩形 9">
            <a:extLst>
              <a:ext uri="{FF2B5EF4-FFF2-40B4-BE49-F238E27FC236}">
                <a16:creationId xmlns:a16="http://schemas.microsoft.com/office/drawing/2014/main" id="{C40D18B9-F778-46AA-8B58-45AE04E242E7}"/>
              </a:ext>
            </a:extLst>
          </p:cNvPr>
          <p:cNvSpPr>
            <a:spLocks noGrp="1"/>
          </p:cNvSpPr>
          <p:nvPr/>
        </p:nvSpPr>
        <p:spPr>
          <a:xfrm>
            <a:off x="2952750" y="2847975"/>
            <a:ext cx="1524000" cy="247650"/>
          </a:xfrm>
          <a:prstGeom prst="rect">
            <a:avLst/>
          </a:prstGeom>
          <a:noFill/>
          <a:ln w="0">
            <a:noFill/>
            <a:prstDash val="solid"/>
          </a:ln>
        </p:spPr>
        <p:txBody>
          <a:bodyPr/>
          <a:lstStyle/>
          <a:p>
            <a:pPr>
              <a:buNone/>
              <a:defRPr sz="1050" b="0">
                <a:solidFill>
                  <a:srgbClr val="667482"/>
                </a:solidFill>
              </a:defRPr>
            </a:pPr>
            <a:r>
              <a:rPr sz="1050" b="0">
                <a:solidFill>
                  <a:srgbClr val="667482"/>
                </a:solidFill>
              </a:rPr>
              <a:t>traceable requirements</a:t>
            </a:r>
          </a:p>
        </p:txBody>
      </p:sp>
      <p:sp>
        <p:nvSpPr>
          <p:cNvPr id="11" name="矩形: 圆角 10">
            <a:extLst>
              <a:ext uri="{FF2B5EF4-FFF2-40B4-BE49-F238E27FC236}">
                <a16:creationId xmlns:a16="http://schemas.microsoft.com/office/drawing/2014/main" id="{FC9D3A31-DC52-4CD5-BE1C-0FDDD83100ED}"/>
              </a:ext>
            </a:extLst>
          </p:cNvPr>
          <p:cNvSpPr>
            <a:spLocks noGrp="1"/>
          </p:cNvSpPr>
          <p:nvPr/>
        </p:nvSpPr>
        <p:spPr>
          <a:xfrm>
            <a:off x="4895850" y="2152650"/>
            <a:ext cx="1943100" cy="1123950"/>
          </a:xfrm>
          <a:prstGeom prst="roundRect">
            <a:avLst>
              <a:gd name="adj" fmla="val 13559"/>
            </a:avLst>
          </a:prstGeom>
          <a:solidFill>
            <a:srgbClr val="FFFFFF"/>
          </a:solidFill>
          <a:ln w="9525">
            <a:solidFill>
              <a:srgbClr val="CBD5DF"/>
            </a:solidFill>
            <a:prstDash val="solid"/>
          </a:ln>
        </p:spPr>
        <p:txBody>
          <a:bodyPr/>
          <a:lstStyle/>
          <a:p>
            <a:endParaRPr lang="zh-CN" altLang="en-US"/>
          </a:p>
        </p:txBody>
      </p:sp>
      <p:sp>
        <p:nvSpPr>
          <p:cNvPr id="12" name="矩形 11">
            <a:extLst>
              <a:ext uri="{FF2B5EF4-FFF2-40B4-BE49-F238E27FC236}">
                <a16:creationId xmlns:a16="http://schemas.microsoft.com/office/drawing/2014/main" id="{E3CC7242-D2CC-4232-9CBB-9C13FC8CA5DD}"/>
              </a:ext>
            </a:extLst>
          </p:cNvPr>
          <p:cNvSpPr>
            <a:spLocks noGrp="1"/>
          </p:cNvSpPr>
          <p:nvPr/>
        </p:nvSpPr>
        <p:spPr>
          <a:xfrm>
            <a:off x="5124450" y="2305050"/>
            <a:ext cx="819150" cy="495300"/>
          </a:xfrm>
          <a:prstGeom prst="rect">
            <a:avLst/>
          </a:prstGeom>
          <a:noFill/>
          <a:ln w="0">
            <a:noFill/>
            <a:prstDash val="solid"/>
          </a:ln>
        </p:spPr>
        <p:txBody>
          <a:bodyPr/>
          <a:lstStyle/>
          <a:p>
            <a:pPr>
              <a:buNone/>
              <a:defRPr sz="3000" b="1">
                <a:solidFill>
                  <a:srgbClr val="2774C7"/>
                </a:solidFill>
              </a:defRPr>
            </a:pPr>
            <a:r>
              <a:rPr sz="3000" b="1">
                <a:solidFill>
                  <a:srgbClr val="2774C7"/>
                </a:solidFill>
              </a:rPr>
              <a:t>11</a:t>
            </a:r>
          </a:p>
        </p:txBody>
      </p:sp>
      <p:sp>
        <p:nvSpPr>
          <p:cNvPr id="13" name="矩形 12">
            <a:extLst>
              <a:ext uri="{FF2B5EF4-FFF2-40B4-BE49-F238E27FC236}">
                <a16:creationId xmlns:a16="http://schemas.microsoft.com/office/drawing/2014/main" id="{E0DEFFE5-F655-4891-BF09-94ECE071A05A}"/>
              </a:ext>
            </a:extLst>
          </p:cNvPr>
          <p:cNvSpPr>
            <a:spLocks noGrp="1"/>
          </p:cNvSpPr>
          <p:nvPr/>
        </p:nvSpPr>
        <p:spPr>
          <a:xfrm>
            <a:off x="5124450" y="2847975"/>
            <a:ext cx="1524000" cy="247650"/>
          </a:xfrm>
          <a:prstGeom prst="rect">
            <a:avLst/>
          </a:prstGeom>
          <a:noFill/>
          <a:ln w="0">
            <a:noFill/>
            <a:prstDash val="solid"/>
          </a:ln>
        </p:spPr>
        <p:txBody>
          <a:bodyPr/>
          <a:lstStyle/>
          <a:p>
            <a:pPr>
              <a:buNone/>
              <a:defRPr sz="1050" b="0">
                <a:solidFill>
                  <a:srgbClr val="667482"/>
                </a:solidFill>
              </a:defRPr>
            </a:pPr>
            <a:r>
              <a:rPr sz="1050" b="0">
                <a:solidFill>
                  <a:srgbClr val="667482"/>
                </a:solidFill>
              </a:rPr>
              <a:t>generic views</a:t>
            </a:r>
          </a:p>
        </p:txBody>
      </p:sp>
      <p:sp>
        <p:nvSpPr>
          <p:cNvPr id="14" name="矩形: 圆角 13">
            <a:extLst>
              <a:ext uri="{FF2B5EF4-FFF2-40B4-BE49-F238E27FC236}">
                <a16:creationId xmlns:a16="http://schemas.microsoft.com/office/drawing/2014/main" id="{456425F9-31D7-4C86-AC36-82B5A584358A}"/>
              </a:ext>
            </a:extLst>
          </p:cNvPr>
          <p:cNvSpPr>
            <a:spLocks noGrp="1"/>
          </p:cNvSpPr>
          <p:nvPr/>
        </p:nvSpPr>
        <p:spPr>
          <a:xfrm>
            <a:off x="7239000" y="2152650"/>
            <a:ext cx="4400550" cy="2743200"/>
          </a:xfrm>
          <a:prstGeom prst="roundRect">
            <a:avLst>
              <a:gd name="adj" fmla="val 6250"/>
            </a:avLst>
          </a:prstGeom>
          <a:solidFill>
            <a:srgbClr val="12263A"/>
          </a:solidFill>
          <a:ln w="0">
            <a:noFill/>
            <a:prstDash val="solid"/>
          </a:ln>
        </p:spPr>
        <p:txBody>
          <a:bodyPr/>
          <a:lstStyle/>
          <a:p>
            <a:endParaRPr lang="zh-CN" altLang="en-US"/>
          </a:p>
        </p:txBody>
      </p:sp>
      <p:sp>
        <p:nvSpPr>
          <p:cNvPr id="15" name="矩形 14">
            <a:extLst>
              <a:ext uri="{FF2B5EF4-FFF2-40B4-BE49-F238E27FC236}">
                <a16:creationId xmlns:a16="http://schemas.microsoft.com/office/drawing/2014/main" id="{2FFCA451-2DCD-46AB-9877-A0F877692283}"/>
              </a:ext>
            </a:extLst>
          </p:cNvPr>
          <p:cNvSpPr>
            <a:spLocks noGrp="1"/>
          </p:cNvSpPr>
          <p:nvPr/>
        </p:nvSpPr>
        <p:spPr>
          <a:xfrm>
            <a:off x="7524750" y="2419350"/>
            <a:ext cx="3143250" cy="266700"/>
          </a:xfrm>
          <a:prstGeom prst="rect">
            <a:avLst/>
          </a:prstGeom>
          <a:noFill/>
          <a:ln w="0">
            <a:noFill/>
            <a:prstDash val="solid"/>
          </a:ln>
        </p:spPr>
        <p:txBody>
          <a:bodyPr/>
          <a:lstStyle/>
          <a:p>
            <a:pPr>
              <a:buNone/>
              <a:defRPr sz="1125" b="1">
                <a:solidFill>
                  <a:srgbClr val="BFE2D4"/>
                </a:solidFill>
              </a:defRPr>
            </a:pPr>
            <a:r>
              <a:rPr sz="1125" b="1">
                <a:solidFill>
                  <a:srgbClr val="BFE2D4"/>
                </a:solidFill>
              </a:rPr>
              <a:t>REQUIRED CARDINALITIES</a:t>
            </a:r>
          </a:p>
        </p:txBody>
      </p:sp>
      <p:sp>
        <p:nvSpPr>
          <p:cNvPr id="16" name="矩形 15">
            <a:extLst>
              <a:ext uri="{FF2B5EF4-FFF2-40B4-BE49-F238E27FC236}">
                <a16:creationId xmlns:a16="http://schemas.microsoft.com/office/drawing/2014/main" id="{757B0C2A-ED09-4478-AEF5-6123CC928B27}"/>
              </a:ext>
            </a:extLst>
          </p:cNvPr>
          <p:cNvSpPr>
            <a:spLocks noGrp="1"/>
          </p:cNvSpPr>
          <p:nvPr/>
        </p:nvSpPr>
        <p:spPr>
          <a:xfrm>
            <a:off x="7524750" y="2952750"/>
            <a:ext cx="3238500" cy="323850"/>
          </a:xfrm>
          <a:prstGeom prst="rect">
            <a:avLst/>
          </a:prstGeom>
          <a:noFill/>
          <a:ln w="0">
            <a:noFill/>
            <a:prstDash val="solid"/>
          </a:ln>
        </p:spPr>
        <p:txBody>
          <a:bodyPr/>
          <a:lstStyle/>
          <a:p>
            <a:pPr>
              <a:buNone/>
              <a:defRPr sz="1725" b="1">
                <a:solidFill>
                  <a:srgbClr val="FFFFFF"/>
                </a:solidFill>
              </a:defRPr>
            </a:pPr>
            <a:r>
              <a:rPr sz="1725" b="1">
                <a:solidFill>
                  <a:srgbClr val="FFFFFF"/>
                </a:solidFill>
              </a:rPr>
              <a:t>users  1 : 1  profiles</a:t>
            </a:r>
          </a:p>
        </p:txBody>
      </p:sp>
      <p:sp>
        <p:nvSpPr>
          <p:cNvPr id="17" name="矩形 16">
            <a:extLst>
              <a:ext uri="{FF2B5EF4-FFF2-40B4-BE49-F238E27FC236}">
                <a16:creationId xmlns:a16="http://schemas.microsoft.com/office/drawing/2014/main" id="{64A37891-5993-4D03-B3E9-231EE710C79B}"/>
              </a:ext>
            </a:extLst>
          </p:cNvPr>
          <p:cNvSpPr>
            <a:spLocks noGrp="1"/>
          </p:cNvSpPr>
          <p:nvPr/>
        </p:nvSpPr>
        <p:spPr>
          <a:xfrm>
            <a:off x="7524750" y="3543300"/>
            <a:ext cx="3238500" cy="323850"/>
          </a:xfrm>
          <a:prstGeom prst="rect">
            <a:avLst/>
          </a:prstGeom>
          <a:noFill/>
          <a:ln w="0">
            <a:noFill/>
            <a:prstDash val="solid"/>
          </a:ln>
        </p:spPr>
        <p:txBody>
          <a:bodyPr/>
          <a:lstStyle/>
          <a:p>
            <a:pPr>
              <a:buNone/>
              <a:defRPr sz="1725" b="1">
                <a:solidFill>
                  <a:srgbClr val="FFFFFF"/>
                </a:solidFill>
              </a:defRPr>
            </a:pPr>
            <a:r>
              <a:rPr sz="1725" b="1">
                <a:solidFill>
                  <a:srgbClr val="FFFFFF"/>
                </a:solidFill>
              </a:rPr>
              <a:t>projects  1 : N  tasks</a:t>
            </a:r>
          </a:p>
        </p:txBody>
      </p:sp>
      <p:sp>
        <p:nvSpPr>
          <p:cNvPr id="18" name="矩形 17">
            <a:extLst>
              <a:ext uri="{FF2B5EF4-FFF2-40B4-BE49-F238E27FC236}">
                <a16:creationId xmlns:a16="http://schemas.microsoft.com/office/drawing/2014/main" id="{1A24EC7A-B806-499E-B4DA-CF40E30644D2}"/>
              </a:ext>
            </a:extLst>
          </p:cNvPr>
          <p:cNvSpPr>
            <a:spLocks noGrp="1"/>
          </p:cNvSpPr>
          <p:nvPr/>
        </p:nvSpPr>
        <p:spPr>
          <a:xfrm>
            <a:off x="7524750" y="4133850"/>
            <a:ext cx="3238500" cy="323850"/>
          </a:xfrm>
          <a:prstGeom prst="rect">
            <a:avLst/>
          </a:prstGeom>
          <a:noFill/>
          <a:ln w="0">
            <a:noFill/>
            <a:prstDash val="solid"/>
          </a:ln>
        </p:spPr>
        <p:txBody>
          <a:bodyPr/>
          <a:lstStyle/>
          <a:p>
            <a:pPr>
              <a:buNone/>
              <a:defRPr sz="1725" b="1">
                <a:solidFill>
                  <a:srgbClr val="FFFFFF"/>
                </a:solidFill>
              </a:defRPr>
            </a:pPr>
            <a:r>
              <a:rPr sz="1725" b="1">
                <a:solidFill>
                  <a:srgbClr val="FFFFFF"/>
                </a:solidFill>
              </a:rPr>
              <a:t>tasks  M : N  users</a:t>
            </a:r>
          </a:p>
        </p:txBody>
      </p:sp>
      <p:sp>
        <p:nvSpPr>
          <p:cNvPr id="19" name="矩形: 圆角 18">
            <a:extLst>
              <a:ext uri="{FF2B5EF4-FFF2-40B4-BE49-F238E27FC236}">
                <a16:creationId xmlns:a16="http://schemas.microsoft.com/office/drawing/2014/main" id="{74FC6F8B-DA09-437F-9D3C-E55B1268C654}"/>
              </a:ext>
            </a:extLst>
          </p:cNvPr>
          <p:cNvSpPr>
            <a:spLocks noGrp="1"/>
          </p:cNvSpPr>
          <p:nvPr/>
        </p:nvSpPr>
        <p:spPr>
          <a:xfrm>
            <a:off x="552450" y="3619500"/>
            <a:ext cx="6286500" cy="1276350"/>
          </a:xfrm>
          <a:prstGeom prst="roundRect">
            <a:avLst>
              <a:gd name="adj" fmla="val 11940"/>
            </a:avLst>
          </a:prstGeom>
          <a:solidFill>
            <a:srgbClr val="EAF2FA"/>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DB391451-ECB7-4D03-A835-CA85FDA843A5}"/>
              </a:ext>
            </a:extLst>
          </p:cNvPr>
          <p:cNvSpPr>
            <a:spLocks noGrp="1"/>
          </p:cNvSpPr>
          <p:nvPr/>
        </p:nvSpPr>
        <p:spPr>
          <a:xfrm>
            <a:off x="819150" y="3848100"/>
            <a:ext cx="2286000" cy="247650"/>
          </a:xfrm>
          <a:prstGeom prst="rect">
            <a:avLst/>
          </a:prstGeom>
          <a:noFill/>
          <a:ln w="0">
            <a:noFill/>
            <a:prstDash val="solid"/>
          </a:ln>
        </p:spPr>
        <p:txBody>
          <a:bodyPr/>
          <a:lstStyle/>
          <a:p>
            <a:pPr>
              <a:buNone/>
              <a:defRPr sz="1125" b="1">
                <a:solidFill>
                  <a:srgbClr val="2774C7"/>
                </a:solidFill>
              </a:defRPr>
            </a:pPr>
            <a:r>
              <a:rPr sz="1125" b="1">
                <a:solidFill>
                  <a:srgbClr val="2774C7"/>
                </a:solidFill>
              </a:rPr>
              <a:t>SECURITY BOUNDARY</a:t>
            </a:r>
          </a:p>
        </p:txBody>
      </p:sp>
      <p:sp>
        <p:nvSpPr>
          <p:cNvPr id="21" name="矩形 20">
            <a:extLst>
              <a:ext uri="{FF2B5EF4-FFF2-40B4-BE49-F238E27FC236}">
                <a16:creationId xmlns:a16="http://schemas.microsoft.com/office/drawing/2014/main" id="{93510D59-F81F-43CA-8BB3-BF464BE3DA7E}"/>
              </a:ext>
            </a:extLst>
          </p:cNvPr>
          <p:cNvSpPr>
            <a:spLocks noGrp="1"/>
          </p:cNvSpPr>
          <p:nvPr/>
        </p:nvSpPr>
        <p:spPr>
          <a:xfrm>
            <a:off x="819150" y="4229100"/>
            <a:ext cx="5600700" cy="552450"/>
          </a:xfrm>
          <a:prstGeom prst="rect">
            <a:avLst/>
          </a:prstGeom>
          <a:noFill/>
          <a:ln w="0">
            <a:noFill/>
            <a:prstDash val="solid"/>
          </a:ln>
        </p:spPr>
        <p:txBody>
          <a:bodyPr/>
          <a:lstStyle/>
          <a:p>
            <a:pPr>
              <a:buNone/>
              <a:defRPr sz="1350" b="0">
                <a:solidFill>
                  <a:srgbClr val="12263A"/>
                </a:solidFill>
              </a:defRPr>
            </a:pPr>
            <a:r>
              <a:rPr sz="1350" b="0">
                <a:solidFill>
                  <a:srgbClr val="12263A"/>
                </a:solidFill>
              </a:rPr>
              <a:t>Every protected request validates the session, current project membership and role before reading or changing data.</a:t>
            </a:r>
          </a:p>
        </p:txBody>
      </p:sp>
      <p:sp>
        <p:nvSpPr>
          <p:cNvPr id="22" name="矩形: 圆角 21">
            <a:extLst>
              <a:ext uri="{FF2B5EF4-FFF2-40B4-BE49-F238E27FC236}">
                <a16:creationId xmlns:a16="http://schemas.microsoft.com/office/drawing/2014/main" id="{8654AD0B-414A-4AED-951B-27453F0DE167}"/>
              </a:ext>
            </a:extLst>
          </p:cNvPr>
          <p:cNvSpPr>
            <a:spLocks noGrp="1"/>
          </p:cNvSpPr>
          <p:nvPr/>
        </p:nvSpPr>
        <p:spPr>
          <a:xfrm>
            <a:off x="552450" y="5219700"/>
            <a:ext cx="11087100" cy="704850"/>
          </a:xfrm>
          <a:prstGeom prst="roundRect">
            <a:avLst>
              <a:gd name="adj" fmla="val 18919"/>
            </a:avLst>
          </a:prstGeom>
          <a:solidFill>
            <a:srgbClr val="FFFFFF"/>
          </a:solidFill>
          <a:ln w="9525">
            <a:solidFill>
              <a:srgbClr val="CBD5DF"/>
            </a:solidFill>
            <a:prstDash val="solid"/>
          </a:ln>
        </p:spPr>
        <p:txBody>
          <a:bodyPr/>
          <a:lstStyle/>
          <a:p>
            <a:endParaRPr lang="zh-CN" altLang="en-US"/>
          </a:p>
        </p:txBody>
      </p:sp>
      <p:sp>
        <p:nvSpPr>
          <p:cNvPr id="23" name="矩形 22">
            <a:extLst>
              <a:ext uri="{FF2B5EF4-FFF2-40B4-BE49-F238E27FC236}">
                <a16:creationId xmlns:a16="http://schemas.microsoft.com/office/drawing/2014/main" id="{D299CB6D-5119-4522-9167-3D3159C97981}"/>
              </a:ext>
            </a:extLst>
          </p:cNvPr>
          <p:cNvSpPr>
            <a:spLocks noGrp="1"/>
          </p:cNvSpPr>
          <p:nvPr/>
        </p:nvSpPr>
        <p:spPr>
          <a:xfrm>
            <a:off x="800100" y="5448300"/>
            <a:ext cx="1428750" cy="228600"/>
          </a:xfrm>
          <a:prstGeom prst="rect">
            <a:avLst/>
          </a:prstGeom>
          <a:noFill/>
          <a:ln w="0">
            <a:noFill/>
            <a:prstDash val="solid"/>
          </a:ln>
        </p:spPr>
        <p:txBody>
          <a:bodyPr/>
          <a:lstStyle/>
          <a:p>
            <a:pPr>
              <a:buNone/>
              <a:defRPr sz="1050" b="1">
                <a:solidFill>
                  <a:srgbClr val="E96B4B"/>
                </a:solidFill>
              </a:defRPr>
            </a:pPr>
            <a:r>
              <a:rPr sz="1050" b="1">
                <a:solidFill>
                  <a:srgbClr val="E96B4B"/>
                </a:solidFill>
              </a:rPr>
              <a:t>BUILD STACK</a:t>
            </a:r>
          </a:p>
        </p:txBody>
      </p:sp>
      <p:sp>
        <p:nvSpPr>
          <p:cNvPr id="24" name="矩形 23">
            <a:extLst>
              <a:ext uri="{FF2B5EF4-FFF2-40B4-BE49-F238E27FC236}">
                <a16:creationId xmlns:a16="http://schemas.microsoft.com/office/drawing/2014/main" id="{8A12F390-44C3-4261-85D8-F02FCEA2DA3F}"/>
              </a:ext>
            </a:extLst>
          </p:cNvPr>
          <p:cNvSpPr>
            <a:spLocks noGrp="1"/>
          </p:cNvSpPr>
          <p:nvPr/>
        </p:nvSpPr>
        <p:spPr>
          <a:xfrm>
            <a:off x="2247900" y="5429250"/>
            <a:ext cx="8858250" cy="266700"/>
          </a:xfrm>
          <a:prstGeom prst="rect">
            <a:avLst/>
          </a:prstGeom>
          <a:noFill/>
          <a:ln w="0">
            <a:noFill/>
            <a:prstDash val="solid"/>
          </a:ln>
        </p:spPr>
        <p:txBody>
          <a:bodyPr/>
          <a:lstStyle/>
          <a:p>
            <a:pPr>
              <a:buNone/>
              <a:defRPr sz="1275" b="1">
                <a:solidFill>
                  <a:srgbClr val="12263A"/>
                </a:solidFill>
              </a:defRPr>
            </a:pPr>
            <a:r>
              <a:rPr lang="zh-CN" altLang="zh-CN" sz="1275" b="1" dirty="0">
                <a:solidFill>
                  <a:srgbClr val="12263A"/>
                </a:solidFill>
              </a:rPr>
              <a:t>React · Django + Django REST Framework · PostgreSQL · Django ORM · Django Tests + Playwright · Docker + GitHub Actions</a:t>
            </a:r>
            <a:endParaRPr sz="1275" b="1" dirty="0">
              <a:solidFill>
                <a:srgbClr val="12263A"/>
              </a:solidFill>
            </a:endParaRPr>
          </a:p>
        </p:txBody>
      </p:sp>
      <p:sp>
        <p:nvSpPr>
          <p:cNvPr id="25" name="矩形 24">
            <a:extLst>
              <a:ext uri="{FF2B5EF4-FFF2-40B4-BE49-F238E27FC236}">
                <a16:creationId xmlns:a16="http://schemas.microsoft.com/office/drawing/2014/main" id="{392D60F0-095D-45AB-9E13-AF3104562458}"/>
              </a:ext>
            </a:extLst>
          </p:cNvPr>
          <p:cNvSpPr>
            <a:spLocks noGrp="1"/>
          </p:cNvSpPr>
          <p:nvPr/>
        </p:nvSpPr>
        <p:spPr>
          <a:xfrm>
            <a:off x="552450" y="6496050"/>
            <a:ext cx="4953000" cy="190500"/>
          </a:xfrm>
          <a:prstGeom prst="rect">
            <a:avLst/>
          </a:prstGeom>
          <a:noFill/>
          <a:ln w="0">
            <a:noFill/>
            <a:prstDash val="solid"/>
          </a:ln>
        </p:spPr>
        <p:txBody>
          <a:bodyPr/>
          <a:lstStyle/>
          <a:p>
            <a:pPr>
              <a:buNone/>
              <a:defRPr sz="825" b="1">
                <a:solidFill>
                  <a:srgbClr val="667482"/>
                </a:solidFill>
              </a:defRPr>
            </a:pPr>
            <a:r>
              <a:rPr lang="en-US" altLang="zh-CN" sz="825" b="1" dirty="0">
                <a:solidFill>
                  <a:srgbClr val="667482"/>
                </a:solidFill>
              </a:rPr>
              <a:t>STUDYCREW  |  ELEC3609  |  GROUP 06</a:t>
            </a:r>
          </a:p>
        </p:txBody>
      </p:sp>
      <p:sp>
        <p:nvSpPr>
          <p:cNvPr id="26" name="矩形 25">
            <a:extLst>
              <a:ext uri="{FF2B5EF4-FFF2-40B4-BE49-F238E27FC236}">
                <a16:creationId xmlns:a16="http://schemas.microsoft.com/office/drawing/2014/main" id="{04C44A13-0935-489F-92DD-F397EA72BD99}"/>
              </a:ext>
            </a:extLst>
          </p:cNvPr>
          <p:cNvSpPr>
            <a:spLocks noGrp="1"/>
          </p:cNvSpPr>
          <p:nvPr/>
        </p:nvSpPr>
        <p:spPr>
          <a:xfrm>
            <a:off x="11125200" y="6496050"/>
            <a:ext cx="514350" cy="190500"/>
          </a:xfrm>
          <a:prstGeom prst="rect">
            <a:avLst/>
          </a:prstGeom>
          <a:noFill/>
          <a:ln w="0">
            <a:noFill/>
            <a:prstDash val="solid"/>
          </a:ln>
        </p:spPr>
        <p:txBody>
          <a:bodyPr/>
          <a:lstStyle/>
          <a:p>
            <a:pPr>
              <a:buNone/>
              <a:defRPr sz="825" b="1">
                <a:solidFill>
                  <a:srgbClr val="667482"/>
                </a:solidFill>
              </a:defRPr>
            </a:pPr>
            <a:r>
              <a:rPr sz="825" b="1">
                <a:solidFill>
                  <a:srgbClr val="667482"/>
                </a:solidFill>
              </a:rPr>
              <a:t>05</a:t>
            </a:r>
          </a:p>
        </p:txBody>
      </p:sp>
    </p:spTree>
    <p:extLst>
      <p:ext uri="{BB962C8B-B14F-4D97-AF65-F5344CB8AC3E}">
        <p14:creationId xmlns:p14="http://schemas.microsoft.com/office/powerpoint/2010/main" val="183137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E18663A0-7734-4764-90DB-CC87B689F3DC}"/>
              </a:ext>
            </a:extLst>
          </p:cNvPr>
          <p:cNvSpPr>
            <a:spLocks noGrp="1"/>
          </p:cNvSpPr>
          <p:nvPr/>
        </p:nvSpPr>
        <p:spPr>
          <a:xfrm>
            <a:off x="9525000" y="400050"/>
            <a:ext cx="2114550" cy="228600"/>
          </a:xfrm>
          <a:prstGeom prst="rect">
            <a:avLst/>
          </a:prstGeom>
          <a:noFill/>
          <a:ln w="0">
            <a:noFill/>
            <a:prstDash val="solid"/>
          </a:ln>
        </p:spPr>
        <p:txBody>
          <a:bodyPr/>
          <a:lstStyle/>
          <a:p>
            <a:pPr>
              <a:buNone/>
              <a:defRPr sz="1125" b="1">
                <a:solidFill>
                  <a:srgbClr val="2774C7"/>
                </a:solidFill>
              </a:defRPr>
            </a:pPr>
            <a:r>
              <a:rPr sz="1125" b="1">
                <a:solidFill>
                  <a:srgbClr val="2774C7"/>
                </a:solidFill>
              </a:rPr>
              <a:t>05 / DELIVERY</a:t>
            </a:r>
          </a:p>
        </p:txBody>
      </p:sp>
      <p:sp>
        <p:nvSpPr>
          <p:cNvPr id="2" name="矩形 1">
            <a:extLst>
              <a:ext uri="{FF2B5EF4-FFF2-40B4-BE49-F238E27FC236}">
                <a16:creationId xmlns:a16="http://schemas.microsoft.com/office/drawing/2014/main" id="{733235E8-A1D1-44DB-82DB-AC844A02204F}"/>
              </a:ext>
            </a:extLst>
          </p:cNvPr>
          <p:cNvSpPr>
            <a:spLocks noGrp="1"/>
          </p:cNvSpPr>
          <p:nvPr/>
        </p:nvSpPr>
        <p:spPr>
          <a:xfrm>
            <a:off x="552450" y="781050"/>
            <a:ext cx="10477500" cy="685800"/>
          </a:xfrm>
          <a:prstGeom prst="rect">
            <a:avLst/>
          </a:prstGeom>
          <a:noFill/>
          <a:ln w="0">
            <a:noFill/>
            <a:prstDash val="solid"/>
          </a:ln>
        </p:spPr>
        <p:txBody>
          <a:bodyPr/>
          <a:lstStyle/>
          <a:p>
            <a:pPr>
              <a:buNone/>
              <a:defRPr sz="3150" b="1">
                <a:solidFill>
                  <a:srgbClr val="12263A"/>
                </a:solidFill>
              </a:defRPr>
            </a:pPr>
            <a:r>
              <a:rPr sz="3150" b="1">
                <a:solidFill>
                  <a:srgbClr val="12263A"/>
                </a:solidFill>
              </a:rPr>
              <a:t>Freeze the MVP. Deliver tested vertical slices.</a:t>
            </a:r>
          </a:p>
        </p:txBody>
      </p:sp>
      <p:sp>
        <p:nvSpPr>
          <p:cNvPr id="3" name="矩形 2">
            <a:extLst>
              <a:ext uri="{FF2B5EF4-FFF2-40B4-BE49-F238E27FC236}">
                <a16:creationId xmlns:a16="http://schemas.microsoft.com/office/drawing/2014/main" id="{90349687-4EA4-4B81-A341-BB102662282C}"/>
              </a:ext>
            </a:extLst>
          </p:cNvPr>
          <p:cNvSpPr>
            <a:spLocks noGrp="1"/>
          </p:cNvSpPr>
          <p:nvPr/>
        </p:nvSpPr>
        <p:spPr>
          <a:xfrm>
            <a:off x="552450" y="1524000"/>
            <a:ext cx="11087100" cy="28575"/>
          </a:xfrm>
          <a:prstGeom prst="rect">
            <a:avLst/>
          </a:prstGeom>
          <a:solidFill>
            <a:srgbClr val="2774C7"/>
          </a:solidFill>
          <a:ln w="0">
            <a:noFill/>
            <a:prstDash val="solid"/>
          </a:ln>
        </p:spPr>
        <p:txBody>
          <a:bodyPr/>
          <a:lstStyle/>
          <a:p>
            <a:endParaRPr lang="zh-CN" altLang="en-US"/>
          </a:p>
        </p:txBody>
      </p:sp>
      <p:sp>
        <p:nvSpPr>
          <p:cNvPr id="4" name="矩形 3">
            <a:extLst>
              <a:ext uri="{FF2B5EF4-FFF2-40B4-BE49-F238E27FC236}">
                <a16:creationId xmlns:a16="http://schemas.microsoft.com/office/drawing/2014/main" id="{B4258612-C83F-4424-93AC-A7DC5B8A3BF8}"/>
              </a:ext>
            </a:extLst>
          </p:cNvPr>
          <p:cNvSpPr>
            <a:spLocks noGrp="1"/>
          </p:cNvSpPr>
          <p:nvPr/>
        </p:nvSpPr>
        <p:spPr>
          <a:xfrm>
            <a:off x="552450" y="1657350"/>
            <a:ext cx="10477500" cy="361950"/>
          </a:xfrm>
          <a:prstGeom prst="rect">
            <a:avLst/>
          </a:prstGeom>
          <a:noFill/>
          <a:ln w="0">
            <a:noFill/>
            <a:prstDash val="solid"/>
          </a:ln>
        </p:spPr>
        <p:txBody>
          <a:bodyPr/>
          <a:lstStyle/>
          <a:p>
            <a:pPr>
              <a:buNone/>
              <a:defRPr sz="1275" b="0">
                <a:solidFill>
                  <a:srgbClr val="667482"/>
                </a:solidFill>
              </a:defRPr>
            </a:pPr>
            <a:r>
              <a:rPr sz="1275" b="0">
                <a:solidFill>
                  <a:srgbClr val="667482"/>
                </a:solidFill>
              </a:rPr>
              <a:t>Weeks 5-12, with search and export held behind the core quality gates.</a:t>
            </a:r>
          </a:p>
        </p:txBody>
      </p:sp>
      <p:sp>
        <p:nvSpPr>
          <p:cNvPr id="5" name="矩形 4">
            <a:extLst>
              <a:ext uri="{FF2B5EF4-FFF2-40B4-BE49-F238E27FC236}">
                <a16:creationId xmlns:a16="http://schemas.microsoft.com/office/drawing/2014/main" id="{E027BA91-0DE2-40F7-925A-C854802C3EF4}"/>
              </a:ext>
            </a:extLst>
          </p:cNvPr>
          <p:cNvSpPr>
            <a:spLocks noGrp="1"/>
          </p:cNvSpPr>
          <p:nvPr/>
        </p:nvSpPr>
        <p:spPr>
          <a:xfrm>
            <a:off x="32956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W5</a:t>
            </a:r>
          </a:p>
        </p:txBody>
      </p:sp>
      <p:sp>
        <p:nvSpPr>
          <p:cNvPr id="6" name="矩形 5">
            <a:extLst>
              <a:ext uri="{FF2B5EF4-FFF2-40B4-BE49-F238E27FC236}">
                <a16:creationId xmlns:a16="http://schemas.microsoft.com/office/drawing/2014/main" id="{9524697F-244B-45F1-B405-5A7C3F431DEE}"/>
              </a:ext>
            </a:extLst>
          </p:cNvPr>
          <p:cNvSpPr>
            <a:spLocks noGrp="1"/>
          </p:cNvSpPr>
          <p:nvPr/>
        </p:nvSpPr>
        <p:spPr>
          <a:xfrm>
            <a:off x="3295650" y="2819400"/>
            <a:ext cx="9525" cy="2057400"/>
          </a:xfrm>
          <a:prstGeom prst="rect">
            <a:avLst/>
          </a:prstGeom>
          <a:solidFill>
            <a:srgbClr val="CBD5DF"/>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42A35CC4-3F83-4C6C-B83A-816E44AA5547}"/>
              </a:ext>
            </a:extLst>
          </p:cNvPr>
          <p:cNvSpPr>
            <a:spLocks noGrp="1"/>
          </p:cNvSpPr>
          <p:nvPr/>
        </p:nvSpPr>
        <p:spPr>
          <a:xfrm>
            <a:off x="42481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W6</a:t>
            </a:r>
          </a:p>
        </p:txBody>
      </p:sp>
      <p:sp>
        <p:nvSpPr>
          <p:cNvPr id="8" name="矩形 7">
            <a:extLst>
              <a:ext uri="{FF2B5EF4-FFF2-40B4-BE49-F238E27FC236}">
                <a16:creationId xmlns:a16="http://schemas.microsoft.com/office/drawing/2014/main" id="{98560EF9-1D69-4E44-B9A0-8CB6FF8C33F7}"/>
              </a:ext>
            </a:extLst>
          </p:cNvPr>
          <p:cNvSpPr>
            <a:spLocks noGrp="1"/>
          </p:cNvSpPr>
          <p:nvPr/>
        </p:nvSpPr>
        <p:spPr>
          <a:xfrm>
            <a:off x="4248150" y="2819400"/>
            <a:ext cx="9525" cy="2057400"/>
          </a:xfrm>
          <a:prstGeom prst="rect">
            <a:avLst/>
          </a:prstGeom>
          <a:solidFill>
            <a:srgbClr val="CBD5DF"/>
          </a:soli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3EE60A0F-2260-43D4-83AD-FC717D4037C0}"/>
              </a:ext>
            </a:extLst>
          </p:cNvPr>
          <p:cNvSpPr>
            <a:spLocks noGrp="1"/>
          </p:cNvSpPr>
          <p:nvPr/>
        </p:nvSpPr>
        <p:spPr>
          <a:xfrm>
            <a:off x="52006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W7</a:t>
            </a:r>
          </a:p>
        </p:txBody>
      </p:sp>
      <p:sp>
        <p:nvSpPr>
          <p:cNvPr id="10" name="矩形 9">
            <a:extLst>
              <a:ext uri="{FF2B5EF4-FFF2-40B4-BE49-F238E27FC236}">
                <a16:creationId xmlns:a16="http://schemas.microsoft.com/office/drawing/2014/main" id="{9ECE5C4F-AAD8-47D8-8B45-3086054FBEA6}"/>
              </a:ext>
            </a:extLst>
          </p:cNvPr>
          <p:cNvSpPr>
            <a:spLocks noGrp="1"/>
          </p:cNvSpPr>
          <p:nvPr/>
        </p:nvSpPr>
        <p:spPr>
          <a:xfrm>
            <a:off x="5200650" y="2819400"/>
            <a:ext cx="9525" cy="2057400"/>
          </a:xfrm>
          <a:prstGeom prst="rect">
            <a:avLst/>
          </a:prstGeom>
          <a:solidFill>
            <a:srgbClr val="CBD5DF"/>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E8F47676-9037-4C44-B0E7-ECE626557E4B}"/>
              </a:ext>
            </a:extLst>
          </p:cNvPr>
          <p:cNvSpPr>
            <a:spLocks noGrp="1"/>
          </p:cNvSpPr>
          <p:nvPr/>
        </p:nvSpPr>
        <p:spPr>
          <a:xfrm>
            <a:off x="61531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W8</a:t>
            </a:r>
          </a:p>
        </p:txBody>
      </p:sp>
      <p:sp>
        <p:nvSpPr>
          <p:cNvPr id="12" name="矩形 11">
            <a:extLst>
              <a:ext uri="{FF2B5EF4-FFF2-40B4-BE49-F238E27FC236}">
                <a16:creationId xmlns:a16="http://schemas.microsoft.com/office/drawing/2014/main" id="{D1869610-EA90-4ADA-AD37-4F99298E156A}"/>
              </a:ext>
            </a:extLst>
          </p:cNvPr>
          <p:cNvSpPr>
            <a:spLocks noGrp="1"/>
          </p:cNvSpPr>
          <p:nvPr/>
        </p:nvSpPr>
        <p:spPr>
          <a:xfrm>
            <a:off x="6153150" y="2819400"/>
            <a:ext cx="9525" cy="2057400"/>
          </a:xfrm>
          <a:prstGeom prst="rect">
            <a:avLst/>
          </a:prstGeom>
          <a:solidFill>
            <a:srgbClr val="CBD5DF"/>
          </a:solidFill>
          <a:ln w="0">
            <a:noFill/>
            <a:prstDash val="solid"/>
          </a:ln>
        </p:spPr>
        <p:txBody>
          <a:bodyPr/>
          <a:lstStyle/>
          <a:p>
            <a:endParaRPr lang="zh-CN" altLang="en-US"/>
          </a:p>
        </p:txBody>
      </p:sp>
      <p:sp>
        <p:nvSpPr>
          <p:cNvPr id="13" name="矩形 12">
            <a:extLst>
              <a:ext uri="{FF2B5EF4-FFF2-40B4-BE49-F238E27FC236}">
                <a16:creationId xmlns:a16="http://schemas.microsoft.com/office/drawing/2014/main" id="{2649D819-6CEC-40A4-B282-349239665F46}"/>
              </a:ext>
            </a:extLst>
          </p:cNvPr>
          <p:cNvSpPr>
            <a:spLocks noGrp="1"/>
          </p:cNvSpPr>
          <p:nvPr/>
        </p:nvSpPr>
        <p:spPr>
          <a:xfrm>
            <a:off x="71056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W9</a:t>
            </a:r>
          </a:p>
        </p:txBody>
      </p:sp>
      <p:sp>
        <p:nvSpPr>
          <p:cNvPr id="14" name="矩形 13">
            <a:extLst>
              <a:ext uri="{FF2B5EF4-FFF2-40B4-BE49-F238E27FC236}">
                <a16:creationId xmlns:a16="http://schemas.microsoft.com/office/drawing/2014/main" id="{E96C7170-B3E4-4569-ABD8-9AECC72FF782}"/>
              </a:ext>
            </a:extLst>
          </p:cNvPr>
          <p:cNvSpPr>
            <a:spLocks noGrp="1"/>
          </p:cNvSpPr>
          <p:nvPr/>
        </p:nvSpPr>
        <p:spPr>
          <a:xfrm>
            <a:off x="7105650" y="2819400"/>
            <a:ext cx="9525" cy="2057400"/>
          </a:xfrm>
          <a:prstGeom prst="rect">
            <a:avLst/>
          </a:prstGeom>
          <a:solidFill>
            <a:srgbClr val="CBD5DF"/>
          </a:solidFill>
          <a:ln w="0">
            <a:noFill/>
            <a:prstDash val="solid"/>
          </a:ln>
        </p:spPr>
        <p:txBody>
          <a:bodyPr/>
          <a:lstStyle/>
          <a:p>
            <a:endParaRPr lang="zh-CN" altLang="en-US"/>
          </a:p>
        </p:txBody>
      </p:sp>
      <p:sp>
        <p:nvSpPr>
          <p:cNvPr id="15" name="矩形 14">
            <a:extLst>
              <a:ext uri="{FF2B5EF4-FFF2-40B4-BE49-F238E27FC236}">
                <a16:creationId xmlns:a16="http://schemas.microsoft.com/office/drawing/2014/main" id="{7C99B469-4A66-4C88-9E8E-29D5DCAAB432}"/>
              </a:ext>
            </a:extLst>
          </p:cNvPr>
          <p:cNvSpPr>
            <a:spLocks noGrp="1"/>
          </p:cNvSpPr>
          <p:nvPr/>
        </p:nvSpPr>
        <p:spPr>
          <a:xfrm>
            <a:off x="80581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W10</a:t>
            </a:r>
          </a:p>
        </p:txBody>
      </p:sp>
      <p:sp>
        <p:nvSpPr>
          <p:cNvPr id="16" name="矩形 15">
            <a:extLst>
              <a:ext uri="{FF2B5EF4-FFF2-40B4-BE49-F238E27FC236}">
                <a16:creationId xmlns:a16="http://schemas.microsoft.com/office/drawing/2014/main" id="{9D4AE8FE-F0A3-4248-9078-472D67558BC5}"/>
              </a:ext>
            </a:extLst>
          </p:cNvPr>
          <p:cNvSpPr>
            <a:spLocks noGrp="1"/>
          </p:cNvSpPr>
          <p:nvPr/>
        </p:nvSpPr>
        <p:spPr>
          <a:xfrm>
            <a:off x="8058150" y="2819400"/>
            <a:ext cx="9525" cy="2057400"/>
          </a:xfrm>
          <a:prstGeom prst="rect">
            <a:avLst/>
          </a:prstGeom>
          <a:solidFill>
            <a:srgbClr val="CBD5DF"/>
          </a:solidFill>
          <a:ln w="0">
            <a:noFill/>
            <a:prstDash val="solid"/>
          </a:ln>
        </p:spPr>
        <p:txBody>
          <a:bodyPr/>
          <a:lstStyle/>
          <a:p>
            <a:endParaRPr lang="zh-CN" altLang="en-US"/>
          </a:p>
        </p:txBody>
      </p:sp>
      <p:sp>
        <p:nvSpPr>
          <p:cNvPr id="17" name="矩形 16">
            <a:extLst>
              <a:ext uri="{FF2B5EF4-FFF2-40B4-BE49-F238E27FC236}">
                <a16:creationId xmlns:a16="http://schemas.microsoft.com/office/drawing/2014/main" id="{648DF74E-3A30-46BE-A3D9-7D05556BFB78}"/>
              </a:ext>
            </a:extLst>
          </p:cNvPr>
          <p:cNvSpPr>
            <a:spLocks noGrp="1"/>
          </p:cNvSpPr>
          <p:nvPr/>
        </p:nvSpPr>
        <p:spPr>
          <a:xfrm>
            <a:off x="90106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W11</a:t>
            </a:r>
          </a:p>
        </p:txBody>
      </p:sp>
      <p:sp>
        <p:nvSpPr>
          <p:cNvPr id="18" name="矩形 17">
            <a:extLst>
              <a:ext uri="{FF2B5EF4-FFF2-40B4-BE49-F238E27FC236}">
                <a16:creationId xmlns:a16="http://schemas.microsoft.com/office/drawing/2014/main" id="{4AEFBA1C-FB1D-4AF1-B7F0-3E3484AA83D5}"/>
              </a:ext>
            </a:extLst>
          </p:cNvPr>
          <p:cNvSpPr>
            <a:spLocks noGrp="1"/>
          </p:cNvSpPr>
          <p:nvPr/>
        </p:nvSpPr>
        <p:spPr>
          <a:xfrm>
            <a:off x="9010650" y="2819400"/>
            <a:ext cx="9525" cy="2057400"/>
          </a:xfrm>
          <a:prstGeom prst="rect">
            <a:avLst/>
          </a:prstGeom>
          <a:solidFill>
            <a:srgbClr val="CBD5DF"/>
          </a:solidFill>
          <a:ln w="0">
            <a:noFill/>
            <a:prstDash val="solid"/>
          </a:ln>
        </p:spPr>
        <p:txBody>
          <a:bodyPr/>
          <a:lstStyle/>
          <a:p>
            <a:endParaRPr lang="zh-CN" altLang="en-US"/>
          </a:p>
        </p:txBody>
      </p:sp>
      <p:sp>
        <p:nvSpPr>
          <p:cNvPr id="19" name="矩形 18">
            <a:extLst>
              <a:ext uri="{FF2B5EF4-FFF2-40B4-BE49-F238E27FC236}">
                <a16:creationId xmlns:a16="http://schemas.microsoft.com/office/drawing/2014/main" id="{4B72FB7F-2527-43D8-89A7-DA7459B1143A}"/>
              </a:ext>
            </a:extLst>
          </p:cNvPr>
          <p:cNvSpPr>
            <a:spLocks noGrp="1"/>
          </p:cNvSpPr>
          <p:nvPr/>
        </p:nvSpPr>
        <p:spPr>
          <a:xfrm>
            <a:off x="9963150" y="2571750"/>
            <a:ext cx="571500" cy="228600"/>
          </a:xfrm>
          <a:prstGeom prst="rect">
            <a:avLst/>
          </a:prstGeom>
          <a:noFill/>
          <a:ln w="0">
            <a:noFill/>
            <a:prstDash val="solid"/>
          </a:ln>
        </p:spPr>
        <p:txBody>
          <a:bodyPr/>
          <a:lstStyle/>
          <a:p>
            <a:pPr>
              <a:buNone/>
              <a:defRPr sz="975" b="1">
                <a:solidFill>
                  <a:srgbClr val="667482"/>
                </a:solidFill>
              </a:defRPr>
            </a:pPr>
            <a:r>
              <a:rPr sz="975" b="1">
                <a:solidFill>
                  <a:srgbClr val="667482"/>
                </a:solidFill>
              </a:rPr>
              <a:t>W12</a:t>
            </a:r>
          </a:p>
        </p:txBody>
      </p:sp>
      <p:sp>
        <p:nvSpPr>
          <p:cNvPr id="20" name="矩形 19">
            <a:extLst>
              <a:ext uri="{FF2B5EF4-FFF2-40B4-BE49-F238E27FC236}">
                <a16:creationId xmlns:a16="http://schemas.microsoft.com/office/drawing/2014/main" id="{28CA7E87-AD9B-4592-8983-93186D24FF61}"/>
              </a:ext>
            </a:extLst>
          </p:cNvPr>
          <p:cNvSpPr>
            <a:spLocks noGrp="1"/>
          </p:cNvSpPr>
          <p:nvPr/>
        </p:nvSpPr>
        <p:spPr>
          <a:xfrm>
            <a:off x="9963150" y="2819400"/>
            <a:ext cx="9525" cy="2057400"/>
          </a:xfrm>
          <a:prstGeom prst="rect">
            <a:avLst/>
          </a:prstGeom>
          <a:solidFill>
            <a:srgbClr val="CBD5DF"/>
          </a:solidFill>
          <a:ln w="0">
            <a:noFill/>
            <a:prstDash val="solid"/>
          </a:ln>
        </p:spPr>
        <p:txBody>
          <a:bodyPr/>
          <a:lstStyle/>
          <a:p>
            <a:endParaRPr lang="zh-CN" altLang="en-US"/>
          </a:p>
        </p:txBody>
      </p:sp>
      <p:sp>
        <p:nvSpPr>
          <p:cNvPr id="21" name="矩形 20">
            <a:extLst>
              <a:ext uri="{FF2B5EF4-FFF2-40B4-BE49-F238E27FC236}">
                <a16:creationId xmlns:a16="http://schemas.microsoft.com/office/drawing/2014/main" id="{FA72C716-AFF4-430C-B2AC-7D13117E8C71}"/>
              </a:ext>
            </a:extLst>
          </p:cNvPr>
          <p:cNvSpPr>
            <a:spLocks noGrp="1"/>
          </p:cNvSpPr>
          <p:nvPr/>
        </p:nvSpPr>
        <p:spPr>
          <a:xfrm>
            <a:off x="552450" y="3028950"/>
            <a:ext cx="2381250" cy="266700"/>
          </a:xfrm>
          <a:prstGeom prst="rect">
            <a:avLst/>
          </a:prstGeom>
          <a:noFill/>
          <a:ln w="0">
            <a:noFill/>
            <a:prstDash val="solid"/>
          </a:ln>
        </p:spPr>
        <p:txBody>
          <a:bodyPr/>
          <a:lstStyle/>
          <a:p>
            <a:pPr>
              <a:buNone/>
              <a:defRPr sz="1275" b="1">
                <a:solidFill>
                  <a:srgbClr val="12263A"/>
                </a:solidFill>
              </a:defRPr>
            </a:pPr>
            <a:r>
              <a:rPr sz="1275" b="1">
                <a:solidFill>
                  <a:srgbClr val="12263A"/>
                </a:solidFill>
              </a:rPr>
              <a:t>Validate + freeze</a:t>
            </a:r>
          </a:p>
        </p:txBody>
      </p:sp>
      <p:sp>
        <p:nvSpPr>
          <p:cNvPr id="22" name="矩形: 圆角 21">
            <a:extLst>
              <a:ext uri="{FF2B5EF4-FFF2-40B4-BE49-F238E27FC236}">
                <a16:creationId xmlns:a16="http://schemas.microsoft.com/office/drawing/2014/main" id="{E113B143-2A8E-4130-8BBE-3542B99F70AA}"/>
              </a:ext>
            </a:extLst>
          </p:cNvPr>
          <p:cNvSpPr>
            <a:spLocks noGrp="1"/>
          </p:cNvSpPr>
          <p:nvPr/>
        </p:nvSpPr>
        <p:spPr>
          <a:xfrm>
            <a:off x="3352800" y="2971800"/>
            <a:ext cx="819150" cy="323850"/>
          </a:xfrm>
          <a:prstGeom prst="roundRect">
            <a:avLst>
              <a:gd name="adj" fmla="val 38095"/>
            </a:avLst>
          </a:prstGeom>
          <a:solidFill>
            <a:srgbClr val="E96B4B"/>
          </a:solidFill>
          <a:ln w="0">
            <a:noFill/>
            <a:prstDash val="solid"/>
          </a:ln>
        </p:spPr>
        <p:txBody>
          <a:bodyPr/>
          <a:lstStyle/>
          <a:p>
            <a:endParaRPr lang="zh-CN" altLang="en-US"/>
          </a:p>
        </p:txBody>
      </p:sp>
      <p:sp>
        <p:nvSpPr>
          <p:cNvPr id="23" name="矩形 22">
            <a:extLst>
              <a:ext uri="{FF2B5EF4-FFF2-40B4-BE49-F238E27FC236}">
                <a16:creationId xmlns:a16="http://schemas.microsoft.com/office/drawing/2014/main" id="{FA52F02F-0D57-475B-ACBF-333809BB20D7}"/>
              </a:ext>
            </a:extLst>
          </p:cNvPr>
          <p:cNvSpPr>
            <a:spLocks noGrp="1"/>
          </p:cNvSpPr>
          <p:nvPr/>
        </p:nvSpPr>
        <p:spPr>
          <a:xfrm>
            <a:off x="552450" y="3505200"/>
            <a:ext cx="2381250" cy="266700"/>
          </a:xfrm>
          <a:prstGeom prst="rect">
            <a:avLst/>
          </a:prstGeom>
          <a:noFill/>
          <a:ln w="0">
            <a:noFill/>
            <a:prstDash val="solid"/>
          </a:ln>
        </p:spPr>
        <p:txBody>
          <a:bodyPr/>
          <a:lstStyle/>
          <a:p>
            <a:pPr>
              <a:buNone/>
              <a:defRPr sz="1275" b="1">
                <a:solidFill>
                  <a:srgbClr val="12263A"/>
                </a:solidFill>
              </a:defRPr>
            </a:pPr>
            <a:r>
              <a:rPr sz="1275" b="1">
                <a:solidFill>
                  <a:srgbClr val="12263A"/>
                </a:solidFill>
              </a:rPr>
              <a:t>Core vertical slices</a:t>
            </a:r>
          </a:p>
        </p:txBody>
      </p:sp>
      <p:sp>
        <p:nvSpPr>
          <p:cNvPr id="24" name="矩形: 圆角 23">
            <a:extLst>
              <a:ext uri="{FF2B5EF4-FFF2-40B4-BE49-F238E27FC236}">
                <a16:creationId xmlns:a16="http://schemas.microsoft.com/office/drawing/2014/main" id="{05D1A0EB-1BF5-4B5E-9C42-29AE4E0F86E8}"/>
              </a:ext>
            </a:extLst>
          </p:cNvPr>
          <p:cNvSpPr>
            <a:spLocks noGrp="1"/>
          </p:cNvSpPr>
          <p:nvPr/>
        </p:nvSpPr>
        <p:spPr>
          <a:xfrm>
            <a:off x="4305300" y="3448050"/>
            <a:ext cx="3676650" cy="323850"/>
          </a:xfrm>
          <a:prstGeom prst="roundRect">
            <a:avLst>
              <a:gd name="adj" fmla="val 38095"/>
            </a:avLst>
          </a:prstGeom>
          <a:solidFill>
            <a:srgbClr val="2774C7"/>
          </a:solidFill>
          <a:ln w="0">
            <a:noFill/>
            <a:prstDash val="solid"/>
          </a:ln>
        </p:spPr>
        <p:txBody>
          <a:bodyPr/>
          <a:lstStyle/>
          <a:p>
            <a:endParaRPr lang="zh-CN" altLang="en-US"/>
          </a:p>
        </p:txBody>
      </p:sp>
      <p:sp>
        <p:nvSpPr>
          <p:cNvPr id="25" name="矩形 24">
            <a:extLst>
              <a:ext uri="{FF2B5EF4-FFF2-40B4-BE49-F238E27FC236}">
                <a16:creationId xmlns:a16="http://schemas.microsoft.com/office/drawing/2014/main" id="{1ABB8136-5455-4D6C-9298-6039CA241714}"/>
              </a:ext>
            </a:extLst>
          </p:cNvPr>
          <p:cNvSpPr>
            <a:spLocks noGrp="1"/>
          </p:cNvSpPr>
          <p:nvPr/>
        </p:nvSpPr>
        <p:spPr>
          <a:xfrm>
            <a:off x="552450" y="3981450"/>
            <a:ext cx="2381250" cy="266700"/>
          </a:xfrm>
          <a:prstGeom prst="rect">
            <a:avLst/>
          </a:prstGeom>
          <a:noFill/>
          <a:ln w="0">
            <a:noFill/>
            <a:prstDash val="solid"/>
          </a:ln>
        </p:spPr>
        <p:txBody>
          <a:bodyPr/>
          <a:lstStyle/>
          <a:p>
            <a:pPr>
              <a:buNone/>
              <a:defRPr sz="1275" b="1">
                <a:solidFill>
                  <a:srgbClr val="12263A"/>
                </a:solidFill>
              </a:defRPr>
            </a:pPr>
            <a:r>
              <a:rPr sz="1275" b="1">
                <a:solidFill>
                  <a:srgbClr val="12263A"/>
                </a:solidFill>
              </a:rPr>
              <a:t>Integrate + test</a:t>
            </a:r>
          </a:p>
        </p:txBody>
      </p:sp>
      <p:sp>
        <p:nvSpPr>
          <p:cNvPr id="26" name="矩形: 圆角 25">
            <a:extLst>
              <a:ext uri="{FF2B5EF4-FFF2-40B4-BE49-F238E27FC236}">
                <a16:creationId xmlns:a16="http://schemas.microsoft.com/office/drawing/2014/main" id="{0F22CCC1-B973-4A97-A8CB-D5AD776056B1}"/>
              </a:ext>
            </a:extLst>
          </p:cNvPr>
          <p:cNvSpPr>
            <a:spLocks noGrp="1"/>
          </p:cNvSpPr>
          <p:nvPr/>
        </p:nvSpPr>
        <p:spPr>
          <a:xfrm>
            <a:off x="8115300" y="3924300"/>
            <a:ext cx="1771650" cy="323850"/>
          </a:xfrm>
          <a:prstGeom prst="roundRect">
            <a:avLst>
              <a:gd name="adj" fmla="val 38095"/>
            </a:avLst>
          </a:prstGeom>
          <a:solidFill>
            <a:srgbClr val="12263A"/>
          </a:solidFill>
          <a:ln w="0">
            <a:noFill/>
            <a:prstDash val="solid"/>
          </a:ln>
        </p:spPr>
        <p:txBody>
          <a:bodyPr/>
          <a:lstStyle/>
          <a:p>
            <a:endParaRPr lang="zh-CN" altLang="en-US"/>
          </a:p>
        </p:txBody>
      </p:sp>
      <p:sp>
        <p:nvSpPr>
          <p:cNvPr id="27" name="矩形 26">
            <a:extLst>
              <a:ext uri="{FF2B5EF4-FFF2-40B4-BE49-F238E27FC236}">
                <a16:creationId xmlns:a16="http://schemas.microsoft.com/office/drawing/2014/main" id="{40A95331-39F2-412F-BAF2-46E7E75667AA}"/>
              </a:ext>
            </a:extLst>
          </p:cNvPr>
          <p:cNvSpPr>
            <a:spLocks noGrp="1"/>
          </p:cNvSpPr>
          <p:nvPr/>
        </p:nvSpPr>
        <p:spPr>
          <a:xfrm>
            <a:off x="552450" y="4457700"/>
            <a:ext cx="2381250" cy="266700"/>
          </a:xfrm>
          <a:prstGeom prst="rect">
            <a:avLst/>
          </a:prstGeom>
          <a:noFill/>
          <a:ln w="0">
            <a:noFill/>
            <a:prstDash val="solid"/>
          </a:ln>
        </p:spPr>
        <p:txBody>
          <a:bodyPr/>
          <a:lstStyle/>
          <a:p>
            <a:pPr>
              <a:buNone/>
              <a:defRPr sz="1275" b="1">
                <a:solidFill>
                  <a:srgbClr val="12263A"/>
                </a:solidFill>
              </a:defRPr>
            </a:pPr>
            <a:r>
              <a:rPr sz="1275" b="1">
                <a:solidFill>
                  <a:srgbClr val="12263A"/>
                </a:solidFill>
              </a:rPr>
              <a:t>Rehearse + harden</a:t>
            </a:r>
          </a:p>
        </p:txBody>
      </p:sp>
      <p:sp>
        <p:nvSpPr>
          <p:cNvPr id="28" name="矩形: 圆角 27">
            <a:extLst>
              <a:ext uri="{FF2B5EF4-FFF2-40B4-BE49-F238E27FC236}">
                <a16:creationId xmlns:a16="http://schemas.microsoft.com/office/drawing/2014/main" id="{EFBFB779-17A6-41E5-8BE0-1D5DB2ACDF94}"/>
              </a:ext>
            </a:extLst>
          </p:cNvPr>
          <p:cNvSpPr>
            <a:spLocks noGrp="1"/>
          </p:cNvSpPr>
          <p:nvPr/>
        </p:nvSpPr>
        <p:spPr>
          <a:xfrm>
            <a:off x="10020300" y="4400550"/>
            <a:ext cx="819150" cy="323850"/>
          </a:xfrm>
          <a:prstGeom prst="roundRect">
            <a:avLst>
              <a:gd name="adj" fmla="val 38095"/>
            </a:avLst>
          </a:prstGeom>
          <a:solidFill>
            <a:srgbClr val="4D7C78"/>
          </a:solidFill>
          <a:ln w="0">
            <a:noFill/>
            <a:prstDash val="solid"/>
          </a:ln>
        </p:spPr>
        <p:txBody>
          <a:bodyPr/>
          <a:lstStyle/>
          <a:p>
            <a:endParaRPr lang="zh-CN" altLang="en-US"/>
          </a:p>
        </p:txBody>
      </p:sp>
      <p:sp>
        <p:nvSpPr>
          <p:cNvPr id="29" name="矩形: 圆角 28">
            <a:extLst>
              <a:ext uri="{FF2B5EF4-FFF2-40B4-BE49-F238E27FC236}">
                <a16:creationId xmlns:a16="http://schemas.microsoft.com/office/drawing/2014/main" id="{BEE74DCE-F58A-4D50-AB9F-3AB9854EEE51}"/>
              </a:ext>
            </a:extLst>
          </p:cNvPr>
          <p:cNvSpPr>
            <a:spLocks noGrp="1"/>
          </p:cNvSpPr>
          <p:nvPr/>
        </p:nvSpPr>
        <p:spPr>
          <a:xfrm>
            <a:off x="552450" y="5105400"/>
            <a:ext cx="11087100" cy="800100"/>
          </a:xfrm>
          <a:prstGeom prst="roundRect">
            <a:avLst>
              <a:gd name="adj" fmla="val 18750"/>
            </a:avLst>
          </a:prstGeom>
          <a:solidFill>
            <a:srgbClr val="12263A"/>
          </a:solidFill>
          <a:ln w="0">
            <a:noFill/>
            <a:prstDash val="solid"/>
          </a:ln>
        </p:spPr>
        <p:txBody>
          <a:bodyPr/>
          <a:lstStyle/>
          <a:p>
            <a:endParaRPr lang="zh-CN" altLang="en-US"/>
          </a:p>
        </p:txBody>
      </p:sp>
      <p:sp>
        <p:nvSpPr>
          <p:cNvPr id="30" name="矩形 29">
            <a:extLst>
              <a:ext uri="{FF2B5EF4-FFF2-40B4-BE49-F238E27FC236}">
                <a16:creationId xmlns:a16="http://schemas.microsoft.com/office/drawing/2014/main" id="{AFF8851F-0D88-4A85-AE9F-6DCFBBF64DC4}"/>
              </a:ext>
            </a:extLst>
          </p:cNvPr>
          <p:cNvSpPr>
            <a:spLocks noGrp="1"/>
          </p:cNvSpPr>
          <p:nvPr/>
        </p:nvSpPr>
        <p:spPr>
          <a:xfrm>
            <a:off x="800100" y="5362575"/>
            <a:ext cx="1619250" cy="228600"/>
          </a:xfrm>
          <a:prstGeom prst="rect">
            <a:avLst/>
          </a:prstGeom>
          <a:noFill/>
          <a:ln w="0">
            <a:noFill/>
            <a:prstDash val="solid"/>
          </a:ln>
        </p:spPr>
        <p:txBody>
          <a:bodyPr/>
          <a:lstStyle/>
          <a:p>
            <a:pPr>
              <a:buNone/>
              <a:defRPr sz="1050" b="1">
                <a:solidFill>
                  <a:srgbClr val="BFE2D4"/>
                </a:solidFill>
              </a:defRPr>
            </a:pPr>
            <a:r>
              <a:rPr sz="1050" b="1">
                <a:solidFill>
                  <a:srgbClr val="BFE2D4"/>
                </a:solidFill>
              </a:rPr>
              <a:t>MVP DECISION</a:t>
            </a:r>
          </a:p>
        </p:txBody>
      </p:sp>
      <p:sp>
        <p:nvSpPr>
          <p:cNvPr id="31" name="矩形 30">
            <a:extLst>
              <a:ext uri="{FF2B5EF4-FFF2-40B4-BE49-F238E27FC236}">
                <a16:creationId xmlns:a16="http://schemas.microsoft.com/office/drawing/2014/main" id="{C2483013-232E-44B0-9022-587F13AEEE81}"/>
              </a:ext>
            </a:extLst>
          </p:cNvPr>
          <p:cNvSpPr>
            <a:spLocks noGrp="1"/>
          </p:cNvSpPr>
          <p:nvPr/>
        </p:nvSpPr>
        <p:spPr>
          <a:xfrm>
            <a:off x="2476500" y="5343525"/>
            <a:ext cx="8572500" cy="266700"/>
          </a:xfrm>
          <a:prstGeom prst="rect">
            <a:avLst/>
          </a:prstGeom>
          <a:noFill/>
          <a:ln w="0">
            <a:noFill/>
            <a:prstDash val="solid"/>
          </a:ln>
        </p:spPr>
        <p:txBody>
          <a:bodyPr/>
          <a:lstStyle/>
          <a:p>
            <a:pPr>
              <a:buNone/>
              <a:defRPr sz="1425" b="1">
                <a:solidFill>
                  <a:srgbClr val="FFFFFF"/>
                </a:solidFill>
              </a:defRPr>
            </a:pPr>
            <a:r>
              <a:rPr sz="1425" b="1">
                <a:solidFill>
                  <a:srgbClr val="FFFFFF"/>
                </a:solidFill>
              </a:rPr>
              <a:t>Approve the 15-requirement baseline; keep search and export as gated stretch work.</a:t>
            </a:r>
          </a:p>
        </p:txBody>
      </p:sp>
      <p:sp>
        <p:nvSpPr>
          <p:cNvPr id="32" name="矩形 31">
            <a:extLst>
              <a:ext uri="{FF2B5EF4-FFF2-40B4-BE49-F238E27FC236}">
                <a16:creationId xmlns:a16="http://schemas.microsoft.com/office/drawing/2014/main" id="{22C68E35-1DEC-45E8-9116-71DEAC7C1BDE}"/>
              </a:ext>
            </a:extLst>
          </p:cNvPr>
          <p:cNvSpPr>
            <a:spLocks noGrp="1"/>
          </p:cNvSpPr>
          <p:nvPr/>
        </p:nvSpPr>
        <p:spPr>
          <a:xfrm>
            <a:off x="552450" y="6496050"/>
            <a:ext cx="4953000" cy="190500"/>
          </a:xfrm>
          <a:prstGeom prst="rect">
            <a:avLst/>
          </a:prstGeom>
          <a:noFill/>
          <a:ln w="0">
            <a:noFill/>
            <a:prstDash val="solid"/>
          </a:ln>
        </p:spPr>
        <p:txBody>
          <a:bodyPr/>
          <a:lstStyle/>
          <a:p>
            <a:pPr>
              <a:buNone/>
              <a:defRPr sz="825" b="1">
                <a:solidFill>
                  <a:srgbClr val="667482"/>
                </a:solidFill>
              </a:defRPr>
            </a:pPr>
            <a:r>
              <a:rPr lang="en-US" altLang="zh-CN" sz="825" b="1" dirty="0">
                <a:solidFill>
                  <a:srgbClr val="667482"/>
                </a:solidFill>
              </a:rPr>
              <a:t>STUDYCREW  |  ELEC3609  |  GROUP 06</a:t>
            </a:r>
          </a:p>
        </p:txBody>
      </p:sp>
      <p:sp>
        <p:nvSpPr>
          <p:cNvPr id="33" name="矩形 32">
            <a:extLst>
              <a:ext uri="{FF2B5EF4-FFF2-40B4-BE49-F238E27FC236}">
                <a16:creationId xmlns:a16="http://schemas.microsoft.com/office/drawing/2014/main" id="{B6EE5841-A08E-481B-9F63-3E9169E8204E}"/>
              </a:ext>
            </a:extLst>
          </p:cNvPr>
          <p:cNvSpPr>
            <a:spLocks noGrp="1"/>
          </p:cNvSpPr>
          <p:nvPr/>
        </p:nvSpPr>
        <p:spPr>
          <a:xfrm>
            <a:off x="11125200" y="6496050"/>
            <a:ext cx="514350" cy="190500"/>
          </a:xfrm>
          <a:prstGeom prst="rect">
            <a:avLst/>
          </a:prstGeom>
          <a:noFill/>
          <a:ln w="0">
            <a:noFill/>
            <a:prstDash val="solid"/>
          </a:ln>
        </p:spPr>
        <p:txBody>
          <a:bodyPr/>
          <a:lstStyle/>
          <a:p>
            <a:pPr>
              <a:buNone/>
              <a:defRPr sz="825" b="1">
                <a:solidFill>
                  <a:srgbClr val="667482"/>
                </a:solidFill>
              </a:defRPr>
            </a:pPr>
            <a:r>
              <a:rPr sz="825" b="1">
                <a:solidFill>
                  <a:srgbClr val="667482"/>
                </a:solidFill>
              </a:rPr>
              <a:t>06</a:t>
            </a:r>
          </a:p>
        </p:txBody>
      </p:sp>
      <p:sp>
        <p:nvSpPr>
          <p:cNvPr id="35" name="framework-strip">
            <a:extLst>
              <a:ext uri="{FF2B5EF4-FFF2-40B4-BE49-F238E27FC236}">
                <a16:creationId xmlns:a16="http://schemas.microsoft.com/office/drawing/2014/main" id="{7242F7D8-4EBD-454B-9A51-9E0794F7A1D7}"/>
              </a:ext>
            </a:extLst>
          </p:cNvPr>
          <p:cNvSpPr>
            <a:spLocks noGrp="1"/>
          </p:cNvSpPr>
          <p:nvPr/>
        </p:nvSpPr>
        <p:spPr>
          <a:xfrm>
            <a:off x="552450" y="2076450"/>
            <a:ext cx="11087100" cy="400050"/>
          </a:xfrm>
          <a:prstGeom prst="roundRect">
            <a:avLst>
              <a:gd name="adj" fmla="val 28571"/>
            </a:avLst>
          </a:prstGeom>
          <a:solidFill>
            <a:srgbClr val="EAF2FA"/>
          </a:solidFill>
          <a:ln w="9525">
            <a:solidFill>
              <a:srgbClr val="CBD5DF"/>
            </a:solidFill>
            <a:prstDash val="solid"/>
          </a:ln>
        </p:spPr>
        <p:txBody>
          <a:bodyPr/>
          <a:lstStyle/>
          <a:p>
            <a:endParaRPr lang="zh-CN" altLang="en-US"/>
          </a:p>
        </p:txBody>
      </p:sp>
      <p:sp>
        <p:nvSpPr>
          <p:cNvPr id="36" name="framework-label">
            <a:extLst>
              <a:ext uri="{FF2B5EF4-FFF2-40B4-BE49-F238E27FC236}">
                <a16:creationId xmlns:a16="http://schemas.microsoft.com/office/drawing/2014/main" id="{5401567E-948B-45B3-9D7F-B8C0798DAC51}"/>
              </a:ext>
            </a:extLst>
          </p:cNvPr>
          <p:cNvSpPr>
            <a:spLocks noGrp="1"/>
          </p:cNvSpPr>
          <p:nvPr/>
        </p:nvSpPr>
        <p:spPr>
          <a:xfrm>
            <a:off x="781050" y="2152650"/>
            <a:ext cx="1428750" cy="247650"/>
          </a:xfrm>
          <a:prstGeom prst="rect">
            <a:avLst/>
          </a:prstGeom>
          <a:noFill/>
          <a:ln w="0">
            <a:noFill/>
            <a:prstDash val="solid"/>
          </a:ln>
        </p:spPr>
        <p:txBody>
          <a:bodyPr/>
          <a:lstStyle/>
          <a:p>
            <a:pPr>
              <a:buNone/>
              <a:defRPr sz="1200" b="1">
                <a:solidFill>
                  <a:srgbClr val="2774C7"/>
                </a:solidFill>
              </a:defRPr>
            </a:pPr>
            <a:r>
              <a:rPr sz="1200" b="1">
                <a:solidFill>
                  <a:srgbClr val="2774C7"/>
                </a:solidFill>
              </a:rPr>
              <a:t>FRAMEWORKS</a:t>
            </a:r>
          </a:p>
        </p:txBody>
      </p:sp>
      <p:sp>
        <p:nvSpPr>
          <p:cNvPr id="37" name="framework-list">
            <a:extLst>
              <a:ext uri="{FF2B5EF4-FFF2-40B4-BE49-F238E27FC236}">
                <a16:creationId xmlns:a16="http://schemas.microsoft.com/office/drawing/2014/main" id="{EB13FE2A-9DFE-4004-8720-6AC345E49E40}"/>
              </a:ext>
            </a:extLst>
          </p:cNvPr>
          <p:cNvSpPr>
            <a:spLocks noGrp="1"/>
          </p:cNvSpPr>
          <p:nvPr/>
        </p:nvSpPr>
        <p:spPr>
          <a:xfrm>
            <a:off x="2228850" y="2143125"/>
            <a:ext cx="9048750" cy="266700"/>
          </a:xfrm>
          <a:prstGeom prst="rect">
            <a:avLst/>
          </a:prstGeom>
          <a:noFill/>
          <a:ln w="0">
            <a:noFill/>
            <a:prstDash val="solid"/>
          </a:ln>
        </p:spPr>
        <p:txBody>
          <a:bodyPr/>
          <a:lstStyle/>
          <a:p>
            <a:pPr>
              <a:buNone/>
              <a:defRPr sz="1200" b="1">
                <a:solidFill>
                  <a:srgbClr val="12263A"/>
                </a:solidFill>
              </a:defRPr>
            </a:pPr>
            <a:r>
              <a:rPr lang="zh-CN" altLang="zh-CN" sz="1200" b="1" dirty="0">
                <a:solidFill>
                  <a:srgbClr val="12263A"/>
                </a:solidFill>
              </a:rPr>
              <a:t>React · Django + DRF · PostgreSQL + Django ORM · Django Tests + Playwright · Docker + GitHub Actions</a:t>
            </a:r>
            <a:endParaRPr sz="1200" b="1" dirty="0">
              <a:solidFill>
                <a:srgbClr val="12263A"/>
              </a:solidFill>
            </a:endParaRPr>
          </a:p>
        </p:txBody>
      </p:sp>
    </p:spTree>
    <p:extLst>
      <p:ext uri="{BB962C8B-B14F-4D97-AF65-F5344CB8AC3E}">
        <p14:creationId xmlns:p14="http://schemas.microsoft.com/office/powerpoint/2010/main" val="431942378"/>
      </p:ext>
    </p:extLst>
  </p:cSld>
  <p:clrMapOvr>
    <a:masterClrMapping/>
  </p:clrMapOvr>
</p:sld>
</file>

<file path=ppt/theme/theme1.xml><?xml version="1.0" encoding="utf-8"?>
<a:theme xmlns:a="http://schemas.openxmlformats.org/drawingml/2006/main" name="ChatGPT">
  <a:themeElements>
    <a:clrScheme name="StudyCrew Editorial">
      <a:dk1>
        <a:srgbClr val="0B1825"/>
      </a:dk1>
      <a:lt1>
        <a:srgbClr val="FFFFFF"/>
      </a:lt1>
      <a:dk2>
        <a:srgbClr val="12263A"/>
      </a:dk2>
      <a:lt2>
        <a:srgbClr val="EAF2FA"/>
      </a:lt2>
      <a:accent1>
        <a:srgbClr val="2774C7"/>
      </a:accent1>
      <a:accent2>
        <a:srgbClr val="E96B4B"/>
      </a:accent2>
      <a:accent3>
        <a:srgbClr val="BFE2D4"/>
      </a:accent3>
      <a:accent4>
        <a:srgbClr val="D8A72A"/>
      </a:accent4>
      <a:accent5>
        <a:srgbClr val="4D7C78"/>
      </a:accent5>
      <a:accent6>
        <a:srgbClr val="8A6F4D"/>
      </a:accent6>
      <a:hlink>
        <a:srgbClr val="2774C7"/>
      </a:hlink>
      <a:folHlink>
        <a:srgbClr val="E96B4B"/>
      </a:folHlink>
    </a:clrScheme>
    <a:fontScheme name="Office">
      <a:majorFont>
        <a:latin typeface="Calibri Light"/>
        <a:ea typeface="Calibri Light"/>
        <a:cs typeface="Calibri Light"/>
      </a:majorFont>
      <a:minorFont>
        <a:latin typeface="Calibri"/>
        <a:ea typeface="Calibri"/>
        <a:cs typeface="Calibri"/>
      </a:minorFont>
    </a:fontScheme>
    <a:fmtScheme name="StudyCrew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StudyCrew Editorial">
      <a:dk1>
        <a:srgbClr val="0B1825"/>
      </a:dk1>
      <a:lt1>
        <a:srgbClr val="FFFFFF"/>
      </a:lt1>
      <a:dk2>
        <a:srgbClr val="12263A"/>
      </a:dk2>
      <a:lt2>
        <a:srgbClr val="EAF2FA"/>
      </a:lt2>
      <a:accent1>
        <a:srgbClr val="2774C7"/>
      </a:accent1>
      <a:accent2>
        <a:srgbClr val="E96B4B"/>
      </a:accent2>
      <a:accent3>
        <a:srgbClr val="BFE2D4"/>
      </a:accent3>
      <a:accent4>
        <a:srgbClr val="D8A72A"/>
      </a:accent4>
      <a:accent5>
        <a:srgbClr val="4D7C78"/>
      </a:accent5>
      <a:accent6>
        <a:srgbClr val="8A6F4D"/>
      </a:accent6>
      <a:hlink>
        <a:srgbClr val="2774C7"/>
      </a:hlink>
      <a:folHlink>
        <a:srgbClr val="E96B4B"/>
      </a:folHlink>
    </a:clrScheme>
    <a:fontScheme name="Office">
      <a:majorFont>
        <a:latin typeface="Calibri Light"/>
        <a:ea typeface="Calibri Light"/>
        <a:cs typeface="Calibri Light"/>
      </a:majorFont>
      <a:minorFont>
        <a:latin typeface="Calibri"/>
        <a:ea typeface="Calibri"/>
        <a:cs typeface="Calibri"/>
      </a:minorFont>
    </a:fontScheme>
    <a:fmtScheme name="StudyCrew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1092</Words>
  <Application>Microsoft Office PowerPoint</Application>
  <DocSecurity>0</DocSecurity>
  <PresentationFormat>宽屏</PresentationFormat>
  <Paragraphs>148</Paragraphs>
  <Slides>6</Slides>
  <Notes>6</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6</vt:i4>
      </vt:variant>
    </vt:vector>
  </HeadingPairs>
  <TitlesOfParts>
    <vt:vector size="8"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冰阳 吴</cp:lastModifiedBy>
  <cp:revision>5</cp:revision>
  <dcterms:created xsi:type="dcterms:W3CDTF">2026-08-29T15:20:27Z</dcterms:created>
  <dcterms:modified xsi:type="dcterms:W3CDTF">2026-09-03T09:04:16Z</dcterms:modified>
</cp:coreProperties>
</file>